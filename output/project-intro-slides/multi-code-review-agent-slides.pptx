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594360"/>
            <a:ext cx="11018520" cy="5623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53328" y="868680"/>
            <a:ext cx="4892040" cy="5074920"/>
          </a:xfrm>
          <a:prstGeom prst="roundRect">
            <a:avLst>
              <a:gd name="adj" fmla="val 2243"/>
            </a:avLst>
          </a:prstGeom>
          <a:solidFill>
            <a:srgbClr val="10253A"/>
          </a:solidFill>
          <a:ln w="12700">
            <a:solidFill>
              <a:srgbClr val="102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822960"/>
            <a:ext cx="1645920" cy="219456"/>
          </a:xfrm>
          <a:prstGeom prst="roundRect">
            <a:avLst>
              <a:gd name="adj" fmla="val 33333"/>
            </a:avLst>
          </a:prstGeom>
          <a:solidFill>
            <a:srgbClr val="FFF1E8"/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854964"/>
            <a:ext cx="14996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代码审查平台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7824" y="1207008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多专家代码审核系统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96112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617A"/>
                </a:solidFill>
              </a:rPr>
              <a:t>从真实 PR diff 到专家协作、规范审视、技能扩展与人工裁决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237744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60704" y="2542032"/>
            <a:ext cx="694944" cy="164592"/>
          </a:xfrm>
          <a:prstGeom prst="roundRect">
            <a:avLst>
              <a:gd name="adj" fmla="val 27778"/>
            </a:avLst>
          </a:prstGeom>
          <a:solidFill>
            <a:srgbClr val="FFF1E8"/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752344"/>
            <a:ext cx="12435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617A"/>
                </a:solidFill>
              </a:rPr>
              <a:t>多专家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" y="2944368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7324D"/>
                </a:solidFill>
              </a:rPr>
              <a:t>11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2615184" y="237744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79776" y="2542032"/>
            <a:ext cx="694944" cy="164592"/>
          </a:xfrm>
          <a:prstGeom prst="roundRect">
            <a:avLst>
              <a:gd name="adj" fmla="val 27778"/>
            </a:avLst>
          </a:prstGeom>
          <a:solidFill>
            <a:srgbClr val="EAF7FF"/>
          </a:solidFill>
          <a:ln w="12700">
            <a:solidFill>
              <a:srgbClr val="EAF7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9776" y="2752344"/>
            <a:ext cx="12435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617A"/>
                </a:solidFill>
              </a:rPr>
              <a:t>扩展能力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79776" y="2944368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7324D"/>
                </a:solidFill>
              </a:rPr>
              <a:t>Skill + Tool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4334256" y="237744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98848" y="2542032"/>
            <a:ext cx="694944" cy="164592"/>
          </a:xfrm>
          <a:prstGeom prst="roundRect">
            <a:avLst>
              <a:gd name="adj" fmla="val 27778"/>
            </a:avLst>
          </a:prstGeom>
          <a:solidFill>
            <a:srgbClr val="E7F8F6"/>
          </a:solidFill>
          <a:ln w="12700">
            <a:solidFill>
              <a:srgbClr val="E7F8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2752344"/>
            <a:ext cx="12435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617A"/>
                </a:solidFill>
              </a:rPr>
              <a:t>评审流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98848" y="2944368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7324D"/>
                </a:solidFill>
              </a:rPr>
              <a:t>实时可追踪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896112" y="379476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平台故事线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041648"/>
            <a:ext cx="448056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为什么传统 CR 只能给线索，难以稳定给出高质量结论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系统如何把 Expert、Skill、Tool 与源码仓上下文编排成一条审查链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如何用设计文档一致性检查证明扩展机制真的可用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10789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E6F2"/>
                </a:solidFill>
              </a:rPr>
              <a:t>系统全景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148132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F486C"/>
          </a:solidFill>
          <a:ln w="12700">
            <a:solidFill>
              <a:srgbClr val="3A6A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3096" y="1645920"/>
            <a:ext cx="1527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工作台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83096" y="190195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6E4F0"/>
                </a:solidFill>
              </a:rPr>
              <a:t>启动 · 过程 · 结果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732520" y="148132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F486C"/>
          </a:solidFill>
          <a:ln w="12700">
            <a:solidFill>
              <a:srgbClr val="3A6A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0536" y="1645920"/>
            <a:ext cx="1527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后端 Runtime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860536" y="190195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6E4F0"/>
                </a:solidFill>
              </a:rPr>
              <a:t>编排 · LLM · 路由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193024" y="1901952"/>
            <a:ext cx="384048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55080" y="2743200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83A56"/>
          </a:solidFill>
          <a:ln w="12700">
            <a:solidFill>
              <a:srgbClr val="2B5C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096" y="2907792"/>
            <a:ext cx="1527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主 Agent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83096" y="3163824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6E4F0"/>
                </a:solidFill>
              </a:rPr>
              <a:t>按 hunk / 符号 / repo context 派工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732520" y="2743200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83A56"/>
          </a:solidFill>
          <a:ln w="12700">
            <a:solidFill>
              <a:srgbClr val="2B5C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0536" y="2907792"/>
            <a:ext cx="1527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专家 Agent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60536" y="3163824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6E4F0"/>
                </a:solidFill>
              </a:rPr>
              <a:t>规范文档 + 领域结论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211312" y="3163824"/>
            <a:ext cx="457200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55080" y="4005072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294B33"/>
          </a:solidFill>
          <a:ln w="12700">
            <a:solidFill>
              <a:srgbClr val="3A6E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83096" y="4169664"/>
            <a:ext cx="1527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Skills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83096" y="4425696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BF4E7"/>
                </a:solidFill>
              </a:rPr>
              <a:t>能力包：何时触发、依赖什么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732520" y="4005072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294B33"/>
          </a:solidFill>
          <a:ln w="12700">
            <a:solidFill>
              <a:srgbClr val="3A6E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0536" y="4169664"/>
            <a:ext cx="1527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Tools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860536" y="4425696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BF4E7"/>
                </a:solidFill>
              </a:rPr>
              <a:t>结构化取证与比对插件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211312" y="4425696"/>
            <a:ext cx="457200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543800" y="507492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5B2841"/>
          </a:solidFill>
          <a:ln w="12700">
            <a:solidFill>
              <a:srgbClr val="8D4A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71816" y="5239512"/>
            <a:ext cx="1527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</a:rPr>
              <a:t>可追踪结果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7671816" y="5495544"/>
            <a:ext cx="1527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2DBE6"/>
                </a:solidFill>
              </a:rPr>
              <a:t>Finding / Issue / Human Gate</a:t>
            </a:r>
            <a:endParaRPr lang="en-US" sz="8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WHY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为什么要做这套系统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不是再造一个静态 diff 查看器，而是把“审查过程”显性化。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" y="176479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传统代码审查的典型断点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057400"/>
            <a:ext cx="3063240" cy="530352"/>
          </a:xfrm>
          <a:prstGeom prst="roundRect">
            <a:avLst>
              <a:gd name="adj" fmla="val 10345"/>
            </a:avLst>
          </a:prstGeom>
          <a:solidFill>
            <a:srgbClr val="FBFA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只看 diff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29968" y="2157984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缺少目标分支上下文，容易误判 import、字段和链路影响。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841248" y="2880360"/>
            <a:ext cx="3063240" cy="530352"/>
          </a:xfrm>
          <a:prstGeom prst="roundRect">
            <a:avLst>
              <a:gd name="adj" fmla="val 10345"/>
            </a:avLst>
          </a:prstGeom>
          <a:solidFill>
            <a:srgbClr val="EEF2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98094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人工 review 不可追踪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29968" y="2980944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结论来自经验，但缺少结构化证据和过程可视化。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41248" y="3703320"/>
            <a:ext cx="3063240" cy="530352"/>
          </a:xfrm>
          <a:prstGeom prst="roundRect">
            <a:avLst>
              <a:gd name="adj" fmla="val 10345"/>
            </a:avLst>
          </a:prstGeom>
          <a:solidFill>
            <a:srgbClr val="FBFA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80390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专家知识不可复用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29968" y="3803904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规范、知识文档和扩展能力散落在个人经验中。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841248" y="4526280"/>
            <a:ext cx="3063240" cy="530352"/>
          </a:xfrm>
          <a:prstGeom prst="roundRect">
            <a:avLst>
              <a:gd name="adj" fmla="val 10345"/>
            </a:avLst>
          </a:prstGeom>
          <a:solidFill>
            <a:srgbClr val="EEF2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2686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复杂 PR 很难收敛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4626864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安全、数据库、性能、正确性问题混在一起，很难稳定分工。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841248" y="5349240"/>
            <a:ext cx="3063240" cy="530352"/>
          </a:xfrm>
          <a:prstGeom prst="roundRect">
            <a:avLst>
              <a:gd name="adj" fmla="val 10345"/>
            </a:avLst>
          </a:prstGeom>
          <a:solidFill>
            <a:srgbClr val="FBFA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44982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结果不可治理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29968" y="5449824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没有 skill / tool 扩展位，新增专业检查只能改主流程源码。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572000" y="160020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0016" y="1764792"/>
            <a:ext cx="6647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这套系统如何回答这些问题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20116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0056" y="21122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0056" y="226771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真实 diff + 源码仓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020056" y="2505456"/>
            <a:ext cx="1737360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GitHub / GitLab patch + repo context 检索，补齐上下文。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7059168" y="20116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7184" y="21122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87184" y="226771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主 Agent 编排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7187184" y="2505456"/>
            <a:ext cx="1737360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按 hunk、符号、上下文派工，而不是只按文件名猜。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9217152" y="201168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45168" y="21122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45168" y="226771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专家规范审视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9345168" y="2505456"/>
            <a:ext cx="1682496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每个专家都带规范文档、参考文档和边界约束。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4892040" y="36576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0056" y="375818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0056" y="391363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Skill + Tool 扩展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5020056" y="4151376"/>
            <a:ext cx="1737360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能力插件只放 extensions，主源码保持稳定。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7059168" y="36576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87184" y="375818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7184" y="391363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过程实时可见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187184" y="4151376"/>
            <a:ext cx="1737360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主 Agent、专家、tool 调用、裁决都能在工作台里追踪。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9217152" y="365760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45168" y="375818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47617A"/>
          </a:solidFill>
          <a:ln w="12700">
            <a:solidFill>
              <a:srgbClr val="47617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45168" y="391363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人工裁决闭环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9345168" y="4151376"/>
            <a:ext cx="1682496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47617A"/>
                </a:solidFill>
              </a:rPr>
              <a:t>对不确定风险进入 human gate，而不是装作系统已确定。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SYSTEM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系统总体架构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前端工作台、后端 runtime、扩展层与存储层之间的职责拆分。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21792" y="1554480"/>
            <a:ext cx="10972800" cy="987552"/>
          </a:xfrm>
          <a:prstGeom prst="roundRect">
            <a:avLst>
              <a:gd name="adj" fmla="val 5556"/>
            </a:avLst>
          </a:prstGeom>
          <a:solidFill>
            <a:srgbClr val="EAF7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2763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用户与工作台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2743200"/>
            <a:ext cx="10972800" cy="1170432"/>
          </a:xfrm>
          <a:prstGeom prst="roundRect">
            <a:avLst>
              <a:gd name="adj" fmla="val 4688"/>
            </a:avLst>
          </a:prstGeom>
          <a:solidFill>
            <a:srgbClr val="FFF1E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1635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后端应用与运行时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420624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E7F8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27939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运行时扩展层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" y="548640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555955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持久化与配置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1828800"/>
            <a:ext cx="2057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42416" y="1993392"/>
            <a:ext cx="1801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React 工作台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42416" y="2249424"/>
            <a:ext cx="1801368" cy="18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Home / Review / History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218688" y="1828800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46704" y="199339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审核过程页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46704" y="2249424"/>
            <a:ext cx="2075688" cy="18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对话流 · Diff · Findings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815584" y="1828800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199339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专家中心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0" y="2249424"/>
            <a:ext cx="1828800" cy="18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规范、文档、运行时工具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156448" y="1828800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84464" y="1993392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知识库 / 设置 / 历史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84464" y="2249424"/>
            <a:ext cx="2395728" cy="18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治理配置、长文档与审核结果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14400" y="30632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42416" y="3227832"/>
            <a:ext cx="15727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FastAPI API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42416" y="3483864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Review / Experts / Settings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2999232" y="306324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27248" y="3227832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ReviewService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127248" y="3483864"/>
            <a:ext cx="18928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创建 review、读配置、绑定设计文档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413248" y="3063240"/>
            <a:ext cx="208483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541264" y="322783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ReviewRunner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41264" y="34838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主 Agent / 专家 / Judge / Human Gate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772400" y="30632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900416" y="3227832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PlatformAdapter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900416" y="3483864"/>
            <a:ext cx="175564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GitHub / GitLab / CodeHub diff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10040112" y="30632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168128" y="322783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SSE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168128" y="3483864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实时事件流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2779776" y="3383280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157216" y="3383280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516368" y="3383280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820656" y="3383280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51560" y="4480560"/>
            <a:ext cx="199339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179576" y="464515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Experts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179576" y="4901184"/>
            <a:ext cx="1737360" cy="18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架构 / 正确性 / 安全 / DB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3246120" y="4480560"/>
            <a:ext cx="199339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74136" y="458114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74136" y="473659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Skills 扩展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440680" y="4480560"/>
            <a:ext cx="199339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68696" y="458114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68696" y="473659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Tools 插件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635240" y="4480560"/>
            <a:ext cx="199339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763256" y="464515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Repo Context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763256" y="4901184"/>
            <a:ext cx="1737360" cy="18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源码仓检索、符号与引用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9829800" y="4480560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957816" y="4645152"/>
            <a:ext cx="11612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LLM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9957816" y="4901184"/>
            <a:ext cx="1161288" cy="18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实时调用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1097280" y="5724144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25296" y="5888736"/>
            <a:ext cx="1801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storage/reviews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225296" y="6035040"/>
            <a:ext cx="1801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review / finding / issue / event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3401568" y="5724144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29584" y="5888736"/>
            <a:ext cx="1801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storage/experts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3529584" y="6035040"/>
            <a:ext cx="1801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专家资料与绑定文档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5705856" y="5724144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33872" y="5888736"/>
            <a:ext cx="1801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config.json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833872" y="6035040"/>
            <a:ext cx="1801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模型、Git token、端口与网络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8010144" y="5724144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38160" y="5888736"/>
            <a:ext cx="2487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extensions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8138160" y="6035040"/>
            <a:ext cx="24871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skills / tools 只改扩展目录，不碰主源码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OVERVIEW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总体架构图：像房子一样看懂整套系统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用“屋顶-中层-底座”表达用户入口、智能体运行层和基础设施底座。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1901952" y="2267712"/>
            <a:ext cx="8321040" cy="146304"/>
          </a:xfrm>
          <a:prstGeom prst="rect">
            <a:avLst/>
          </a:prstGeom>
          <a:solidFill>
            <a:srgbClr val="264A6D"/>
          </a:solidFill>
          <a:ln w="12700">
            <a:solidFill>
              <a:srgbClr val="264A6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792224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屋顶：用户入口与可见工作台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72768" y="2651760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00784" y="275234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0784" y="290779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首页 / 历史 / 设置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700784" y="3145536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系统入口、状态总览、治理配置入口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041648" y="2651760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9664" y="275234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9664" y="290779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审核工作台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69664" y="3145536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概览启动 · 过程追踪 · 结论裁决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510528" y="2651760"/>
            <a:ext cx="26517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38544" y="275234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2907792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专家中心 / 知识库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38544" y="3145536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规范文档、专家资料、长期知识与扩展治理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115568" y="3675888"/>
            <a:ext cx="9985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89888" y="382219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中层：多 Agent 智能体运行层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62472" y="4096512"/>
            <a:ext cx="0" cy="109728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413308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617A"/>
                </a:solidFill>
              </a:rPr>
              <a:t>智能判断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0" y="413308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617A"/>
                </a:solidFill>
              </a:rPr>
              <a:t>能力扩展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89888" y="4370832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12700">
            <a:solidFill>
              <a:srgbClr val="1025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17904" y="4535424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主 Agent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517904" y="4791456"/>
            <a:ext cx="17556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理解 diff、挑专家、控制审查节奏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730752" y="4370832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4535424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专家 Agent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58768" y="4791456"/>
            <a:ext cx="17556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按边界输出领域结论，而不是泛化评论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345936" y="4370832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3952" y="447141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4626864"/>
            <a:ext cx="1709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Skills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73952" y="4864608"/>
            <a:ext cx="1709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规定何时触发、依赖什么 tool、要求输出什么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613648" y="4370832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41664" y="447141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41664" y="4626864"/>
            <a:ext cx="1709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Tools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741664" y="4864608"/>
            <a:ext cx="1709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repo context、diff、设计文档结构化与比对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474720" y="4791456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925312" y="4791456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375904" y="4791456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084832" y="5468112"/>
            <a:ext cx="8046720" cy="0"/>
          </a:xfrm>
          <a:prstGeom prst="line">
            <a:avLst/>
          </a:prstGeom>
          <a:noFill/>
          <a:ln w="12700">
            <a:solidFill>
              <a:srgbClr val="7C8FA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25880" y="5559552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0253A"/>
          </a:solidFill>
          <a:ln w="12700">
            <a:solidFill>
              <a:srgbClr val="1025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53896" y="5724144"/>
            <a:ext cx="2487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真实上下文底座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453896" y="5980176"/>
            <a:ext cx="2487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真实 patch、真实源码仓、真实设计文档输入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4663440" y="5559552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10253A"/>
          </a:solidFill>
          <a:ln w="12700">
            <a:solidFill>
              <a:srgbClr val="1025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5724144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可扩展底座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791456" y="5980176"/>
            <a:ext cx="20299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config.json + extensions + provider / plugin 机制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7571232" y="555955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10253A"/>
          </a:solidFill>
          <a:ln w="12700">
            <a:solidFill>
              <a:srgbClr val="1025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9248" y="5724144"/>
            <a:ext cx="24414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可治理底座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699248" y="5980176"/>
            <a:ext cx="24414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storage、日志、历史记录、人工裁决与回放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FLOW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一次审核任务如何跑完整条链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从输入 PR 到问题清单，核心是“取真数据、派对专家、给证据、再裁决”。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41248" y="1627632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EAF7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728216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0253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76936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1737360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用户输入与绑定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737360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617A"/>
                </a:solidFill>
              </a:rPr>
              <a:t>PR 链接 + 模式 + 专家 + design spec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41248" y="2340864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FFF1E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441448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0253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482596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72768" y="2450592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拉取真实 diff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2450592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617A"/>
                </a:solidFill>
              </a:rPr>
              <a:t>PlatformAdapter 拉 patch / diff 并规范化 changed_files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41248" y="3054096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FFF7E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315468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0253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19582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316382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主 Agent 派工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3163824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617A"/>
                </a:solidFill>
              </a:rPr>
              <a:t>按 hunk、symbol、repo context 路由专家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41248" y="3767328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E7F8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128" y="3867912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0253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909060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72768" y="3877056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专家执行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3877056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617A"/>
                </a:solidFill>
              </a:rPr>
              <a:t>激活 skill，展开 tool，读取 repo context 与规范文档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41248" y="4480560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FFF0F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" y="45811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0253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622292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72768" y="4590288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收敛与裁决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86200" y="4590288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617A"/>
                </a:solidFill>
              </a:rPr>
              <a:t>judge 合并 finding，必要时进入 human gate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41248" y="5193792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EEF2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4128" y="5294376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0253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3355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72768" y="5303520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结果展示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86200" y="5303520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617A"/>
                </a:solidFill>
              </a:rPr>
              <a:t>过程页实时流 + 结果页问题清单 + 人工裁决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412480" y="603504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10253A"/>
          </a:solidFill>
          <a:ln w="12700">
            <a:solidFill>
              <a:srgbClr val="1025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0496" y="6199632"/>
            <a:ext cx="1938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关键原则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540496" y="6364224"/>
            <a:ext cx="193852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真实 patch、真实 repo、实时证据流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CAPABILITY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专家、Skill、Tool 是怎么协同的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是能力包，Tool 是执行单元，Runtime 决定何时激活。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0976" y="184708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EAF7FF"/>
          </a:solidFill>
          <a:ln w="12700">
            <a:solidFill>
              <a:srgbClr val="EAF7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879092"/>
            <a:ext cx="12710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324D"/>
                </a:solidFill>
              </a:rPr>
              <a:t>Agent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50976" y="2176272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Expert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50976" y="2414016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带领域规范、长期知识文档和边界约束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246120" y="173736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74136" y="184708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879092"/>
            <a:ext cx="12710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extension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74136" y="2176272"/>
            <a:ext cx="1938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Skill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74136" y="2414016"/>
            <a:ext cx="19385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SKILL.md 规定触发条件、依赖工具、输出契约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852160" y="17373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0176" y="184708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E7F8F6"/>
          </a:solidFill>
          <a:ln w="12700">
            <a:solidFill>
              <a:srgbClr val="E7F8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879092"/>
            <a:ext cx="12710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</a:rPr>
              <a:t>plugin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80176" y="2176272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Tool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80176" y="2414016"/>
            <a:ext cx="18928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run.py 通过 stdin/stdout JSON 返回结构化证据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412480" y="17373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40496" y="184708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FFF0F3"/>
          </a:solidFill>
          <a:ln w="12700">
            <a:solidFill>
              <a:srgbClr val="FFF0F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13648" y="1879092"/>
            <a:ext cx="12710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11D48"/>
                </a:solidFill>
              </a:rPr>
              <a:t>result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40496" y="2176272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Finding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40496" y="2414016"/>
            <a:ext cx="18928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最终审查结论写回 finding / issue / report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871216" y="2322576"/>
            <a:ext cx="219456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522976" y="2322576"/>
            <a:ext cx="182880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156448" y="2322576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22960" y="3383280"/>
            <a:ext cx="516636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24128" y="361188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Skill 激活规则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4128" y="3931920"/>
            <a:ext cx="4572000" cy="1335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expert 已被 bound_experts 绑定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required_doc_types 与本次 review 文档匹配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changed_files 命中 activation_hints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diff / repo context / mode 等上下文满足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3383280"/>
            <a:ext cx="51206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82512" y="361188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为什么这套机制重要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82512" y="3931920"/>
            <a:ext cx="452628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新增能力优先只改 extensions，不破坏主审核流程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同一个 tool 结果可被多个专家复用，例如设计文档结构化结果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Skill 决定“何时做什么检查”，而不是把判断交给 LLM 自由发挥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AGENTS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 Agent 智能体架构：不是并排堆模型，而是明确的协作边界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系统把“谁决策、谁审查、谁取证、谁裁决”拆成稳定角色。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86384" y="173736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10253A"/>
          </a:solidFill>
          <a:ln w="12700">
            <a:solidFill>
              <a:srgbClr val="10253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901952"/>
            <a:ext cx="1801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主 Agent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157984"/>
            <a:ext cx="1801368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负责理解 diff、评估上下文、挑专家、控制节奏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246120" y="17373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4136" y="184708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EAF7FF"/>
          </a:solidFill>
          <a:ln w="12700">
            <a:solidFill>
              <a:srgbClr val="EAF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879092"/>
            <a:ext cx="12710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324D"/>
                </a:solidFill>
              </a:rPr>
              <a:t>审查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74136" y="2176272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专家 Agent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74136" y="2414016"/>
            <a:ext cx="18928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每个专家只负责自己的领域规则与风险判断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815584" y="17373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84708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E7F8F6"/>
          </a:solidFill>
          <a:ln w="12700">
            <a:solidFill>
              <a:srgbClr val="E7F8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1879092"/>
            <a:ext cx="12710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</a:rPr>
              <a:t>取证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0" y="2176272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Tool 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0" y="2414016"/>
            <a:ext cx="18928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负责 repo context、diff、设计文档结构化等证据获取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366760" y="173736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94776" y="184708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FFF0F3"/>
          </a:solidFill>
          <a:ln w="12700">
            <a:solidFill>
              <a:srgbClr val="FFF0F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1879092"/>
            <a:ext cx="12710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11D48"/>
                </a:solidFill>
              </a:rPr>
              <a:t>收敛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94776" y="2176272"/>
            <a:ext cx="1938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Judge / Human Gate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94776" y="2414016"/>
            <a:ext cx="19385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负责收敛、降级、裁决与人工确认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852928" y="2267712"/>
            <a:ext cx="25603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852928" y="2121408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7617A"/>
                </a:solidFill>
              </a:rPr>
              <a:t>派工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431536" y="2267712"/>
            <a:ext cx="219456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31536" y="2121408"/>
            <a:ext cx="21945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7617A"/>
                </a:solidFill>
              </a:rPr>
              <a:t>取证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010144" y="2267712"/>
            <a:ext cx="201168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010144" y="2121408"/>
            <a:ext cx="2011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7617A"/>
                </a:solidFill>
              </a:rPr>
              <a:t>收敛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22960" y="3337560"/>
            <a:ext cx="10561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51560" y="3584448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多 Agent 建设的 4 个关键原则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4128" y="395020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52144" y="40507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52144" y="4206240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边界清晰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152144" y="4443984"/>
            <a:ext cx="1892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7617A"/>
                </a:solidFill>
              </a:rPr>
              <a:t>专家之间不能重复审同一类问题，必须各司其职。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511296" y="395020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39312" y="40507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206240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证据优先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3639312" y="4443984"/>
            <a:ext cx="1892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7617A"/>
                </a:solidFill>
              </a:rPr>
              <a:t>结论必须能落到 diff、repo context、tool 输出或设计文档证据上。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998464" y="395020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40507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206240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过程可见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6126480" y="4443984"/>
            <a:ext cx="1892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7617A"/>
                </a:solidFill>
              </a:rPr>
              <a:t>主 Agent 派工、tool 调用、skill 激活、裁决都必须可追踪。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8485632" y="395020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13648" y="40507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4206240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扩展解耦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8613648" y="4443984"/>
            <a:ext cx="1892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7617A"/>
                </a:solidFill>
              </a:rPr>
              <a:t>新增能力优先只改 extensions，而不是持续膨胀 ReviewRunner。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DEEP DIVE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详细设计一致性检查：首个可插拔能力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用户在启动页上传设计文档，正确性专家自动激活 design-consistency-check。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77240" y="1664208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05256" y="17647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1920240"/>
            <a:ext cx="1801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启动页上传 design spec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5256" y="2157984"/>
            <a:ext cx="1801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本次 review 私有文档，不混入长期知识库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127248" y="1664208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55264" y="17647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920240"/>
            <a:ext cx="1892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Skill 激活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55264" y="2157984"/>
            <a:ext cx="18928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review 有 design_docs，且变更命中 service / transformer / output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577840" y="1664208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05856" y="17647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1920240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Tool 展开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05856" y="2157984"/>
            <a:ext cx="195681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diff_inspector + repo_context_search + design_spec_alignment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101584" y="1664208"/>
            <a:ext cx="27614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17647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920240"/>
            <a:ext cx="2505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正确性专家结论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2157984"/>
            <a:ext cx="250545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输出 design_alignment_status / missing_design_points / design_conflicts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852928" y="2121408"/>
            <a:ext cx="182880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94960" y="2121408"/>
            <a:ext cx="164592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36992" y="2121408"/>
            <a:ext cx="109728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7240" y="2880360"/>
            <a:ext cx="501091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7552" y="3108960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design_spec_alignment 提取的结构化设计基线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7552" y="3511296"/>
            <a:ext cx="20299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5568" y="3611880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" y="3767328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API 定义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9272" y="3511296"/>
            <a:ext cx="20299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7288" y="3611880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3767328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出入参字段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87552" y="4261104"/>
            <a:ext cx="20299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5568" y="4361688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5568" y="4517136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表结构定义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19272" y="4261104"/>
            <a:ext cx="20299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47288" y="4361688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47288" y="4517136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业务时序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87552" y="5010912"/>
            <a:ext cx="20299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" y="511149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5568" y="526694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性能要求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19272" y="5010912"/>
            <a:ext cx="20299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47288" y="511149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47617A"/>
          </a:solidFill>
          <a:ln w="12700">
            <a:solidFill>
              <a:srgbClr val="47617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7288" y="526694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安全要求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16752" y="288036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36208" y="310896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最终问题清单会得到什么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36208" y="3493008"/>
            <a:ext cx="4663440" cy="1335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设计一致性状态：aligned / partially_aligned / misaligned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已满足的设计点、缺失设计点、超出设计的实现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与详细设计冲突的字段、链路或时序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结果页可直接打上“设计不一致”标记并筛选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06640" y="4864608"/>
            <a:ext cx="245059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34656" y="496519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34656" y="51206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真实 UI 标记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534656" y="5303520"/>
            <a:ext cx="2194560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617A"/>
                </a:solidFill>
              </a:rPr>
              <a:t>设计一致性列 + 设计不一致筛选按钮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UI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前端工作台如何把复杂审核过程讲清楚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一页里完成启动、过程追踪、结论收敛，但每块职责都很明确。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49808" y="1719072"/>
            <a:ext cx="3154680" cy="45262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1883664"/>
            <a:ext cx="2898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概览与启动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2084832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18541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340864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输入本次审核上下文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2578608"/>
            <a:ext cx="2578608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代码链接、模式、专家、详细设计文档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96112" y="2907792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00837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163824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启动约束清晰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24128" y="3401568"/>
            <a:ext cx="2578608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移除 access_token / repo_id / project_id，降低误操作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96112" y="3730752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383133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986784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系统状态提示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" y="4224528"/>
            <a:ext cx="2578608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缺少专家、缺少 repo、待人工裁决都能直接感知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96112" y="4553712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65429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809744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设计文档上传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24128" y="5047488"/>
            <a:ext cx="2578608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让“本次需求设计”成为 review 级输入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160520" y="1719072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88536" y="1883664"/>
            <a:ext cx="3538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审核过程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70832" y="2212848"/>
            <a:ext cx="336499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98848" y="231343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246888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实时对话流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498848" y="2706624"/>
            <a:ext cx="3108960" cy="9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主 Agent、专家、tool 调用、skill 激活都显式展示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370832" y="2962656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98848" y="3063240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848" y="321868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GitHub 风格 Diff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498848" y="3456432"/>
            <a:ext cx="310896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左侧文件树，右侧详细 diff，固定高度滚动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370832" y="4005072"/>
            <a:ext cx="336499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8848" y="410565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98848" y="426110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专家路由提示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498848" y="4498848"/>
            <a:ext cx="3108960" cy="9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用户选择 / 系统补入 / 已跳过，体验更可解释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370832" y="4754880"/>
            <a:ext cx="336499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98848" y="48554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98848" y="501091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设计一致性可见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498848" y="5248656"/>
            <a:ext cx="3108960" cy="100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过程页直接看到 skill、design docs 和一致性状态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211312" y="1719072"/>
            <a:ext cx="3218688" cy="45262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339328" y="1883664"/>
            <a:ext cx="29626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结论与行动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412480" y="2212848"/>
            <a:ext cx="281635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0496" y="231343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0496" y="24688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问题清单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540496" y="2706624"/>
            <a:ext cx="2560320" cy="9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设计不一致、已核验、待人工裁决都可筛选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8412480" y="2962656"/>
            <a:ext cx="28163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40496" y="3063240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40496" y="321868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问题详情弹窗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540496" y="3456432"/>
            <a:ext cx="2560320" cy="100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修改思路、修复步骤、当前代码、建议代码并排展示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412480" y="3822192"/>
            <a:ext cx="28163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0496" y="392277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40496" y="4078224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人工裁决卡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540496" y="4315968"/>
            <a:ext cx="2560320" cy="100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批准 / 驳回与摘要同屏，不把人审藏起来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8412480" y="4681728"/>
            <a:ext cx="28163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40496" y="4782312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40496" y="493776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报告摘要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8540496" y="5175504"/>
            <a:ext cx="2560320" cy="100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高风险、设计不一致、已验证、待裁决一眼可见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DATA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审查过程如何沉淀为可治理产物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不只是一个状态值，而是一套可回放、可裁决、可追责的产物模型。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" y="249631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2752344"/>
            <a:ext cx="1298448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任务主体、平台信息、模式、设计文档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267712" y="2907792"/>
            <a:ext cx="685800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267712" y="2761488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7617A"/>
                </a:solidFill>
              </a:rPr>
              <a:t>沉淀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971800" y="23317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BFAF8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99816" y="249631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Message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99816" y="2752344"/>
            <a:ext cx="1298448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主 Agent / 专家 / tool / 系统提示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553712" y="2907792"/>
            <a:ext cx="685800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53712" y="2761488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7617A"/>
                </a:solidFill>
              </a:rPr>
              <a:t>沉淀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257800" y="23317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85816" y="249631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Finding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85816" y="2752344"/>
            <a:ext cx="1298448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单条风险、证据、修复建议、设计一致性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839712" y="2907792"/>
            <a:ext cx="685800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839712" y="2761488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7617A"/>
                </a:solidFill>
              </a:rPr>
              <a:t>沉淀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543800" y="23317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BFAF8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71816" y="249631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Issue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71816" y="2752344"/>
            <a:ext cx="1298448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收敛后的问题条目与状态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9125712" y="2907792"/>
            <a:ext cx="685800" cy="0"/>
          </a:xfrm>
          <a:prstGeom prst="line">
            <a:avLst/>
          </a:prstGeom>
          <a:noFill/>
          <a:ln w="12700">
            <a:solidFill>
              <a:srgbClr val="47617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125712" y="2761488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7617A"/>
                </a:solidFill>
              </a:rPr>
              <a:t>沉淀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9829800" y="23317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957816" y="249631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Report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57816" y="2752344"/>
            <a:ext cx="1298448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最终摘要、人工裁决与操作建议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024128" y="4315968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为什么这套产物模型重要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5840" y="4553712"/>
            <a:ext cx="100584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4681728"/>
            <a:ext cx="996696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过程可回放：消息、事件、tool 调用、skill 激活都能在工作台与日志中追踪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结果可治理：finding 与 issue 分离，允许系统判断与人工裁决共存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扩展可观测：新 skill / tool 接入后，可以明确看到它在这次 review 里是否真正被调用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EVIDENCE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真实案例验证：设计不一致问题真的落进了问题清单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案例：calcom/cal.com PR #28378 + review rev_1b42286a。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04672" y="1682496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9264" y="1847088"/>
            <a:ext cx="694944" cy="164592"/>
          </a:xfrm>
          <a:prstGeom prst="roundRect">
            <a:avLst>
              <a:gd name="adj" fmla="val 27778"/>
            </a:avLst>
          </a:prstGeom>
          <a:solidFill>
            <a:srgbClr val="EAF7FF"/>
          </a:solidFill>
          <a:ln w="12700">
            <a:solidFill>
              <a:srgbClr val="EAF7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057400"/>
            <a:ext cx="14538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617A"/>
                </a:solidFill>
              </a:rPr>
              <a:t>公开仓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9264" y="2249424"/>
            <a:ext cx="1453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7324D"/>
                </a:solidFill>
              </a:rPr>
              <a:t>cal.com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2743200" y="1682496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07792" y="1847088"/>
            <a:ext cx="694944" cy="164592"/>
          </a:xfrm>
          <a:prstGeom prst="roundRect">
            <a:avLst>
              <a:gd name="adj" fmla="val 27778"/>
            </a:avLst>
          </a:prstGeom>
          <a:solidFill>
            <a:srgbClr val="FFF1E8"/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057400"/>
            <a:ext cx="11795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617A"/>
                </a:solidFill>
              </a:rPr>
              <a:t>PR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07792" y="2249424"/>
            <a:ext cx="11795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7324D"/>
                </a:solidFill>
              </a:rPr>
              <a:t>#28378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4407408" y="1682496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847088"/>
            <a:ext cx="694944" cy="164592"/>
          </a:xfrm>
          <a:prstGeom prst="roundRect">
            <a:avLst>
              <a:gd name="adj" fmla="val 27778"/>
            </a:avLst>
          </a:prstGeom>
          <a:solidFill>
            <a:srgbClr val="E7F8F6"/>
          </a:solidFill>
          <a:ln w="12700">
            <a:solidFill>
              <a:srgbClr val="E7F8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057400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617A"/>
                </a:solidFill>
              </a:rPr>
              <a:t>本次审核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2249424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7324D"/>
                </a:solidFill>
              </a:rPr>
              <a:t>rev_1b42286a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6583680" y="1682496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1847088"/>
            <a:ext cx="694944" cy="164592"/>
          </a:xfrm>
          <a:prstGeom prst="roundRect">
            <a:avLst>
              <a:gd name="adj" fmla="val 27778"/>
            </a:avLst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057400"/>
            <a:ext cx="14538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617A"/>
                </a:solidFill>
              </a:rPr>
              <a:t>设计文档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48272" y="2249424"/>
            <a:ext cx="1453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7324D"/>
                </a:solidFill>
              </a:rPr>
              <a:t>1 份</a:t>
            </a:r>
            <a:endParaRPr lang="en-US" sz="1850" dirty="0"/>
          </a:p>
        </p:txBody>
      </p:sp>
      <p:sp>
        <p:nvSpPr>
          <p:cNvPr id="25" name="Shape 23"/>
          <p:cNvSpPr/>
          <p:nvPr/>
        </p:nvSpPr>
        <p:spPr>
          <a:xfrm>
            <a:off x="8522208" y="1682496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0" y="1847088"/>
            <a:ext cx="694944" cy="164592"/>
          </a:xfrm>
          <a:prstGeom prst="roundRect">
            <a:avLst>
              <a:gd name="adj" fmla="val 27778"/>
            </a:avLst>
          </a:prstGeom>
          <a:solidFill>
            <a:srgbClr val="FFF0F3"/>
          </a:solidFill>
          <a:ln w="12700">
            <a:solidFill>
              <a:srgbClr val="FFF0F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057400"/>
            <a:ext cx="15910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617A"/>
                </a:solidFill>
              </a:rPr>
              <a:t>结果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2249424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7324D"/>
                </a:solidFill>
              </a:rPr>
              <a:t>waiting_human</a:t>
            </a:r>
            <a:endParaRPr lang="en-US" sz="1850" dirty="0"/>
          </a:p>
        </p:txBody>
      </p:sp>
      <p:sp>
        <p:nvSpPr>
          <p:cNvPr id="29" name="Shape 27"/>
          <p:cNvSpPr/>
          <p:nvPr/>
        </p:nvSpPr>
        <p:spPr>
          <a:xfrm>
            <a:off x="804672" y="306324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5840" y="331012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链路证据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639312"/>
            <a:ext cx="4663440" cy="1335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7617A"/>
                </a:solidFill>
              </a:rPr>
              <a:t>messages.json 的 expert_ack 中出现 active_skills = [design-consistency-check]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7617A"/>
                </a:solidFill>
              </a:rPr>
              <a:t>events.json 显示 diff_inspector / repo_context_search / design_spec_alignment 被顺序调用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7617A"/>
                </a:solidFill>
              </a:rPr>
              <a:t>repo_context_search 命中 getScheduleListItemData.ts、output-schedules.service.ts、schedule.output.ts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7617A"/>
                </a:solidFill>
              </a:rPr>
              <a:t>design_spec_alignment 输出 design_alignment_status = partially_aligned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236208" y="3063240"/>
            <a:ext cx="5166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6520" y="331012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结果页表现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73952" y="3730752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1968" y="383133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3986784"/>
            <a:ext cx="15727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筛选按钮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01968" y="4169664"/>
            <a:ext cx="1572768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设计不一致 2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503920" y="3730752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31936" y="3831336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31936" y="3986784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问题列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631936" y="4169664"/>
            <a:ext cx="2121408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设计一致性：部分偏离设计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473952" y="4526280"/>
            <a:ext cx="44074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01968" y="46268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4782312"/>
            <a:ext cx="41513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详情弹窗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601968" y="5020056"/>
            <a:ext cx="4151376" cy="73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617A"/>
                </a:solidFill>
              </a:rPr>
              <a:t>展示 design_doc_titles、missing_design_points、design_conflicts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METHOD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如何建设一套可治理的多 Agent 代码审核系统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这不是“多调用几个模型”，而是一套工程化建设方法。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96696" y="21122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26771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1. 先定角色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696" y="2505456"/>
            <a:ext cx="2075688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617A"/>
                </a:solidFill>
              </a:rPr>
              <a:t>先切清主 Agent、专家、Judge、Human Gate 的职责，再写 prompt。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39312" y="201168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67328" y="21122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26771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2. 再定证据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2505456"/>
            <a:ext cx="2075688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617A"/>
                </a:solidFill>
              </a:rPr>
              <a:t>明确每个专家依赖哪些上下文、哪些 tool、哪些规范文档。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9944" y="201168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1122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26771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3. 再做治理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505456"/>
            <a:ext cx="2075688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617A"/>
                </a:solidFill>
              </a:rPr>
              <a:t>把输出结构化，让每条 finding 能进入汇总、验证和人工裁决。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80576" y="201168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08592" y="2112264"/>
            <a:ext cx="822960" cy="36576"/>
          </a:xfrm>
          <a:prstGeom prst="roundRect">
            <a:avLst>
              <a:gd name="adj" fmla="val 7500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226771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4. 最后做扩展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08592" y="2505456"/>
            <a:ext cx="2075688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617A"/>
                </a:solidFill>
              </a:rPr>
              <a:t>把新能力沉淀成 skill + tool，而不是塞到主流程里。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8680" y="4069080"/>
            <a:ext cx="10469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8992" y="431596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建设方法的落地顺序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" y="4590288"/>
            <a:ext cx="978408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先打通一条真实用例：真实 diff、真实 repo、真实专家与真实问题清单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再逐步接入更重的能力：设计一致性、数据库契约、性能与安全专项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7617A"/>
                </a:solidFill>
              </a:rPr>
              <a:t>最后再做治理与扩展：插件目录、专家中心、结果页标记与历史回放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530352"/>
            <a:ext cx="73152" cy="579729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937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39496"/>
            <a:ext cx="9692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EXTENSION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30352" y="8595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如何在不改主源码的前提下扩展能力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开放出去的是 extensions；专家能力通过 skill + tool 插件接入。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41248" y="1828800"/>
            <a:ext cx="2926080" cy="3383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9264" y="1993392"/>
            <a:ext cx="2670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开发者新增一个领域能力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42416" y="2212848"/>
            <a:ext cx="2514600" cy="1335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7617A"/>
                </a:solidFill>
              </a:rPr>
              <a:t>在 extensions/skills 下新增一个 skill 目录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7617A"/>
                </a:solidFill>
              </a:rPr>
              <a:t>写 SKILL.md 描述能力边界与输出契约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7617A"/>
                </a:solidFill>
              </a:rPr>
              <a:t>在 metadata.json 配 bound_experts、required_tools、activation_hints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7617A"/>
                </a:solidFill>
              </a:rPr>
              <a:t>必要时在 extensions/tools 下新增 run.py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33088" y="1828800"/>
            <a:ext cx="2788920" cy="33832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61104" y="1993392"/>
            <a:ext cx="25328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系统运行时会做什么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34256" y="2212848"/>
            <a:ext cx="2377440" cy="1335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7617A"/>
                </a:solidFill>
              </a:rPr>
              <a:t>扫描 skill / tool 插件目录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7617A"/>
                </a:solidFill>
              </a:rPr>
              <a:t>把 extension 绑定关系合并到专家有效配置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7617A"/>
                </a:solidFill>
              </a:rPr>
              <a:t>按上下文判定 skill 是否应该激活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7617A"/>
                </a:solidFill>
              </a:rPr>
              <a:t>展开对应 tools 并把结果注入专家 prompt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D9E2EC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97496" y="1993392"/>
            <a:ext cx="3721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为什么这对平台很重要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79792" y="2212848"/>
            <a:ext cx="3520440" cy="1335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47617A"/>
                </a:solidFill>
              </a:rPr>
              <a:t>主审核流程不再因为一个新能力持续膨胀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47617A"/>
                </a:solidFill>
              </a:rPr>
              <a:t>不同团队可以按自己的领域需求添加定制检查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47617A"/>
                </a:solidFill>
              </a:rPr>
              <a:t>同一条 review 链可以显式给出 skill 激活和 tool 调用证据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47617A"/>
                </a:solidFill>
              </a:rPr>
              <a:t>能力真正变成“可治理的插件”，而不是隐藏 prompt 魔法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297680" y="5504688"/>
            <a:ext cx="3566160" cy="475488"/>
          </a:xfrm>
          <a:prstGeom prst="roundRect">
            <a:avLst>
              <a:gd name="adj" fmla="val 15385"/>
            </a:avLst>
          </a:prstGeom>
          <a:solidFill>
            <a:srgbClr val="10253A"/>
          </a:solidFill>
          <a:ln w="12700">
            <a:solidFill>
              <a:srgbClr val="1025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25696" y="5669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推荐接下来的扩展方向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25696" y="5907024"/>
            <a:ext cx="3310128" cy="18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D9E4EF"/>
                </a:solidFill>
              </a:rPr>
              <a:t>API 契约检查 / 缓存一致性 / 事务边界 / 幂等性 / 消息顺序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51560"/>
            <a:ext cx="9875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把代码审查从“经验判断”升级为“可编排、可追证、可扩展的系统”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41248" y="18470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DCE7"/>
                </a:solidFill>
              </a:rPr>
              <a:t>Multi Code Review Agent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1A324A"/>
          </a:solidFill>
          <a:ln w="12700">
            <a:solidFill>
              <a:srgbClr val="2448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2953512"/>
            <a:ext cx="2898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现在已经做到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96696" y="3209544"/>
            <a:ext cx="2898648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真实 PR diff、repo context、规范文档、skill + tool、设计一致性检查、人工裁决闭环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407408" y="278892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1A324A"/>
          </a:solidFill>
          <a:ln w="12700">
            <a:solidFill>
              <a:srgbClr val="2448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2953512"/>
            <a:ext cx="2898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平台价值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35424" y="3209544"/>
            <a:ext cx="2898648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让专家知识沉淀成系统能力，把“为什么这样判断”明确展示给开发者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955280" y="278892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1A324A"/>
          </a:solidFill>
          <a:ln w="12700">
            <a:solidFill>
              <a:srgbClr val="2448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2953512"/>
            <a:ext cx="2898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下一阶段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83296" y="3209544"/>
            <a:ext cx="2898648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9E4EF"/>
                </a:solidFill>
              </a:rPr>
              <a:t>更多插件化检查、更多平台 provider、更强的可观测性与治理面板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498848" y="4983480"/>
            <a:ext cx="3154680" cy="219456"/>
          </a:xfrm>
          <a:prstGeom prst="roundRect">
            <a:avLst>
              <a:gd name="adj" fmla="val 33333"/>
            </a:avLst>
          </a:prstGeom>
          <a:solidFill>
            <a:srgbClr val="2B4C6A"/>
          </a:solidFill>
          <a:ln w="12700">
            <a:solidFill>
              <a:srgbClr val="2B4C6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5015484"/>
            <a:ext cx="300837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核心公式：真实上下文 + 专家边界 + Skill 编排 + Tool 证据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5851</Words>
  <Application>WPS 演示</Application>
  <PresentationFormat>On-screen Show (16:9)</PresentationFormat>
  <Paragraphs>656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Aptos</vt:lpstr>
      <vt:lpstr>苹方-简</vt:lpstr>
      <vt:lpstr>Aptos</vt:lpstr>
      <vt:lpstr>Aptos</vt:lpstr>
      <vt:lpstr>微软雅黑</vt:lpstr>
      <vt:lpstr>汉仪旗黑</vt:lpstr>
      <vt:lpstr>宋体</vt:lpstr>
      <vt:lpstr>Arial Unicode MS</vt:lpstr>
      <vt:lpstr>等线</vt:lpstr>
      <vt:lpstr>汉仪中等线KW</vt:lpstr>
      <vt:lpstr>Thonburi</vt:lpstr>
      <vt:lpstr>汉仪书宋二KW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多专家代码审核系统介绍</dc:title>
  <dc:creator>Codex</dc:creator>
  <dc:subject>Multi Code Review Agent</dc:subject>
  <cp:lastModifiedBy>neochen</cp:lastModifiedBy>
  <cp:revision>2</cp:revision>
  <dcterms:created xsi:type="dcterms:W3CDTF">2026-03-15T08:04:44Z</dcterms:created>
  <dcterms:modified xsi:type="dcterms:W3CDTF">2026-03-15T08:04:44Z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BDD9A085DC691D3A1C68B66960D395AC_42</vt:lpwstr>
  </property>
  <property fmtid="{D5CDD505-2E9C-101B-9397-08002B2CF9AE}" pid="3" name="KSOProductBuildVer">
    <vt:lpwstr>2052-6.4.0.8550</vt:lpwstr>
  </property>
</Properties>
</file>
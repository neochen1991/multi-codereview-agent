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F1"/>
          </a:solidFill>
          <a:ln w="12700">
            <a:solidFill>
              <a:srgbClr val="F7F5F1">
                <a:alpha val="0"/>
              </a:srgbClr>
            </a:solidFill>
            <a:prstDash val="solid"/>
          </a:ln>
        </p:spPr>
      </p:sp>
      <p:sp>
        <p:nvSpPr>
          <p:cNvPr id="3" name="Shape 1"/>
          <p:cNvSpPr/>
          <p:nvPr/>
        </p:nvSpPr>
        <p:spPr>
          <a:xfrm>
            <a:off x="0" y="0"/>
            <a:ext cx="12191695" cy="146304"/>
          </a:xfrm>
          <a:prstGeom prst="rect">
            <a:avLst/>
          </a:prstGeom>
          <a:solidFill>
            <a:srgbClr val="10253A"/>
          </a:solidFill>
          <a:ln w="12700">
            <a:solidFill>
              <a:srgbClr val="10253A">
                <a:alpha val="0"/>
              </a:srgbClr>
            </a:solidFill>
            <a:prstDash val="solid"/>
          </a:ln>
        </p:spPr>
      </p:sp>
      <p:sp>
        <p:nvSpPr>
          <p:cNvPr id="4" name="Text 2"/>
          <p:cNvSpPr/>
          <p:nvPr/>
        </p:nvSpPr>
        <p:spPr>
          <a:xfrm>
            <a:off x="640080" y="658368"/>
            <a:ext cx="5212080" cy="347472"/>
          </a:xfrm>
          <a:prstGeom prst="rect">
            <a:avLst/>
          </a:prstGeom>
          <a:noFill/>
          <a:ln/>
        </p:spPr>
        <p:txBody>
          <a:bodyPr wrap="square" lIns="0" tIns="0" rIns="0" bIns="0" rtlCol="0" anchor="ctr"/>
          <a:lstStyle/>
          <a:p>
            <a:pPr indent="0" marL="0">
              <a:buNone/>
            </a:pPr>
            <a:r>
              <a:rPr lang="en-US" sz="1400" b="1" dirty="0">
                <a:solidFill>
                  <a:srgbClr val="4F7BFF"/>
                </a:solidFill>
              </a:rPr>
              <a:t>多专家代码审查系统</a:t>
            </a:r>
            <a:endParaRPr lang="en-US" sz="1400" dirty="0"/>
          </a:p>
        </p:txBody>
      </p:sp>
      <p:sp>
        <p:nvSpPr>
          <p:cNvPr id="5" name="Text 3"/>
          <p:cNvSpPr/>
          <p:nvPr/>
        </p:nvSpPr>
        <p:spPr>
          <a:xfrm>
            <a:off x="640080" y="1078992"/>
            <a:ext cx="5669280" cy="841248"/>
          </a:xfrm>
          <a:prstGeom prst="rect">
            <a:avLst/>
          </a:prstGeom>
          <a:noFill/>
          <a:ln/>
        </p:spPr>
        <p:txBody>
          <a:bodyPr wrap="square" lIns="0" tIns="0" rIns="0" bIns="0" rtlCol="0" anchor="ctr"/>
          <a:lstStyle/>
          <a:p>
            <a:pPr indent="0" marL="0">
              <a:buNone/>
            </a:pPr>
            <a:r>
              <a:rPr lang="en-US" sz="2700" b="1" dirty="0">
                <a:solidFill>
                  <a:srgbClr val="17324D"/>
                </a:solidFill>
              </a:rPr>
              <a:t>让复杂 MR 审查从“凭经验”走向“有章法”</a:t>
            </a:r>
            <a:endParaRPr lang="en-US" sz="2700" dirty="0"/>
          </a:p>
        </p:txBody>
      </p:sp>
      <p:sp>
        <p:nvSpPr>
          <p:cNvPr id="6" name="Text 4"/>
          <p:cNvSpPr/>
          <p:nvPr/>
        </p:nvSpPr>
        <p:spPr>
          <a:xfrm>
            <a:off x="640080" y="2011680"/>
            <a:ext cx="5212080" cy="438912"/>
          </a:xfrm>
          <a:prstGeom prst="rect">
            <a:avLst/>
          </a:prstGeom>
          <a:noFill/>
          <a:ln/>
        </p:spPr>
        <p:txBody>
          <a:bodyPr wrap="square" lIns="0" tIns="0" rIns="0" bIns="0" rtlCol="0" anchor="ctr"/>
          <a:lstStyle/>
          <a:p>
            <a:pPr indent="0" marL="0">
              <a:buNone/>
            </a:pPr>
            <a:r>
              <a:rPr lang="en-US" sz="1100" dirty="0">
                <a:solidFill>
                  <a:srgbClr val="5B7186"/>
                </a:solidFill>
              </a:rPr>
              <a:t>它不是替代人工 Review，而是把资深同学在复杂 MR 审查里的判断方法，逐步沉淀成团队可复用的能力。</a:t>
            </a:r>
            <a:endParaRPr lang="en-US" sz="1100" dirty="0"/>
          </a:p>
        </p:txBody>
      </p:sp>
      <p:sp>
        <p:nvSpPr>
          <p:cNvPr id="7" name="Shape 5"/>
          <p:cNvSpPr/>
          <p:nvPr/>
        </p:nvSpPr>
        <p:spPr>
          <a:xfrm>
            <a:off x="658368" y="2670048"/>
            <a:ext cx="2011680" cy="219456"/>
          </a:xfrm>
          <a:prstGeom prst="roundRect">
            <a:avLst>
              <a:gd name="adj" fmla="val 25000"/>
            </a:avLst>
          </a:prstGeom>
          <a:solidFill>
            <a:srgbClr val="EEF4FF"/>
          </a:solidFill>
          <a:ln w="12700">
            <a:solidFill>
              <a:srgbClr val="EEF4FF">
                <a:alpha val="0"/>
              </a:srgbClr>
            </a:solidFill>
            <a:prstDash val="solid"/>
          </a:ln>
        </p:spPr>
      </p:sp>
      <p:sp>
        <p:nvSpPr>
          <p:cNvPr id="8" name="Text 6"/>
          <p:cNvSpPr/>
          <p:nvPr/>
        </p:nvSpPr>
        <p:spPr>
          <a:xfrm>
            <a:off x="731520" y="2706624"/>
            <a:ext cx="1865376" cy="109728"/>
          </a:xfrm>
          <a:prstGeom prst="rect">
            <a:avLst/>
          </a:prstGeom>
          <a:noFill/>
          <a:ln/>
        </p:spPr>
        <p:txBody>
          <a:bodyPr wrap="square" lIns="0" tIns="0" rIns="0" bIns="0" rtlCol="0" anchor="ctr"/>
          <a:lstStyle/>
          <a:p>
            <a:pPr algn="ctr" indent="0" marL="0">
              <a:buNone/>
            </a:pPr>
            <a:r>
              <a:rPr lang="en-US" sz="800" b="1" dirty="0">
                <a:solidFill>
                  <a:srgbClr val="4F7BFF"/>
                </a:solidFill>
              </a:rPr>
              <a:t>当前定位：内部辅助系统</a:t>
            </a:r>
            <a:endParaRPr lang="en-US" sz="800" dirty="0"/>
          </a:p>
        </p:txBody>
      </p:sp>
      <p:sp>
        <p:nvSpPr>
          <p:cNvPr id="9" name="Shape 7"/>
          <p:cNvSpPr/>
          <p:nvPr/>
        </p:nvSpPr>
        <p:spPr>
          <a:xfrm>
            <a:off x="621792" y="3108960"/>
            <a:ext cx="5413248" cy="2487168"/>
          </a:xfrm>
          <a:prstGeom prst="roundRect">
            <a:avLst>
              <a:gd name="adj" fmla="val 2941"/>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0" name="Text 8"/>
          <p:cNvSpPr/>
          <p:nvPr/>
        </p:nvSpPr>
        <p:spPr>
          <a:xfrm>
            <a:off x="877824" y="3364992"/>
            <a:ext cx="2377440" cy="182880"/>
          </a:xfrm>
          <a:prstGeom prst="rect">
            <a:avLst/>
          </a:prstGeom>
          <a:noFill/>
          <a:ln/>
        </p:spPr>
        <p:txBody>
          <a:bodyPr wrap="square" lIns="0" tIns="0" rIns="0" bIns="0" rtlCol="0" anchor="ctr"/>
          <a:lstStyle/>
          <a:p>
            <a:pPr indent="0" marL="0">
              <a:buNone/>
            </a:pPr>
            <a:r>
              <a:rPr lang="en-US" sz="1300" b="1" dirty="0">
                <a:solidFill>
                  <a:srgbClr val="17324D"/>
                </a:solidFill>
              </a:rPr>
              <a:t>为什么这件事值得做</a:t>
            </a:r>
            <a:endParaRPr lang="en-US" sz="1300" dirty="0"/>
          </a:p>
        </p:txBody>
      </p:sp>
      <p:sp>
        <p:nvSpPr>
          <p:cNvPr id="11" name="Shape 9"/>
          <p:cNvSpPr/>
          <p:nvPr/>
        </p:nvSpPr>
        <p:spPr>
          <a:xfrm>
            <a:off x="914400" y="3785616"/>
            <a:ext cx="1828800" cy="1188720"/>
          </a:xfrm>
          <a:prstGeom prst="roundRect">
            <a:avLst>
              <a:gd name="adj" fmla="val 6154"/>
            </a:avLst>
          </a:prstGeom>
          <a:solidFill>
            <a:srgbClr val="FFF1E8"/>
          </a:solidFill>
          <a:ln w="12700">
            <a:solidFill>
              <a:srgbClr val="F97316"/>
            </a:solidFill>
            <a:prstDash val="solid"/>
          </a:ln>
          <a:effectLst>
            <a:outerShdw sx="100000" sy="100000" kx="0" ky="0" algn="bl" rotWithShape="0" blurRad="12700" dist="50800" dir="2700000">
              <a:srgbClr val="DDE5EC">
                <a:alpha val="10000"/>
              </a:srgbClr>
            </a:outerShdw>
          </a:effectLst>
        </p:spPr>
      </p:sp>
      <p:sp>
        <p:nvSpPr>
          <p:cNvPr id="12" name="Shape 10"/>
          <p:cNvSpPr/>
          <p:nvPr/>
        </p:nvSpPr>
        <p:spPr>
          <a:xfrm>
            <a:off x="3822192" y="3785616"/>
            <a:ext cx="1828800" cy="1188720"/>
          </a:xfrm>
          <a:prstGeom prst="roundRect">
            <a:avLst>
              <a:gd name="adj" fmla="val 6154"/>
            </a:avLst>
          </a:prstGeom>
          <a:solidFill>
            <a:srgbClr val="E8F8F5"/>
          </a:solidFill>
          <a:ln w="12700">
            <a:solidFill>
              <a:srgbClr val="0F766E"/>
            </a:solidFill>
            <a:prstDash val="solid"/>
          </a:ln>
          <a:effectLst>
            <a:outerShdw sx="100000" sy="100000" kx="0" ky="0" algn="bl" rotWithShape="0" blurRad="12700" dist="50800" dir="2700000">
              <a:srgbClr val="DDE5EC">
                <a:alpha val="10000"/>
              </a:srgbClr>
            </a:outerShdw>
          </a:effectLst>
        </p:spPr>
      </p:sp>
      <p:sp>
        <p:nvSpPr>
          <p:cNvPr id="13" name="Text 11"/>
          <p:cNvSpPr/>
          <p:nvPr/>
        </p:nvSpPr>
        <p:spPr>
          <a:xfrm>
            <a:off x="1078992" y="3986784"/>
            <a:ext cx="1481328" cy="164592"/>
          </a:xfrm>
          <a:prstGeom prst="rect">
            <a:avLst/>
          </a:prstGeom>
          <a:noFill/>
          <a:ln/>
        </p:spPr>
        <p:txBody>
          <a:bodyPr wrap="square" lIns="0" tIns="0" rIns="0" bIns="0" rtlCol="0" anchor="ctr"/>
          <a:lstStyle/>
          <a:p>
            <a:pPr algn="ctr" indent="0" marL="0">
              <a:buNone/>
            </a:pPr>
            <a:r>
              <a:rPr lang="en-US" sz="1150" b="1" dirty="0">
                <a:solidFill>
                  <a:srgbClr val="17324D"/>
                </a:solidFill>
              </a:rPr>
              <a:t>复杂 MR 容易漏看重点</a:t>
            </a:r>
            <a:endParaRPr lang="en-US" sz="1150" dirty="0"/>
          </a:p>
        </p:txBody>
      </p:sp>
      <p:sp>
        <p:nvSpPr>
          <p:cNvPr id="14" name="Text 12"/>
          <p:cNvSpPr/>
          <p:nvPr/>
        </p:nvSpPr>
        <p:spPr>
          <a:xfrm>
            <a:off x="1078992" y="4242816"/>
            <a:ext cx="1481328" cy="310896"/>
          </a:xfrm>
          <a:prstGeom prst="rect">
            <a:avLst/>
          </a:prstGeom>
          <a:noFill/>
          <a:ln/>
        </p:spPr>
        <p:txBody>
          <a:bodyPr wrap="square" lIns="0" tIns="0" rIns="0" bIns="0" rtlCol="0" anchor="ctr"/>
          <a:lstStyle/>
          <a:p>
            <a:pPr algn="ctr" indent="0" marL="0">
              <a:buNone/>
            </a:pPr>
            <a:r>
              <a:rPr lang="en-US" sz="920" dirty="0">
                <a:solidFill>
                  <a:srgbClr val="5B7186"/>
                </a:solidFill>
              </a:rPr>
              <a:t>业务、架构、数据库问题常常叠在一起</a:t>
            </a:r>
            <a:endParaRPr lang="en-US" sz="920" dirty="0"/>
          </a:p>
        </p:txBody>
      </p:sp>
      <p:sp>
        <p:nvSpPr>
          <p:cNvPr id="15" name="Text 13"/>
          <p:cNvSpPr/>
          <p:nvPr/>
        </p:nvSpPr>
        <p:spPr>
          <a:xfrm>
            <a:off x="3986784" y="3986784"/>
            <a:ext cx="1481328" cy="164592"/>
          </a:xfrm>
          <a:prstGeom prst="rect">
            <a:avLst/>
          </a:prstGeom>
          <a:noFill/>
          <a:ln/>
        </p:spPr>
        <p:txBody>
          <a:bodyPr wrap="square" lIns="0" tIns="0" rIns="0" bIns="0" rtlCol="0" anchor="ctr"/>
          <a:lstStyle/>
          <a:p>
            <a:pPr algn="ctr" indent="0" marL="0">
              <a:buNone/>
            </a:pPr>
            <a:r>
              <a:rPr lang="en-US" sz="1150" b="1" dirty="0">
                <a:solidFill>
                  <a:srgbClr val="17324D"/>
                </a:solidFill>
              </a:rPr>
              <a:t>先拆成多个专业视角</a:t>
            </a:r>
            <a:endParaRPr lang="en-US" sz="1150" dirty="0"/>
          </a:p>
        </p:txBody>
      </p:sp>
      <p:sp>
        <p:nvSpPr>
          <p:cNvPr id="16" name="Text 14"/>
          <p:cNvSpPr/>
          <p:nvPr/>
        </p:nvSpPr>
        <p:spPr>
          <a:xfrm>
            <a:off x="3986784" y="4242816"/>
            <a:ext cx="1481328" cy="329184"/>
          </a:xfrm>
          <a:prstGeom prst="rect">
            <a:avLst/>
          </a:prstGeom>
          <a:noFill/>
          <a:ln/>
        </p:spPr>
        <p:txBody>
          <a:bodyPr wrap="square" lIns="0" tIns="0" rIns="0" bIns="0" rtlCol="0" anchor="ctr"/>
          <a:lstStyle/>
          <a:p>
            <a:pPr algn="ctr" indent="0" marL="0">
              <a:buNone/>
            </a:pPr>
            <a:r>
              <a:rPr lang="en-US" sz="920" dirty="0">
                <a:solidFill>
                  <a:srgbClr val="5B7186"/>
                </a:solidFill>
              </a:rPr>
              <a:t>让不同专家分别看业务、设计、数据库和性能</a:t>
            </a:r>
            <a:endParaRPr lang="en-US" sz="920" dirty="0"/>
          </a:p>
        </p:txBody>
      </p:sp>
      <p:sp>
        <p:nvSpPr>
          <p:cNvPr id="17" name="Shape 15"/>
          <p:cNvSpPr/>
          <p:nvPr/>
        </p:nvSpPr>
        <p:spPr>
          <a:xfrm>
            <a:off x="2834640" y="4370832"/>
            <a:ext cx="822960" cy="0"/>
          </a:xfrm>
          <a:prstGeom prst="line">
            <a:avLst/>
          </a:prstGeom>
          <a:noFill/>
          <a:ln w="12700">
            <a:solidFill>
              <a:srgbClr val="4F7BFF"/>
            </a:solidFill>
            <a:prstDash val="solid"/>
            <a:headEnd type="none"/>
            <a:tailEnd type="triangle"/>
          </a:ln>
        </p:spPr>
      </p:sp>
      <p:sp>
        <p:nvSpPr>
          <p:cNvPr id="18" name="Shape 16"/>
          <p:cNvSpPr/>
          <p:nvPr/>
        </p:nvSpPr>
        <p:spPr>
          <a:xfrm>
            <a:off x="6364224" y="694944"/>
            <a:ext cx="5193792" cy="4992624"/>
          </a:xfrm>
          <a:prstGeom prst="roundRect">
            <a:avLst>
              <a:gd name="adj" fmla="val 1465"/>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9" name="Text 17"/>
          <p:cNvSpPr/>
          <p:nvPr/>
        </p:nvSpPr>
        <p:spPr>
          <a:xfrm>
            <a:off x="6656832" y="914400"/>
            <a:ext cx="2560320" cy="182880"/>
          </a:xfrm>
          <a:prstGeom prst="rect">
            <a:avLst/>
          </a:prstGeom>
          <a:noFill/>
          <a:ln/>
        </p:spPr>
        <p:txBody>
          <a:bodyPr wrap="square" lIns="0" tIns="0" rIns="0" bIns="0" rtlCol="0" anchor="ctr"/>
          <a:lstStyle/>
          <a:p>
            <a:pPr indent="0" marL="0">
              <a:buNone/>
            </a:pPr>
            <a:r>
              <a:rPr lang="en-US" sz="1300" b="1" dirty="0">
                <a:solidFill>
                  <a:srgbClr val="17324D"/>
                </a:solidFill>
              </a:rPr>
              <a:t>这套系统想解决什么</a:t>
            </a:r>
            <a:endParaRPr lang="en-US" sz="1300" dirty="0"/>
          </a:p>
        </p:txBody>
      </p:sp>
      <p:sp>
        <p:nvSpPr>
          <p:cNvPr id="20" name="Shape 18"/>
          <p:cNvSpPr/>
          <p:nvPr/>
        </p:nvSpPr>
        <p:spPr>
          <a:xfrm>
            <a:off x="6638544" y="1298448"/>
            <a:ext cx="4572000" cy="868680"/>
          </a:xfrm>
          <a:prstGeom prst="roundRect">
            <a:avLst>
              <a:gd name="adj" fmla="val 8421"/>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21" name="Text 19"/>
          <p:cNvSpPr/>
          <p:nvPr/>
        </p:nvSpPr>
        <p:spPr>
          <a:xfrm>
            <a:off x="6821424" y="1426464"/>
            <a:ext cx="4169664" cy="164592"/>
          </a:xfrm>
          <a:prstGeom prst="rect">
            <a:avLst/>
          </a:prstGeom>
          <a:noFill/>
          <a:ln/>
        </p:spPr>
        <p:txBody>
          <a:bodyPr wrap="square" lIns="0" tIns="0" rIns="0" bIns="0" rtlCol="0" anchor="ctr"/>
          <a:lstStyle/>
          <a:p>
            <a:pPr indent="0" marL="0">
              <a:buNone/>
            </a:pPr>
            <a:r>
              <a:rPr lang="en-US" sz="1050" b="1" dirty="0">
                <a:solidFill>
                  <a:srgbClr val="17324D"/>
                </a:solidFill>
              </a:rPr>
              <a:t>复杂问题不再只靠个人经验兜底</a:t>
            </a:r>
            <a:endParaRPr lang="en-US" sz="1050" dirty="0"/>
          </a:p>
        </p:txBody>
      </p:sp>
      <p:sp>
        <p:nvSpPr>
          <p:cNvPr id="22" name="Text 20"/>
          <p:cNvSpPr/>
          <p:nvPr/>
        </p:nvSpPr>
        <p:spPr>
          <a:xfrm>
            <a:off x="6821424" y="1664208"/>
            <a:ext cx="4169664" cy="274320"/>
          </a:xfrm>
          <a:prstGeom prst="rect">
            <a:avLst/>
          </a:prstGeom>
          <a:noFill/>
          <a:ln/>
        </p:spPr>
        <p:txBody>
          <a:bodyPr wrap="square" lIns="0" tIns="0" rIns="0" bIns="0" rtlCol="0" anchor="ctr"/>
          <a:lstStyle/>
          <a:p>
            <a:pPr indent="0" marL="0">
              <a:buNone/>
            </a:pPr>
            <a:r>
              <a:rPr lang="en-US" sz="920" dirty="0">
                <a:solidFill>
                  <a:srgbClr val="5B7186"/>
                </a:solidFill>
              </a:rPr>
              <a:t>先拆出这次 MR 涉及的领域，再分别交给对应专家去看</a:t>
            </a:r>
            <a:endParaRPr lang="en-US" sz="920" dirty="0"/>
          </a:p>
        </p:txBody>
      </p:sp>
      <p:sp>
        <p:nvSpPr>
          <p:cNvPr id="23" name="Shape 21"/>
          <p:cNvSpPr/>
          <p:nvPr/>
        </p:nvSpPr>
        <p:spPr>
          <a:xfrm>
            <a:off x="6638544" y="2267712"/>
            <a:ext cx="4572000" cy="868680"/>
          </a:xfrm>
          <a:prstGeom prst="roundRect">
            <a:avLst>
              <a:gd name="adj" fmla="val 8421"/>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24" name="Text 22"/>
          <p:cNvSpPr/>
          <p:nvPr/>
        </p:nvSpPr>
        <p:spPr>
          <a:xfrm>
            <a:off x="6821424" y="2395728"/>
            <a:ext cx="4169664" cy="164592"/>
          </a:xfrm>
          <a:prstGeom prst="rect">
            <a:avLst/>
          </a:prstGeom>
          <a:noFill/>
          <a:ln/>
        </p:spPr>
        <p:txBody>
          <a:bodyPr wrap="square" lIns="0" tIns="0" rIns="0" bIns="0" rtlCol="0" anchor="ctr"/>
          <a:lstStyle/>
          <a:p>
            <a:pPr indent="0" marL="0">
              <a:buNone/>
            </a:pPr>
            <a:r>
              <a:rPr lang="en-US" sz="1050" b="1" dirty="0">
                <a:solidFill>
                  <a:srgbClr val="17324D"/>
                </a:solidFill>
              </a:rPr>
              <a:t>资深同学的审查方法可以沉淀下来</a:t>
            </a:r>
            <a:endParaRPr lang="en-US" sz="1050" dirty="0"/>
          </a:p>
        </p:txBody>
      </p:sp>
      <p:sp>
        <p:nvSpPr>
          <p:cNvPr id="25" name="Text 23"/>
          <p:cNvSpPr/>
          <p:nvPr/>
        </p:nvSpPr>
        <p:spPr>
          <a:xfrm>
            <a:off x="6821424" y="2633472"/>
            <a:ext cx="4169664" cy="274320"/>
          </a:xfrm>
          <a:prstGeom prst="rect">
            <a:avLst/>
          </a:prstGeom>
          <a:noFill/>
          <a:ln/>
        </p:spPr>
        <p:txBody>
          <a:bodyPr wrap="square" lIns="0" tIns="0" rIns="0" bIns="0" rtlCol="0" anchor="ctr"/>
          <a:lstStyle/>
          <a:p>
            <a:pPr indent="0" marL="0">
              <a:buNone/>
            </a:pPr>
            <a:r>
              <a:rPr lang="en-US" sz="920" dirty="0">
                <a:solidFill>
                  <a:srgbClr val="5B7186"/>
                </a:solidFill>
              </a:rPr>
              <a:t>规则、规范、经验和取证能力，会逐步沉淀在专家侧</a:t>
            </a:r>
            <a:endParaRPr lang="en-US" sz="920" dirty="0"/>
          </a:p>
        </p:txBody>
      </p:sp>
      <p:sp>
        <p:nvSpPr>
          <p:cNvPr id="26" name="Shape 24"/>
          <p:cNvSpPr/>
          <p:nvPr/>
        </p:nvSpPr>
        <p:spPr>
          <a:xfrm>
            <a:off x="6638544" y="3236976"/>
            <a:ext cx="4572000" cy="868680"/>
          </a:xfrm>
          <a:prstGeom prst="roundRect">
            <a:avLst>
              <a:gd name="adj" fmla="val 8421"/>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27" name="Text 25"/>
          <p:cNvSpPr/>
          <p:nvPr/>
        </p:nvSpPr>
        <p:spPr>
          <a:xfrm>
            <a:off x="6821424" y="3364992"/>
            <a:ext cx="4169664" cy="164592"/>
          </a:xfrm>
          <a:prstGeom prst="rect">
            <a:avLst/>
          </a:prstGeom>
          <a:noFill/>
          <a:ln/>
        </p:spPr>
        <p:txBody>
          <a:bodyPr wrap="square" lIns="0" tIns="0" rIns="0" bIns="0" rtlCol="0" anchor="ctr"/>
          <a:lstStyle/>
          <a:p>
            <a:pPr indent="0" marL="0">
              <a:buNone/>
            </a:pPr>
            <a:r>
              <a:rPr lang="en-US" sz="1050" b="1" dirty="0">
                <a:solidFill>
                  <a:srgbClr val="17324D"/>
                </a:solidFill>
              </a:rPr>
              <a:t>审查不是泛泛提醒，而是补证据后再判断</a:t>
            </a:r>
            <a:endParaRPr lang="en-US" sz="1050" dirty="0"/>
          </a:p>
        </p:txBody>
      </p:sp>
      <p:sp>
        <p:nvSpPr>
          <p:cNvPr id="28" name="Text 26"/>
          <p:cNvSpPr/>
          <p:nvPr/>
        </p:nvSpPr>
        <p:spPr>
          <a:xfrm>
            <a:off x="6821424" y="3602736"/>
            <a:ext cx="4169664" cy="274320"/>
          </a:xfrm>
          <a:prstGeom prst="rect">
            <a:avLst/>
          </a:prstGeom>
          <a:noFill/>
          <a:ln/>
        </p:spPr>
        <p:txBody>
          <a:bodyPr wrap="square" lIns="0" tIns="0" rIns="0" bIns="0" rtlCol="0" anchor="ctr"/>
          <a:lstStyle/>
          <a:p>
            <a:pPr indent="0" marL="0">
              <a:buNone/>
            </a:pPr>
            <a:r>
              <a:rPr lang="en-US" sz="920" dirty="0">
                <a:solidFill>
                  <a:srgbClr val="5B7186"/>
                </a:solidFill>
              </a:rPr>
              <a:t>每个专家会按职责拿到自己的代码上下文、规则和证据</a:t>
            </a:r>
            <a:endParaRPr lang="en-US" sz="920" dirty="0"/>
          </a:p>
        </p:txBody>
      </p:sp>
      <p:sp>
        <p:nvSpPr>
          <p:cNvPr id="29" name="Shape 27"/>
          <p:cNvSpPr/>
          <p:nvPr/>
        </p:nvSpPr>
        <p:spPr>
          <a:xfrm>
            <a:off x="6638544" y="4206240"/>
            <a:ext cx="4572000" cy="868680"/>
          </a:xfrm>
          <a:prstGeom prst="roundRect">
            <a:avLst>
              <a:gd name="adj" fmla="val 8421"/>
            </a:avLst>
          </a:prstGeom>
          <a:solidFill>
            <a:srgbClr val="FFF0F4"/>
          </a:solidFill>
          <a:ln w="12700">
            <a:solidFill>
              <a:srgbClr val="FFF0F4"/>
            </a:solidFill>
            <a:prstDash val="solid"/>
          </a:ln>
          <a:effectLst>
            <a:outerShdw sx="100000" sy="100000" kx="0" ky="0" algn="bl" rotWithShape="0" blurRad="12700" dist="50800" dir="2700000">
              <a:srgbClr val="DDE5EC">
                <a:alpha val="10000"/>
              </a:srgbClr>
            </a:outerShdw>
          </a:effectLst>
        </p:spPr>
      </p:sp>
      <p:sp>
        <p:nvSpPr>
          <p:cNvPr id="30" name="Text 28"/>
          <p:cNvSpPr/>
          <p:nvPr/>
        </p:nvSpPr>
        <p:spPr>
          <a:xfrm>
            <a:off x="6821424" y="4334256"/>
            <a:ext cx="4169664" cy="164592"/>
          </a:xfrm>
          <a:prstGeom prst="rect">
            <a:avLst/>
          </a:prstGeom>
          <a:noFill/>
          <a:ln/>
        </p:spPr>
        <p:txBody>
          <a:bodyPr wrap="square" lIns="0" tIns="0" rIns="0" bIns="0" rtlCol="0" anchor="ctr"/>
          <a:lstStyle/>
          <a:p>
            <a:pPr indent="0" marL="0">
              <a:buNone/>
            </a:pPr>
            <a:r>
              <a:rPr lang="en-US" sz="1050" b="1" dirty="0">
                <a:solidFill>
                  <a:srgbClr val="17324D"/>
                </a:solidFill>
              </a:rPr>
              <a:t>最后留下的是研发可以处理的问题清单</a:t>
            </a:r>
            <a:endParaRPr lang="en-US" sz="1050" dirty="0"/>
          </a:p>
        </p:txBody>
      </p:sp>
      <p:sp>
        <p:nvSpPr>
          <p:cNvPr id="31" name="Text 29"/>
          <p:cNvSpPr/>
          <p:nvPr/>
        </p:nvSpPr>
        <p:spPr>
          <a:xfrm>
            <a:off x="6821424" y="4572000"/>
            <a:ext cx="4169664" cy="274320"/>
          </a:xfrm>
          <a:prstGeom prst="rect">
            <a:avLst/>
          </a:prstGeom>
          <a:noFill/>
          <a:ln/>
        </p:spPr>
        <p:txBody>
          <a:bodyPr wrap="square" lIns="0" tIns="0" rIns="0" bIns="0" rtlCol="0" anchor="ctr"/>
          <a:lstStyle/>
          <a:p>
            <a:pPr indent="0" marL="0">
              <a:buNone/>
            </a:pPr>
            <a:r>
              <a:rPr lang="en-US" sz="920" dirty="0">
                <a:solidFill>
                  <a:srgbClr val="5B7186"/>
                </a:solidFill>
              </a:rPr>
              <a:t>系统会做去重、收敛和阈值过滤，把真正值得优先处理的问题整理出来</a:t>
            </a:r>
            <a:endParaRPr lang="en-US" sz="920" dirty="0"/>
          </a:p>
        </p:txBody>
      </p:sp>
      <p:sp>
        <p:nvSpPr>
          <p:cNvPr id="32" name="Text 30"/>
          <p:cNvSpPr/>
          <p:nvPr/>
        </p:nvSpPr>
        <p:spPr>
          <a:xfrm>
            <a:off x="10844784" y="6181344"/>
            <a:ext cx="640080" cy="146304"/>
          </a:xfrm>
          <a:prstGeom prst="rect">
            <a:avLst/>
          </a:prstGeom>
          <a:noFill/>
          <a:ln/>
        </p:spPr>
        <p:txBody>
          <a:bodyPr wrap="square" lIns="0" tIns="0" rIns="0" bIns="0" rtlCol="0" anchor="ctr"/>
          <a:lstStyle/>
          <a:p>
            <a:pPr algn="r" indent="0" marL="0">
              <a:buNone/>
            </a:pPr>
            <a:r>
              <a:rPr lang="en-US" sz="900" b="1" dirty="0">
                <a:solidFill>
                  <a:srgbClr val="5B7186"/>
                </a:solidFill>
              </a:rPr>
              <a:t>01 / 06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CFBF8"/>
          </a:solidFill>
          <a:ln w="12700">
            <a:solidFill>
              <a:srgbClr val="FCFBF8">
                <a:alpha val="0"/>
              </a:srgbClr>
            </a:solidFill>
            <a:prstDash val="solid"/>
          </a:ln>
        </p:spPr>
      </p:sp>
      <p:sp>
        <p:nvSpPr>
          <p:cNvPr id="3" name="Shape 1"/>
          <p:cNvSpPr/>
          <p:nvPr/>
        </p:nvSpPr>
        <p:spPr>
          <a:xfrm>
            <a:off x="0" y="0"/>
            <a:ext cx="12191695" cy="128016"/>
          </a:xfrm>
          <a:prstGeom prst="rect">
            <a:avLst/>
          </a:prstGeom>
          <a:solidFill>
            <a:srgbClr val="10253A"/>
          </a:solidFill>
          <a:ln w="12700">
            <a:solidFill>
              <a:srgbClr val="10253A">
                <a:alpha val="0"/>
              </a:srgbClr>
            </a:solidFill>
            <a:prstDash val="solid"/>
          </a:ln>
        </p:spPr>
      </p:sp>
      <p:sp>
        <p:nvSpPr>
          <p:cNvPr id="4" name="Shape 2"/>
          <p:cNvSpPr/>
          <p:nvPr/>
        </p:nvSpPr>
        <p:spPr>
          <a:xfrm>
            <a:off x="530352" y="402336"/>
            <a:ext cx="1078992" cy="237744"/>
          </a:xfrm>
          <a:prstGeom prst="roundRect">
            <a:avLst>
              <a:gd name="adj" fmla="val 23077"/>
            </a:avLst>
          </a:prstGeom>
          <a:solidFill>
            <a:srgbClr val="4F7BFF"/>
          </a:solidFill>
          <a:ln w="12700">
            <a:solidFill>
              <a:srgbClr val="4F7BFF">
                <a:alpha val="0"/>
              </a:srgbClr>
            </a:solidFill>
            <a:prstDash val="solid"/>
          </a:ln>
        </p:spPr>
      </p:sp>
      <p:sp>
        <p:nvSpPr>
          <p:cNvPr id="5" name="Text 3"/>
          <p:cNvSpPr/>
          <p:nvPr/>
        </p:nvSpPr>
        <p:spPr>
          <a:xfrm>
            <a:off x="585216" y="452628"/>
            <a:ext cx="969264" cy="109728"/>
          </a:xfrm>
          <a:prstGeom prst="rect">
            <a:avLst/>
          </a:prstGeom>
          <a:noFill/>
          <a:ln/>
        </p:spPr>
        <p:txBody>
          <a:bodyPr wrap="square" lIns="0" tIns="0" rIns="0" bIns="0" rtlCol="0" anchor="ctr"/>
          <a:lstStyle/>
          <a:p>
            <a:pPr algn="ctr" indent="0" marL="0">
              <a:buNone/>
            </a:pPr>
            <a:r>
              <a:rPr lang="en-US" sz="800" b="1" dirty="0">
                <a:solidFill>
                  <a:srgbClr val="FFFFFF"/>
                </a:solidFill>
              </a:rPr>
              <a:t>Extensibility</a:t>
            </a:r>
            <a:endParaRPr lang="en-US" sz="800" dirty="0"/>
          </a:p>
        </p:txBody>
      </p:sp>
      <p:sp>
        <p:nvSpPr>
          <p:cNvPr id="6" name="Text 4"/>
          <p:cNvSpPr/>
          <p:nvPr/>
        </p:nvSpPr>
        <p:spPr>
          <a:xfrm>
            <a:off x="10881360" y="429768"/>
            <a:ext cx="731520" cy="128016"/>
          </a:xfrm>
          <a:prstGeom prst="rect">
            <a:avLst/>
          </a:prstGeom>
          <a:noFill/>
          <a:ln/>
        </p:spPr>
        <p:txBody>
          <a:bodyPr wrap="square" lIns="0" tIns="0" rIns="0" bIns="0" rtlCol="0" anchor="ctr"/>
          <a:lstStyle/>
          <a:p>
            <a:pPr algn="r" indent="0" marL="0">
              <a:buNone/>
            </a:pPr>
            <a:r>
              <a:rPr lang="en-US" sz="900" b="1" dirty="0">
                <a:solidFill>
                  <a:srgbClr val="5B7186"/>
                </a:solidFill>
              </a:rPr>
              <a:t>02 / 06</a:t>
            </a:r>
            <a:endParaRPr lang="en-US" sz="900" dirty="0"/>
          </a:p>
        </p:txBody>
      </p:sp>
      <p:sp>
        <p:nvSpPr>
          <p:cNvPr id="7" name="Text 5"/>
          <p:cNvSpPr/>
          <p:nvPr/>
        </p:nvSpPr>
        <p:spPr>
          <a:xfrm>
            <a:off x="530352" y="804672"/>
            <a:ext cx="8961120" cy="384048"/>
          </a:xfrm>
          <a:prstGeom prst="rect">
            <a:avLst/>
          </a:prstGeom>
          <a:noFill/>
          <a:ln/>
        </p:spPr>
        <p:txBody>
          <a:bodyPr wrap="square" lIns="0" tIns="0" rIns="0" bIns="0" rtlCol="0" anchor="ctr"/>
          <a:lstStyle/>
          <a:p>
            <a:pPr indent="0" marL="0">
              <a:buNone/>
            </a:pPr>
            <a:r>
              <a:rPr lang="en-US" sz="2400" b="1" dirty="0">
                <a:solidFill>
                  <a:srgbClr val="17324D"/>
                </a:solidFill>
              </a:rPr>
              <a:t>三种扩展方式，让新能力接入不用反复改主流程</a:t>
            </a:r>
            <a:endParaRPr lang="en-US" sz="2400" dirty="0"/>
          </a:p>
        </p:txBody>
      </p:sp>
      <p:sp>
        <p:nvSpPr>
          <p:cNvPr id="8" name="Text 6"/>
          <p:cNvSpPr/>
          <p:nvPr/>
        </p:nvSpPr>
        <p:spPr>
          <a:xfrm>
            <a:off x="530352" y="1243584"/>
            <a:ext cx="9601200" cy="274320"/>
          </a:xfrm>
          <a:prstGeom prst="rect">
            <a:avLst/>
          </a:prstGeom>
          <a:noFill/>
          <a:ln/>
        </p:spPr>
        <p:txBody>
          <a:bodyPr wrap="square" lIns="0" tIns="0" rIns="0" bIns="0" rtlCol="0" anchor="ctr"/>
          <a:lstStyle/>
          <a:p>
            <a:pPr indent="0" marL="0">
              <a:buNone/>
            </a:pPr>
            <a:r>
              <a:rPr lang="en-US" sz="1000" dirty="0">
                <a:solidFill>
                  <a:srgbClr val="5B7186"/>
                </a:solidFill>
              </a:rPr>
              <a:t>这一页只讲两件事：平时怎么扩，运行时怎么用。</a:t>
            </a:r>
            <a:endParaRPr lang="en-US" sz="1000" dirty="0"/>
          </a:p>
        </p:txBody>
      </p:sp>
      <p:sp>
        <p:nvSpPr>
          <p:cNvPr id="9" name="Shape 7"/>
          <p:cNvSpPr/>
          <p:nvPr/>
        </p:nvSpPr>
        <p:spPr>
          <a:xfrm>
            <a:off x="585216" y="1691640"/>
            <a:ext cx="11027664" cy="1463040"/>
          </a:xfrm>
          <a:prstGeom prst="roundRect">
            <a:avLst>
              <a:gd name="adj" fmla="val 5000"/>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0" name="Text 8"/>
          <p:cNvSpPr/>
          <p:nvPr/>
        </p:nvSpPr>
        <p:spPr>
          <a:xfrm>
            <a:off x="841248" y="1901952"/>
            <a:ext cx="1280160" cy="164592"/>
          </a:xfrm>
          <a:prstGeom prst="rect">
            <a:avLst/>
          </a:prstGeom>
          <a:noFill/>
          <a:ln/>
        </p:spPr>
        <p:txBody>
          <a:bodyPr wrap="square" lIns="0" tIns="0" rIns="0" bIns="0" rtlCol="0" anchor="ctr"/>
          <a:lstStyle/>
          <a:p>
            <a:pPr indent="0" marL="0">
              <a:buNone/>
            </a:pPr>
            <a:r>
              <a:rPr lang="en-US" sz="1300" b="1" dirty="0">
                <a:solidFill>
                  <a:srgbClr val="17324D"/>
                </a:solidFill>
              </a:rPr>
              <a:t>平时怎么扩</a:t>
            </a:r>
            <a:endParaRPr lang="en-US" sz="1300" dirty="0"/>
          </a:p>
        </p:txBody>
      </p:sp>
      <p:sp>
        <p:nvSpPr>
          <p:cNvPr id="11" name="Shape 9"/>
          <p:cNvSpPr/>
          <p:nvPr/>
        </p:nvSpPr>
        <p:spPr>
          <a:xfrm>
            <a:off x="841248" y="2212848"/>
            <a:ext cx="3246120" cy="713232"/>
          </a:xfrm>
          <a:prstGeom prst="roundRect">
            <a:avLst>
              <a:gd name="adj" fmla="val 10256"/>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12" name="Shape 10"/>
          <p:cNvSpPr/>
          <p:nvPr/>
        </p:nvSpPr>
        <p:spPr>
          <a:xfrm>
            <a:off x="969264" y="2331720"/>
            <a:ext cx="384048" cy="219456"/>
          </a:xfrm>
          <a:prstGeom prst="roundRect">
            <a:avLst>
              <a:gd name="adj" fmla="val 25000"/>
            </a:avLst>
          </a:prstGeom>
          <a:solidFill>
            <a:srgbClr val="4F7BFF"/>
          </a:solidFill>
          <a:ln w="12700">
            <a:solidFill>
              <a:srgbClr val="4F7BFF">
                <a:alpha val="0"/>
              </a:srgbClr>
            </a:solidFill>
            <a:prstDash val="solid"/>
          </a:ln>
        </p:spPr>
      </p:sp>
      <p:sp>
        <p:nvSpPr>
          <p:cNvPr id="13" name="Text 11"/>
          <p:cNvSpPr/>
          <p:nvPr/>
        </p:nvSpPr>
        <p:spPr>
          <a:xfrm>
            <a:off x="1042416" y="2368296"/>
            <a:ext cx="237744" cy="109728"/>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14" name="Text 12"/>
          <p:cNvSpPr/>
          <p:nvPr/>
        </p:nvSpPr>
        <p:spPr>
          <a:xfrm>
            <a:off x="1444752" y="2313432"/>
            <a:ext cx="914400" cy="146304"/>
          </a:xfrm>
          <a:prstGeom prst="rect">
            <a:avLst/>
          </a:prstGeom>
          <a:noFill/>
          <a:ln/>
        </p:spPr>
        <p:txBody>
          <a:bodyPr wrap="square" lIns="0" tIns="0" rIns="0" bIns="0" rtlCol="0" anchor="ctr"/>
          <a:lstStyle/>
          <a:p>
            <a:pPr indent="0" marL="0">
              <a:buNone/>
            </a:pPr>
            <a:r>
              <a:rPr lang="en-US" sz="1150" b="1" dirty="0">
                <a:solidFill>
                  <a:srgbClr val="17324D"/>
                </a:solidFill>
              </a:rPr>
              <a:t>规范文档</a:t>
            </a:r>
            <a:endParaRPr lang="en-US" sz="1150" dirty="0"/>
          </a:p>
        </p:txBody>
      </p:sp>
      <p:sp>
        <p:nvSpPr>
          <p:cNvPr id="15" name="Text 13"/>
          <p:cNvSpPr/>
          <p:nvPr/>
        </p:nvSpPr>
        <p:spPr>
          <a:xfrm>
            <a:off x="2414016" y="2313432"/>
            <a:ext cx="1444752" cy="146304"/>
          </a:xfrm>
          <a:prstGeom prst="rect">
            <a:avLst/>
          </a:prstGeom>
          <a:noFill/>
          <a:ln/>
        </p:spPr>
        <p:txBody>
          <a:bodyPr wrap="square" lIns="0" tIns="0" rIns="0" bIns="0" rtlCol="0" anchor="ctr"/>
          <a:lstStyle/>
          <a:p>
            <a:pPr indent="0" marL="0">
              <a:buNone/>
            </a:pPr>
            <a:r>
              <a:rPr lang="en-US" sz="900" dirty="0">
                <a:solidFill>
                  <a:srgbClr val="5B7186"/>
                </a:solidFill>
              </a:rPr>
              <a:t>告诉专家该按什么规则看</a:t>
            </a:r>
            <a:endParaRPr lang="en-US" sz="900" dirty="0"/>
          </a:p>
        </p:txBody>
      </p:sp>
      <p:sp>
        <p:nvSpPr>
          <p:cNvPr id="16" name="Text 14"/>
          <p:cNvSpPr/>
          <p:nvPr/>
        </p:nvSpPr>
        <p:spPr>
          <a:xfrm>
            <a:off x="969264" y="2596896"/>
            <a:ext cx="2907792" cy="146304"/>
          </a:xfrm>
          <a:prstGeom prst="rect">
            <a:avLst/>
          </a:prstGeom>
          <a:noFill/>
          <a:ln/>
        </p:spPr>
        <p:txBody>
          <a:bodyPr wrap="square" lIns="0" tIns="0" rIns="0" bIns="0" rtlCol="0" anchor="ctr"/>
          <a:lstStyle/>
          <a:p>
            <a:pPr indent="0" marL="0">
              <a:buNone/>
            </a:pPr>
            <a:r>
              <a:rPr lang="en-US" sz="880" dirty="0">
                <a:solidFill>
                  <a:srgbClr val="5B7186"/>
                </a:solidFill>
              </a:rPr>
              <a:t>上传规范后，系统会拆章节、拆规则卡、建立索引</a:t>
            </a:r>
            <a:endParaRPr lang="en-US" sz="880" dirty="0"/>
          </a:p>
        </p:txBody>
      </p:sp>
      <p:sp>
        <p:nvSpPr>
          <p:cNvPr id="17" name="Shape 15"/>
          <p:cNvSpPr/>
          <p:nvPr/>
        </p:nvSpPr>
        <p:spPr>
          <a:xfrm>
            <a:off x="4425696" y="2212848"/>
            <a:ext cx="3246120" cy="713232"/>
          </a:xfrm>
          <a:prstGeom prst="roundRect">
            <a:avLst>
              <a:gd name="adj" fmla="val 10256"/>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18" name="Shape 16"/>
          <p:cNvSpPr/>
          <p:nvPr/>
        </p:nvSpPr>
        <p:spPr>
          <a:xfrm>
            <a:off x="4553712" y="2331720"/>
            <a:ext cx="384048" cy="219456"/>
          </a:xfrm>
          <a:prstGeom prst="roundRect">
            <a:avLst>
              <a:gd name="adj" fmla="val 25000"/>
            </a:avLst>
          </a:prstGeom>
          <a:solidFill>
            <a:srgbClr val="0F766E"/>
          </a:solidFill>
          <a:ln w="12700">
            <a:solidFill>
              <a:srgbClr val="0F766E">
                <a:alpha val="0"/>
              </a:srgbClr>
            </a:solidFill>
            <a:prstDash val="solid"/>
          </a:ln>
        </p:spPr>
      </p:sp>
      <p:sp>
        <p:nvSpPr>
          <p:cNvPr id="19" name="Text 17"/>
          <p:cNvSpPr/>
          <p:nvPr/>
        </p:nvSpPr>
        <p:spPr>
          <a:xfrm>
            <a:off x="4626864" y="2368296"/>
            <a:ext cx="237744" cy="109728"/>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20" name="Text 18"/>
          <p:cNvSpPr/>
          <p:nvPr/>
        </p:nvSpPr>
        <p:spPr>
          <a:xfrm>
            <a:off x="5029200" y="2313432"/>
            <a:ext cx="914400" cy="146304"/>
          </a:xfrm>
          <a:prstGeom prst="rect">
            <a:avLst/>
          </a:prstGeom>
          <a:noFill/>
          <a:ln/>
        </p:spPr>
        <p:txBody>
          <a:bodyPr wrap="square" lIns="0" tIns="0" rIns="0" bIns="0" rtlCol="0" anchor="ctr"/>
          <a:lstStyle/>
          <a:p>
            <a:pPr indent="0" marL="0">
              <a:buNone/>
            </a:pPr>
            <a:r>
              <a:rPr lang="en-US" sz="1150" b="1" dirty="0">
                <a:solidFill>
                  <a:srgbClr val="17324D"/>
                </a:solidFill>
              </a:rPr>
              <a:t>Skill</a:t>
            </a:r>
            <a:endParaRPr lang="en-US" sz="1150" dirty="0"/>
          </a:p>
        </p:txBody>
      </p:sp>
      <p:sp>
        <p:nvSpPr>
          <p:cNvPr id="21" name="Text 19"/>
          <p:cNvSpPr/>
          <p:nvPr/>
        </p:nvSpPr>
        <p:spPr>
          <a:xfrm>
            <a:off x="5998464" y="2313432"/>
            <a:ext cx="1444752" cy="146304"/>
          </a:xfrm>
          <a:prstGeom prst="rect">
            <a:avLst/>
          </a:prstGeom>
          <a:noFill/>
          <a:ln/>
        </p:spPr>
        <p:txBody>
          <a:bodyPr wrap="square" lIns="0" tIns="0" rIns="0" bIns="0" rtlCol="0" anchor="ctr"/>
          <a:lstStyle/>
          <a:p>
            <a:pPr indent="0" marL="0">
              <a:buNone/>
            </a:pPr>
            <a:r>
              <a:rPr lang="en-US" sz="900" dirty="0">
                <a:solidFill>
                  <a:srgbClr val="5B7186"/>
                </a:solidFill>
              </a:rPr>
              <a:t>告诉系统什么场景启额外能力</a:t>
            </a:r>
            <a:endParaRPr lang="en-US" sz="900" dirty="0"/>
          </a:p>
        </p:txBody>
      </p:sp>
      <p:sp>
        <p:nvSpPr>
          <p:cNvPr id="22" name="Text 20"/>
          <p:cNvSpPr/>
          <p:nvPr/>
        </p:nvSpPr>
        <p:spPr>
          <a:xfrm>
            <a:off x="4553712" y="2596896"/>
            <a:ext cx="2907792" cy="146304"/>
          </a:xfrm>
          <a:prstGeom prst="rect">
            <a:avLst/>
          </a:prstGeom>
          <a:noFill/>
          <a:ln/>
        </p:spPr>
        <p:txBody>
          <a:bodyPr wrap="square" lIns="0" tIns="0" rIns="0" bIns="0" rtlCol="0" anchor="ctr"/>
          <a:lstStyle/>
          <a:p>
            <a:pPr indent="0" marL="0">
              <a:buNone/>
            </a:pPr>
            <a:r>
              <a:rPr lang="en-US" sz="880" dirty="0">
                <a:solidFill>
                  <a:srgbClr val="5B7186"/>
                </a:solidFill>
              </a:rPr>
              <a:t>更像专家插件，用来补一类专项分析能力</a:t>
            </a:r>
            <a:endParaRPr lang="en-US" sz="880" dirty="0"/>
          </a:p>
        </p:txBody>
      </p:sp>
      <p:sp>
        <p:nvSpPr>
          <p:cNvPr id="23" name="Shape 21"/>
          <p:cNvSpPr/>
          <p:nvPr/>
        </p:nvSpPr>
        <p:spPr>
          <a:xfrm>
            <a:off x="8010144" y="2212848"/>
            <a:ext cx="3246120" cy="713232"/>
          </a:xfrm>
          <a:prstGeom prst="roundRect">
            <a:avLst>
              <a:gd name="adj" fmla="val 10256"/>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24" name="Shape 22"/>
          <p:cNvSpPr/>
          <p:nvPr/>
        </p:nvSpPr>
        <p:spPr>
          <a:xfrm>
            <a:off x="8138160" y="2331720"/>
            <a:ext cx="384048" cy="219456"/>
          </a:xfrm>
          <a:prstGeom prst="roundRect">
            <a:avLst>
              <a:gd name="adj" fmla="val 25000"/>
            </a:avLst>
          </a:prstGeom>
          <a:solidFill>
            <a:srgbClr val="D97706"/>
          </a:solidFill>
          <a:ln w="12700">
            <a:solidFill>
              <a:srgbClr val="D97706">
                <a:alpha val="0"/>
              </a:srgbClr>
            </a:solidFill>
            <a:prstDash val="solid"/>
          </a:ln>
        </p:spPr>
      </p:sp>
      <p:sp>
        <p:nvSpPr>
          <p:cNvPr id="25" name="Text 23"/>
          <p:cNvSpPr/>
          <p:nvPr/>
        </p:nvSpPr>
        <p:spPr>
          <a:xfrm>
            <a:off x="8211312" y="2368296"/>
            <a:ext cx="237744" cy="109728"/>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26" name="Text 24"/>
          <p:cNvSpPr/>
          <p:nvPr/>
        </p:nvSpPr>
        <p:spPr>
          <a:xfrm>
            <a:off x="8613648" y="2313432"/>
            <a:ext cx="914400" cy="146304"/>
          </a:xfrm>
          <a:prstGeom prst="rect">
            <a:avLst/>
          </a:prstGeom>
          <a:noFill/>
          <a:ln/>
        </p:spPr>
        <p:txBody>
          <a:bodyPr wrap="square" lIns="0" tIns="0" rIns="0" bIns="0" rtlCol="0" anchor="ctr"/>
          <a:lstStyle/>
          <a:p>
            <a:pPr indent="0" marL="0">
              <a:buNone/>
            </a:pPr>
            <a:r>
              <a:rPr lang="en-US" sz="1150" b="1" dirty="0">
                <a:solidFill>
                  <a:srgbClr val="17324D"/>
                </a:solidFill>
              </a:rPr>
              <a:t>Tool</a:t>
            </a:r>
            <a:endParaRPr lang="en-US" sz="1150" dirty="0"/>
          </a:p>
        </p:txBody>
      </p:sp>
      <p:sp>
        <p:nvSpPr>
          <p:cNvPr id="27" name="Text 25"/>
          <p:cNvSpPr/>
          <p:nvPr/>
        </p:nvSpPr>
        <p:spPr>
          <a:xfrm>
            <a:off x="9582912" y="2313432"/>
            <a:ext cx="1444752" cy="146304"/>
          </a:xfrm>
          <a:prstGeom prst="rect">
            <a:avLst/>
          </a:prstGeom>
          <a:noFill/>
          <a:ln/>
        </p:spPr>
        <p:txBody>
          <a:bodyPr wrap="square" lIns="0" tIns="0" rIns="0" bIns="0" rtlCol="0" anchor="ctr"/>
          <a:lstStyle/>
          <a:p>
            <a:pPr indent="0" marL="0">
              <a:buNone/>
            </a:pPr>
            <a:r>
              <a:rPr lang="en-US" sz="900" dirty="0">
                <a:solidFill>
                  <a:srgbClr val="5B7186"/>
                </a:solidFill>
              </a:rPr>
              <a:t>告诉专家去哪里拿证据</a:t>
            </a:r>
            <a:endParaRPr lang="en-US" sz="900" dirty="0"/>
          </a:p>
        </p:txBody>
      </p:sp>
      <p:sp>
        <p:nvSpPr>
          <p:cNvPr id="28" name="Text 26"/>
          <p:cNvSpPr/>
          <p:nvPr/>
        </p:nvSpPr>
        <p:spPr>
          <a:xfrm>
            <a:off x="8138160" y="2596896"/>
            <a:ext cx="2907792" cy="146304"/>
          </a:xfrm>
          <a:prstGeom prst="rect">
            <a:avLst/>
          </a:prstGeom>
          <a:noFill/>
          <a:ln/>
        </p:spPr>
        <p:txBody>
          <a:bodyPr wrap="square" lIns="0" tIns="0" rIns="0" bIns="0" rtlCol="0" anchor="ctr"/>
          <a:lstStyle/>
          <a:p>
            <a:pPr indent="0" marL="0">
              <a:buNone/>
            </a:pPr>
            <a:r>
              <a:rPr lang="en-US" sz="880" dirty="0">
                <a:solidFill>
                  <a:srgbClr val="5B7186"/>
                </a:solidFill>
              </a:rPr>
              <a:t>比如代码仓、设计文档、数据库表结构、外部平台</a:t>
            </a:r>
            <a:endParaRPr lang="en-US" sz="880" dirty="0"/>
          </a:p>
        </p:txBody>
      </p:sp>
      <p:sp>
        <p:nvSpPr>
          <p:cNvPr id="29" name="Shape 27"/>
          <p:cNvSpPr/>
          <p:nvPr/>
        </p:nvSpPr>
        <p:spPr>
          <a:xfrm>
            <a:off x="585216" y="3419856"/>
            <a:ext cx="11027664" cy="2487168"/>
          </a:xfrm>
          <a:prstGeom prst="roundRect">
            <a:avLst>
              <a:gd name="adj" fmla="val 2941"/>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30" name="Text 28"/>
          <p:cNvSpPr/>
          <p:nvPr/>
        </p:nvSpPr>
        <p:spPr>
          <a:xfrm>
            <a:off x="841248" y="3657600"/>
            <a:ext cx="1645920" cy="164592"/>
          </a:xfrm>
          <a:prstGeom prst="rect">
            <a:avLst/>
          </a:prstGeom>
          <a:noFill/>
          <a:ln/>
        </p:spPr>
        <p:txBody>
          <a:bodyPr wrap="square" lIns="0" tIns="0" rIns="0" bIns="0" rtlCol="0" anchor="ctr"/>
          <a:lstStyle/>
          <a:p>
            <a:pPr indent="0" marL="0">
              <a:buNone/>
            </a:pPr>
            <a:r>
              <a:rPr lang="en-US" sz="1300" b="1" dirty="0">
                <a:solidFill>
                  <a:srgbClr val="17324D"/>
                </a:solidFill>
              </a:rPr>
              <a:t>运行时怎么组装</a:t>
            </a:r>
            <a:endParaRPr lang="en-US" sz="1300" dirty="0"/>
          </a:p>
        </p:txBody>
      </p:sp>
      <p:sp>
        <p:nvSpPr>
          <p:cNvPr id="31" name="Shape 29"/>
          <p:cNvSpPr/>
          <p:nvPr/>
        </p:nvSpPr>
        <p:spPr>
          <a:xfrm>
            <a:off x="914400" y="4133088"/>
            <a:ext cx="1481328" cy="402336"/>
          </a:xfrm>
          <a:prstGeom prst="roundRect">
            <a:avLst>
              <a:gd name="adj" fmla="val 18182"/>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32" name="Text 30"/>
          <p:cNvSpPr/>
          <p:nvPr/>
        </p:nvSpPr>
        <p:spPr>
          <a:xfrm>
            <a:off x="914400" y="4261104"/>
            <a:ext cx="1481328" cy="109728"/>
          </a:xfrm>
          <a:prstGeom prst="rect">
            <a:avLst/>
          </a:prstGeom>
          <a:noFill/>
          <a:ln/>
        </p:spPr>
        <p:txBody>
          <a:bodyPr wrap="square" lIns="0" tIns="0" rIns="0" bIns="0" rtlCol="0" anchor="ctr"/>
          <a:lstStyle/>
          <a:p>
            <a:pPr algn="ctr" indent="0" marL="0">
              <a:buNone/>
            </a:pPr>
            <a:r>
              <a:rPr lang="en-US" sz="940" b="1" dirty="0">
                <a:solidFill>
                  <a:srgbClr val="17324D"/>
                </a:solidFill>
              </a:rPr>
              <a:t>MR 输入</a:t>
            </a:r>
            <a:endParaRPr lang="en-US" sz="940" dirty="0"/>
          </a:p>
        </p:txBody>
      </p:sp>
      <p:sp>
        <p:nvSpPr>
          <p:cNvPr id="33" name="Shape 31"/>
          <p:cNvSpPr/>
          <p:nvPr/>
        </p:nvSpPr>
        <p:spPr>
          <a:xfrm>
            <a:off x="914400" y="4718304"/>
            <a:ext cx="1481328" cy="402336"/>
          </a:xfrm>
          <a:prstGeom prst="roundRect">
            <a:avLst>
              <a:gd name="adj" fmla="val 18182"/>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34" name="Text 32"/>
          <p:cNvSpPr/>
          <p:nvPr/>
        </p:nvSpPr>
        <p:spPr>
          <a:xfrm>
            <a:off x="914400" y="4846320"/>
            <a:ext cx="1481328" cy="109728"/>
          </a:xfrm>
          <a:prstGeom prst="rect">
            <a:avLst/>
          </a:prstGeom>
          <a:noFill/>
          <a:ln/>
        </p:spPr>
        <p:txBody>
          <a:bodyPr wrap="square" lIns="0" tIns="0" rIns="0" bIns="0" rtlCol="0" anchor="ctr"/>
          <a:lstStyle/>
          <a:p>
            <a:pPr algn="ctr" indent="0" marL="0">
              <a:buNone/>
            </a:pPr>
            <a:r>
              <a:rPr lang="en-US" sz="940" b="1" dirty="0">
                <a:solidFill>
                  <a:srgbClr val="17324D"/>
                </a:solidFill>
              </a:rPr>
              <a:t>命中规则</a:t>
            </a:r>
            <a:endParaRPr lang="en-US" sz="940" dirty="0"/>
          </a:p>
        </p:txBody>
      </p:sp>
      <p:sp>
        <p:nvSpPr>
          <p:cNvPr id="35" name="Shape 33"/>
          <p:cNvSpPr/>
          <p:nvPr/>
        </p:nvSpPr>
        <p:spPr>
          <a:xfrm>
            <a:off x="914400" y="5303520"/>
            <a:ext cx="1481328" cy="402336"/>
          </a:xfrm>
          <a:prstGeom prst="roundRect">
            <a:avLst>
              <a:gd name="adj" fmla="val 18182"/>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36" name="Text 34"/>
          <p:cNvSpPr/>
          <p:nvPr/>
        </p:nvSpPr>
        <p:spPr>
          <a:xfrm>
            <a:off x="914400" y="5431536"/>
            <a:ext cx="1481328" cy="109728"/>
          </a:xfrm>
          <a:prstGeom prst="rect">
            <a:avLst/>
          </a:prstGeom>
          <a:noFill/>
          <a:ln/>
        </p:spPr>
        <p:txBody>
          <a:bodyPr wrap="square" lIns="0" tIns="0" rIns="0" bIns="0" rtlCol="0" anchor="ctr"/>
          <a:lstStyle/>
          <a:p>
            <a:pPr algn="ctr" indent="0" marL="0">
              <a:buNone/>
            </a:pPr>
            <a:r>
              <a:rPr lang="en-US" sz="940" b="1" dirty="0">
                <a:solidFill>
                  <a:srgbClr val="17324D"/>
                </a:solidFill>
              </a:rPr>
              <a:t>代码证据</a:t>
            </a:r>
            <a:endParaRPr lang="en-US" sz="940" dirty="0"/>
          </a:p>
        </p:txBody>
      </p:sp>
      <p:sp>
        <p:nvSpPr>
          <p:cNvPr id="37" name="Shape 35"/>
          <p:cNvSpPr/>
          <p:nvPr/>
        </p:nvSpPr>
        <p:spPr>
          <a:xfrm>
            <a:off x="3657600" y="4315968"/>
            <a:ext cx="3694176" cy="1097280"/>
          </a:xfrm>
          <a:prstGeom prst="roundRect">
            <a:avLst>
              <a:gd name="adj" fmla="val 6667"/>
            </a:avLst>
          </a:prstGeom>
          <a:solidFill>
            <a:srgbClr val="EEF4FF"/>
          </a:solidFill>
          <a:ln w="12700">
            <a:solidFill>
              <a:srgbClr val="4F7BFF"/>
            </a:solidFill>
            <a:prstDash val="solid"/>
          </a:ln>
          <a:effectLst>
            <a:outerShdw sx="100000" sy="100000" kx="0" ky="0" algn="bl" rotWithShape="0" blurRad="12700" dist="50800" dir="2700000">
              <a:srgbClr val="DDE5EC">
                <a:alpha val="10000"/>
              </a:srgbClr>
            </a:outerShdw>
          </a:effectLst>
        </p:spPr>
      </p:sp>
      <p:sp>
        <p:nvSpPr>
          <p:cNvPr id="38" name="Text 36"/>
          <p:cNvSpPr/>
          <p:nvPr/>
        </p:nvSpPr>
        <p:spPr>
          <a:xfrm>
            <a:off x="3931920" y="4572000"/>
            <a:ext cx="3145536" cy="164592"/>
          </a:xfrm>
          <a:prstGeom prst="rect">
            <a:avLst/>
          </a:prstGeom>
          <a:noFill/>
          <a:ln/>
        </p:spPr>
        <p:txBody>
          <a:bodyPr wrap="square" lIns="0" tIns="0" rIns="0" bIns="0" rtlCol="0" anchor="ctr"/>
          <a:lstStyle/>
          <a:p>
            <a:pPr algn="ctr" indent="0" marL="0">
              <a:buNone/>
            </a:pPr>
            <a:r>
              <a:rPr lang="en-US" sz="1400" b="1" dirty="0">
                <a:solidFill>
                  <a:srgbClr val="17324D"/>
                </a:solidFill>
              </a:rPr>
              <a:t>专家专属上下文</a:t>
            </a:r>
            <a:endParaRPr lang="en-US" sz="1400" dirty="0"/>
          </a:p>
        </p:txBody>
      </p:sp>
      <p:sp>
        <p:nvSpPr>
          <p:cNvPr id="39" name="Text 37"/>
          <p:cNvSpPr/>
          <p:nvPr/>
        </p:nvSpPr>
        <p:spPr>
          <a:xfrm>
            <a:off x="3931920" y="4846320"/>
            <a:ext cx="3145536" cy="274320"/>
          </a:xfrm>
          <a:prstGeom prst="rect">
            <a:avLst/>
          </a:prstGeom>
          <a:noFill/>
          <a:ln/>
        </p:spPr>
        <p:txBody>
          <a:bodyPr wrap="square" lIns="0" tIns="0" rIns="0" bIns="0" rtlCol="0" anchor="ctr"/>
          <a:lstStyle/>
          <a:p>
            <a:pPr algn="ctr" indent="0" marL="0">
              <a:buNone/>
            </a:pPr>
            <a:r>
              <a:rPr lang="en-US" sz="940" dirty="0">
                <a:solidFill>
                  <a:srgbClr val="5B7186"/>
                </a:solidFill>
              </a:rPr>
              <a:t>不是把所有资料一股脑塞进去，而是只把这次 MR 真相关的内容拼起来。</a:t>
            </a:r>
            <a:endParaRPr lang="en-US" sz="940" dirty="0"/>
          </a:p>
        </p:txBody>
      </p:sp>
      <p:sp>
        <p:nvSpPr>
          <p:cNvPr id="40" name="Shape 38"/>
          <p:cNvSpPr/>
          <p:nvPr/>
        </p:nvSpPr>
        <p:spPr>
          <a:xfrm>
            <a:off x="2487168" y="4334256"/>
            <a:ext cx="1042416" cy="310896"/>
          </a:xfrm>
          <a:prstGeom prst="line">
            <a:avLst/>
          </a:prstGeom>
          <a:noFill/>
          <a:ln w="12700">
            <a:solidFill>
              <a:srgbClr val="4F7BFF"/>
            </a:solidFill>
            <a:prstDash val="solid"/>
            <a:headEnd type="none"/>
            <a:tailEnd type="triangle"/>
          </a:ln>
        </p:spPr>
      </p:sp>
      <p:sp>
        <p:nvSpPr>
          <p:cNvPr id="41" name="Shape 39"/>
          <p:cNvSpPr/>
          <p:nvPr/>
        </p:nvSpPr>
        <p:spPr>
          <a:xfrm>
            <a:off x="2487168" y="4919472"/>
            <a:ext cx="1042416" cy="-146304"/>
          </a:xfrm>
          <a:prstGeom prst="line">
            <a:avLst/>
          </a:prstGeom>
          <a:noFill/>
          <a:ln w="12700">
            <a:solidFill>
              <a:srgbClr val="0F766E"/>
            </a:solidFill>
            <a:prstDash val="solid"/>
            <a:headEnd type="none"/>
            <a:tailEnd type="triangle"/>
          </a:ln>
        </p:spPr>
      </p:sp>
      <p:sp>
        <p:nvSpPr>
          <p:cNvPr id="42" name="Shape 40"/>
          <p:cNvSpPr/>
          <p:nvPr/>
        </p:nvSpPr>
        <p:spPr>
          <a:xfrm>
            <a:off x="2487168" y="5504688"/>
            <a:ext cx="1042416" cy="-585216"/>
          </a:xfrm>
          <a:prstGeom prst="line">
            <a:avLst/>
          </a:prstGeom>
          <a:noFill/>
          <a:ln w="12700">
            <a:solidFill>
              <a:srgbClr val="D97706"/>
            </a:solidFill>
            <a:prstDash val="solid"/>
            <a:headEnd type="none"/>
            <a:tailEnd type="triangle"/>
          </a:ln>
        </p:spPr>
      </p:sp>
      <p:sp>
        <p:nvSpPr>
          <p:cNvPr id="43" name="Shape 41"/>
          <p:cNvSpPr/>
          <p:nvPr/>
        </p:nvSpPr>
        <p:spPr>
          <a:xfrm>
            <a:off x="8503920" y="4297680"/>
            <a:ext cx="2322576" cy="1097280"/>
          </a:xfrm>
          <a:prstGeom prst="roundRect">
            <a:avLst>
              <a:gd name="adj" fmla="val 6667"/>
            </a:avLst>
          </a:prstGeom>
          <a:solidFill>
            <a:srgbClr val="FFF0F4"/>
          </a:solidFill>
          <a:ln w="12700">
            <a:solidFill>
              <a:srgbClr val="E11D48"/>
            </a:solidFill>
            <a:prstDash val="solid"/>
          </a:ln>
          <a:effectLst>
            <a:outerShdw sx="100000" sy="100000" kx="0" ky="0" algn="bl" rotWithShape="0" blurRad="12700" dist="50800" dir="2700000">
              <a:srgbClr val="DDE5EC">
                <a:alpha val="10000"/>
              </a:srgbClr>
            </a:outerShdw>
          </a:effectLst>
        </p:spPr>
      </p:sp>
      <p:sp>
        <p:nvSpPr>
          <p:cNvPr id="44" name="Text 42"/>
          <p:cNvSpPr/>
          <p:nvPr/>
        </p:nvSpPr>
        <p:spPr>
          <a:xfrm>
            <a:off x="8705088" y="4590288"/>
            <a:ext cx="1920240" cy="164592"/>
          </a:xfrm>
          <a:prstGeom prst="rect">
            <a:avLst/>
          </a:prstGeom>
          <a:noFill/>
          <a:ln/>
        </p:spPr>
        <p:txBody>
          <a:bodyPr wrap="square" lIns="0" tIns="0" rIns="0" bIns="0" rtlCol="0" anchor="ctr"/>
          <a:lstStyle/>
          <a:p>
            <a:pPr algn="ctr" indent="0" marL="0">
              <a:buNone/>
            </a:pPr>
            <a:r>
              <a:rPr lang="en-US" sz="1250" b="1" dirty="0">
                <a:solidFill>
                  <a:srgbClr val="17324D"/>
                </a:solidFill>
              </a:rPr>
              <a:t>专家开始审查</a:t>
            </a:r>
            <a:endParaRPr lang="en-US" sz="1250" dirty="0"/>
          </a:p>
        </p:txBody>
      </p:sp>
      <p:sp>
        <p:nvSpPr>
          <p:cNvPr id="45" name="Text 43"/>
          <p:cNvSpPr/>
          <p:nvPr/>
        </p:nvSpPr>
        <p:spPr>
          <a:xfrm>
            <a:off x="8668512" y="4864608"/>
            <a:ext cx="1975104" cy="164592"/>
          </a:xfrm>
          <a:prstGeom prst="rect">
            <a:avLst/>
          </a:prstGeom>
          <a:noFill/>
          <a:ln/>
        </p:spPr>
        <p:txBody>
          <a:bodyPr wrap="square" lIns="0" tIns="0" rIns="0" bIns="0" rtlCol="0" anchor="ctr"/>
          <a:lstStyle/>
          <a:p>
            <a:pPr algn="ctr" indent="0" marL="0">
              <a:buNone/>
            </a:pPr>
            <a:r>
              <a:rPr lang="en-US" sz="910" dirty="0">
                <a:solidFill>
                  <a:srgbClr val="5B7186"/>
                </a:solidFill>
              </a:rPr>
              <a:t>带着上下文、规则和证据分别判断</a:t>
            </a:r>
            <a:endParaRPr lang="en-US" sz="910" dirty="0"/>
          </a:p>
        </p:txBody>
      </p:sp>
      <p:sp>
        <p:nvSpPr>
          <p:cNvPr id="46" name="Shape 44"/>
          <p:cNvSpPr/>
          <p:nvPr/>
        </p:nvSpPr>
        <p:spPr>
          <a:xfrm>
            <a:off x="7461504" y="4846320"/>
            <a:ext cx="859536" cy="0"/>
          </a:xfrm>
          <a:prstGeom prst="line">
            <a:avLst/>
          </a:prstGeom>
          <a:noFill/>
          <a:ln w="12700">
            <a:solidFill>
              <a:srgbClr val="E11D48"/>
            </a:solidFill>
            <a:prstDash val="solid"/>
            <a:headEnd type="none"/>
            <a:tailEnd type="triangle"/>
          </a:ln>
        </p:spPr>
      </p:sp>
      <p:sp>
        <p:nvSpPr>
          <p:cNvPr id="47" name="Shape 45"/>
          <p:cNvSpPr/>
          <p:nvPr/>
        </p:nvSpPr>
        <p:spPr>
          <a:xfrm>
            <a:off x="841248" y="6181344"/>
            <a:ext cx="3291840" cy="219456"/>
          </a:xfrm>
          <a:prstGeom prst="roundRect">
            <a:avLst>
              <a:gd name="adj" fmla="val 25000"/>
            </a:avLst>
          </a:prstGeom>
          <a:solidFill>
            <a:srgbClr val="EEF4FF"/>
          </a:solidFill>
          <a:ln w="12700">
            <a:solidFill>
              <a:srgbClr val="EEF4FF">
                <a:alpha val="0"/>
              </a:srgbClr>
            </a:solidFill>
            <a:prstDash val="solid"/>
          </a:ln>
        </p:spPr>
      </p:sp>
      <p:sp>
        <p:nvSpPr>
          <p:cNvPr id="48" name="Text 46"/>
          <p:cNvSpPr/>
          <p:nvPr/>
        </p:nvSpPr>
        <p:spPr>
          <a:xfrm>
            <a:off x="914400" y="6217920"/>
            <a:ext cx="3145536" cy="109728"/>
          </a:xfrm>
          <a:prstGeom prst="rect">
            <a:avLst/>
          </a:prstGeom>
          <a:noFill/>
          <a:ln/>
        </p:spPr>
        <p:txBody>
          <a:bodyPr wrap="square" lIns="0" tIns="0" rIns="0" bIns="0" rtlCol="0" anchor="ctr"/>
          <a:lstStyle/>
          <a:p>
            <a:pPr algn="ctr" indent="0" marL="0">
              <a:buNone/>
            </a:pPr>
            <a:r>
              <a:rPr lang="en-US" sz="800" b="1" dirty="0">
                <a:solidFill>
                  <a:srgbClr val="4F7BFF"/>
                </a:solidFill>
              </a:rPr>
              <a:t>一句话记住：文档管规则，Skill 管触发，Tool 管取证</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F1"/>
          </a:solidFill>
          <a:ln w="12700">
            <a:solidFill>
              <a:srgbClr val="F7F5F1">
                <a:alpha val="0"/>
              </a:srgbClr>
            </a:solidFill>
            <a:prstDash val="solid"/>
          </a:ln>
        </p:spPr>
      </p:sp>
      <p:sp>
        <p:nvSpPr>
          <p:cNvPr id="3" name="Shape 1"/>
          <p:cNvSpPr/>
          <p:nvPr/>
        </p:nvSpPr>
        <p:spPr>
          <a:xfrm>
            <a:off x="0" y="0"/>
            <a:ext cx="12191695" cy="128016"/>
          </a:xfrm>
          <a:prstGeom prst="rect">
            <a:avLst/>
          </a:prstGeom>
          <a:solidFill>
            <a:srgbClr val="10253A"/>
          </a:solidFill>
          <a:ln w="12700">
            <a:solidFill>
              <a:srgbClr val="10253A">
                <a:alpha val="0"/>
              </a:srgbClr>
            </a:solidFill>
            <a:prstDash val="solid"/>
          </a:ln>
        </p:spPr>
      </p:sp>
      <p:sp>
        <p:nvSpPr>
          <p:cNvPr id="4" name="Shape 2"/>
          <p:cNvSpPr/>
          <p:nvPr/>
        </p:nvSpPr>
        <p:spPr>
          <a:xfrm>
            <a:off x="530352" y="402336"/>
            <a:ext cx="1078992" cy="237744"/>
          </a:xfrm>
          <a:prstGeom prst="roundRect">
            <a:avLst>
              <a:gd name="adj" fmla="val 23077"/>
            </a:avLst>
          </a:prstGeom>
          <a:solidFill>
            <a:srgbClr val="0F766E"/>
          </a:solidFill>
          <a:ln w="12700">
            <a:solidFill>
              <a:srgbClr val="0F766E">
                <a:alpha val="0"/>
              </a:srgbClr>
            </a:solidFill>
            <a:prstDash val="solid"/>
          </a:ln>
        </p:spPr>
      </p:sp>
      <p:sp>
        <p:nvSpPr>
          <p:cNvPr id="5" name="Text 3"/>
          <p:cNvSpPr/>
          <p:nvPr/>
        </p:nvSpPr>
        <p:spPr>
          <a:xfrm>
            <a:off x="585216" y="452628"/>
            <a:ext cx="969264" cy="109728"/>
          </a:xfrm>
          <a:prstGeom prst="rect">
            <a:avLst/>
          </a:prstGeom>
          <a:noFill/>
          <a:ln/>
        </p:spPr>
        <p:txBody>
          <a:bodyPr wrap="square" lIns="0" tIns="0" rIns="0" bIns="0" rtlCol="0" anchor="ctr"/>
          <a:lstStyle/>
          <a:p>
            <a:pPr algn="ctr" indent="0" marL="0">
              <a:buNone/>
            </a:pPr>
            <a:r>
              <a:rPr lang="en-US" sz="800" b="1" dirty="0">
                <a:solidFill>
                  <a:srgbClr val="FFFFFF"/>
                </a:solidFill>
              </a:rPr>
              <a:t>Experts</a:t>
            </a:r>
            <a:endParaRPr lang="en-US" sz="800" dirty="0"/>
          </a:p>
        </p:txBody>
      </p:sp>
      <p:sp>
        <p:nvSpPr>
          <p:cNvPr id="6" name="Text 4"/>
          <p:cNvSpPr/>
          <p:nvPr/>
        </p:nvSpPr>
        <p:spPr>
          <a:xfrm>
            <a:off x="10881360" y="429768"/>
            <a:ext cx="731520" cy="128016"/>
          </a:xfrm>
          <a:prstGeom prst="rect">
            <a:avLst/>
          </a:prstGeom>
          <a:noFill/>
          <a:ln/>
        </p:spPr>
        <p:txBody>
          <a:bodyPr wrap="square" lIns="0" tIns="0" rIns="0" bIns="0" rtlCol="0" anchor="ctr"/>
          <a:lstStyle/>
          <a:p>
            <a:pPr algn="r" indent="0" marL="0">
              <a:buNone/>
            </a:pPr>
            <a:r>
              <a:rPr lang="en-US" sz="900" b="1" dirty="0">
                <a:solidFill>
                  <a:srgbClr val="5B7186"/>
                </a:solidFill>
              </a:rPr>
              <a:t>03 / 06</a:t>
            </a:r>
            <a:endParaRPr lang="en-US" sz="900" dirty="0"/>
          </a:p>
        </p:txBody>
      </p:sp>
      <p:sp>
        <p:nvSpPr>
          <p:cNvPr id="7" name="Text 5"/>
          <p:cNvSpPr/>
          <p:nvPr/>
        </p:nvSpPr>
        <p:spPr>
          <a:xfrm>
            <a:off x="530352" y="804672"/>
            <a:ext cx="8961120" cy="384048"/>
          </a:xfrm>
          <a:prstGeom prst="rect">
            <a:avLst/>
          </a:prstGeom>
          <a:noFill/>
          <a:ln/>
        </p:spPr>
        <p:txBody>
          <a:bodyPr wrap="square" lIns="0" tIns="0" rIns="0" bIns="0" rtlCol="0" anchor="ctr"/>
          <a:lstStyle/>
          <a:p>
            <a:pPr indent="0" marL="0">
              <a:buNone/>
            </a:pPr>
            <a:r>
              <a:rPr lang="en-US" sz="2400" b="1" dirty="0">
                <a:solidFill>
                  <a:srgbClr val="17324D"/>
                </a:solidFill>
              </a:rPr>
              <a:t>10+ 个领域专家，按问题责任边界分工</a:t>
            </a:r>
            <a:endParaRPr lang="en-US" sz="2400" dirty="0"/>
          </a:p>
        </p:txBody>
      </p:sp>
      <p:sp>
        <p:nvSpPr>
          <p:cNvPr id="8" name="Text 6"/>
          <p:cNvSpPr/>
          <p:nvPr/>
        </p:nvSpPr>
        <p:spPr>
          <a:xfrm>
            <a:off x="530352" y="1243584"/>
            <a:ext cx="9601200" cy="274320"/>
          </a:xfrm>
          <a:prstGeom prst="rect">
            <a:avLst/>
          </a:prstGeom>
          <a:noFill/>
          <a:ln/>
        </p:spPr>
        <p:txBody>
          <a:bodyPr wrap="square" lIns="0" tIns="0" rIns="0" bIns="0" rtlCol="0" anchor="ctr"/>
          <a:lstStyle/>
          <a:p>
            <a:pPr indent="0" marL="0">
              <a:buNone/>
            </a:pPr>
            <a:r>
              <a:rPr lang="en-US" sz="1000" dirty="0">
                <a:solidFill>
                  <a:srgbClr val="5B7186"/>
                </a:solidFill>
              </a:rPr>
              <a:t>不是角色越多越好，而是让不同类型的问题由对应领域负责。</a:t>
            </a:r>
            <a:endParaRPr lang="en-US" sz="1000" dirty="0"/>
          </a:p>
        </p:txBody>
      </p:sp>
      <p:sp>
        <p:nvSpPr>
          <p:cNvPr id="9" name="Shape 7"/>
          <p:cNvSpPr/>
          <p:nvPr/>
        </p:nvSpPr>
        <p:spPr>
          <a:xfrm>
            <a:off x="621792" y="1719072"/>
            <a:ext cx="10972800" cy="1078992"/>
          </a:xfrm>
          <a:prstGeom prst="roundRect">
            <a:avLst>
              <a:gd name="adj" fmla="val 6780"/>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0" name="Text 8"/>
          <p:cNvSpPr/>
          <p:nvPr/>
        </p:nvSpPr>
        <p:spPr>
          <a:xfrm>
            <a:off x="896112" y="1901952"/>
            <a:ext cx="5303520" cy="182880"/>
          </a:xfrm>
          <a:prstGeom prst="rect">
            <a:avLst/>
          </a:prstGeom>
          <a:noFill/>
          <a:ln/>
        </p:spPr>
        <p:txBody>
          <a:bodyPr wrap="square" lIns="0" tIns="0" rIns="0" bIns="0" rtlCol="0" anchor="ctr"/>
          <a:lstStyle/>
          <a:p>
            <a:pPr indent="0" marL="0">
              <a:buNone/>
            </a:pPr>
            <a:r>
              <a:rPr lang="en-US" sz="1150" dirty="0">
                <a:solidFill>
                  <a:srgbClr val="17324D"/>
                </a:solidFill>
              </a:rPr>
              <a:t>主 Agent 先选专家，再把不同领域的问题分给对应专家，最后统一去重和收敛。</a:t>
            </a:r>
            <a:endParaRPr lang="en-US" sz="1150" dirty="0"/>
          </a:p>
        </p:txBody>
      </p:sp>
      <p:sp>
        <p:nvSpPr>
          <p:cNvPr id="11" name="Shape 9"/>
          <p:cNvSpPr/>
          <p:nvPr/>
        </p:nvSpPr>
        <p:spPr>
          <a:xfrm>
            <a:off x="932688" y="2212848"/>
            <a:ext cx="1828800" cy="384048"/>
          </a:xfrm>
          <a:prstGeom prst="roundRect">
            <a:avLst>
              <a:gd name="adj" fmla="val 19048"/>
            </a:avLst>
          </a:prstGeom>
          <a:solidFill>
            <a:srgbClr val="E8F8F5"/>
          </a:solidFill>
          <a:ln w="12700">
            <a:solidFill>
              <a:srgbClr val="0F766E"/>
            </a:solidFill>
            <a:prstDash val="solid"/>
          </a:ln>
          <a:effectLst>
            <a:outerShdw sx="100000" sy="100000" kx="0" ky="0" algn="bl" rotWithShape="0" blurRad="12700" dist="50800" dir="2700000">
              <a:srgbClr val="DDE5EC">
                <a:alpha val="10000"/>
              </a:srgbClr>
            </a:outerShdw>
          </a:effectLst>
        </p:spPr>
      </p:sp>
      <p:sp>
        <p:nvSpPr>
          <p:cNvPr id="12" name="Shape 10"/>
          <p:cNvSpPr/>
          <p:nvPr/>
        </p:nvSpPr>
        <p:spPr>
          <a:xfrm>
            <a:off x="4901184" y="2148840"/>
            <a:ext cx="1828800" cy="530352"/>
          </a:xfrm>
          <a:prstGeom prst="roundRect">
            <a:avLst>
              <a:gd name="adj" fmla="val 13793"/>
            </a:avLst>
          </a:prstGeom>
          <a:solidFill>
            <a:srgbClr val="EEF4FF"/>
          </a:solidFill>
          <a:ln w="12700">
            <a:solidFill>
              <a:srgbClr val="4F7BFF"/>
            </a:solidFill>
            <a:prstDash val="solid"/>
          </a:ln>
          <a:effectLst>
            <a:outerShdw sx="100000" sy="100000" kx="0" ky="0" algn="bl" rotWithShape="0" blurRad="12700" dist="50800" dir="2700000">
              <a:srgbClr val="DDE5EC">
                <a:alpha val="10000"/>
              </a:srgbClr>
            </a:outerShdw>
          </a:effectLst>
        </p:spPr>
      </p:sp>
      <p:sp>
        <p:nvSpPr>
          <p:cNvPr id="13" name="Shape 11"/>
          <p:cNvSpPr/>
          <p:nvPr/>
        </p:nvSpPr>
        <p:spPr>
          <a:xfrm>
            <a:off x="8961120" y="2212848"/>
            <a:ext cx="1920240" cy="384048"/>
          </a:xfrm>
          <a:prstGeom prst="roundRect">
            <a:avLst>
              <a:gd name="adj" fmla="val 19048"/>
            </a:avLst>
          </a:prstGeom>
          <a:solidFill>
            <a:srgbClr val="FFF6E6"/>
          </a:solidFill>
          <a:ln w="12700">
            <a:solidFill>
              <a:srgbClr val="D97706"/>
            </a:solidFill>
            <a:prstDash val="solid"/>
          </a:ln>
          <a:effectLst>
            <a:outerShdw sx="100000" sy="100000" kx="0" ky="0" algn="bl" rotWithShape="0" blurRad="12700" dist="50800" dir="2700000">
              <a:srgbClr val="DDE5EC">
                <a:alpha val="10000"/>
              </a:srgbClr>
            </a:outerShdw>
          </a:effectLst>
        </p:spPr>
      </p:sp>
      <p:sp>
        <p:nvSpPr>
          <p:cNvPr id="14" name="Text 12"/>
          <p:cNvSpPr/>
          <p:nvPr/>
        </p:nvSpPr>
        <p:spPr>
          <a:xfrm>
            <a:off x="932688" y="2340864"/>
            <a:ext cx="1828800" cy="109728"/>
          </a:xfrm>
          <a:prstGeom prst="rect">
            <a:avLst/>
          </a:prstGeom>
          <a:noFill/>
          <a:ln/>
        </p:spPr>
        <p:txBody>
          <a:bodyPr wrap="square" lIns="0" tIns="0" rIns="0" bIns="0" rtlCol="0" anchor="ctr"/>
          <a:lstStyle/>
          <a:p>
            <a:pPr algn="ctr" indent="0" marL="0">
              <a:buNone/>
            </a:pPr>
            <a:r>
              <a:rPr lang="en-US" sz="950" b="1" dirty="0">
                <a:solidFill>
                  <a:srgbClr val="17324D"/>
                </a:solidFill>
              </a:rPr>
              <a:t>业务与架构专家组</a:t>
            </a:r>
            <a:endParaRPr lang="en-US" sz="950" dirty="0"/>
          </a:p>
        </p:txBody>
      </p:sp>
      <p:sp>
        <p:nvSpPr>
          <p:cNvPr id="15" name="Text 13"/>
          <p:cNvSpPr/>
          <p:nvPr/>
        </p:nvSpPr>
        <p:spPr>
          <a:xfrm>
            <a:off x="4901184" y="2322576"/>
            <a:ext cx="1828800" cy="109728"/>
          </a:xfrm>
          <a:prstGeom prst="rect">
            <a:avLst/>
          </a:prstGeom>
          <a:noFill/>
          <a:ln/>
        </p:spPr>
        <p:txBody>
          <a:bodyPr wrap="square" lIns="0" tIns="0" rIns="0" bIns="0" rtlCol="0" anchor="ctr"/>
          <a:lstStyle/>
          <a:p>
            <a:pPr algn="ctr" indent="0" marL="0">
              <a:buNone/>
            </a:pPr>
            <a:r>
              <a:rPr lang="en-US" sz="1080" b="1" dirty="0">
                <a:solidFill>
                  <a:srgbClr val="17324D"/>
                </a:solidFill>
              </a:rPr>
              <a:t>主 Agent</a:t>
            </a:r>
            <a:endParaRPr lang="en-US" sz="1080" dirty="0"/>
          </a:p>
        </p:txBody>
      </p:sp>
      <p:sp>
        <p:nvSpPr>
          <p:cNvPr id="16" name="Text 14"/>
          <p:cNvSpPr/>
          <p:nvPr/>
        </p:nvSpPr>
        <p:spPr>
          <a:xfrm>
            <a:off x="8961120" y="2340864"/>
            <a:ext cx="1920240" cy="109728"/>
          </a:xfrm>
          <a:prstGeom prst="rect">
            <a:avLst/>
          </a:prstGeom>
          <a:noFill/>
          <a:ln/>
        </p:spPr>
        <p:txBody>
          <a:bodyPr wrap="square" lIns="0" tIns="0" rIns="0" bIns="0" rtlCol="0" anchor="ctr"/>
          <a:lstStyle/>
          <a:p>
            <a:pPr algn="ctr" indent="0" marL="0">
              <a:buNone/>
            </a:pPr>
            <a:r>
              <a:rPr lang="en-US" sz="950" b="1" dirty="0">
                <a:solidFill>
                  <a:srgbClr val="17324D"/>
                </a:solidFill>
              </a:rPr>
              <a:t>基础设施 / 质量保障</a:t>
            </a:r>
            <a:endParaRPr lang="en-US" sz="950" dirty="0"/>
          </a:p>
        </p:txBody>
      </p:sp>
      <p:sp>
        <p:nvSpPr>
          <p:cNvPr id="17" name="Shape 15"/>
          <p:cNvSpPr/>
          <p:nvPr/>
        </p:nvSpPr>
        <p:spPr>
          <a:xfrm>
            <a:off x="2926080" y="2414016"/>
            <a:ext cx="1828800" cy="0"/>
          </a:xfrm>
          <a:prstGeom prst="line">
            <a:avLst/>
          </a:prstGeom>
          <a:noFill/>
          <a:ln w="12700">
            <a:solidFill>
              <a:srgbClr val="4F7BFF"/>
            </a:solidFill>
            <a:prstDash val="solid"/>
            <a:headEnd type="none"/>
            <a:tailEnd type="triangle"/>
          </a:ln>
        </p:spPr>
      </p:sp>
      <p:sp>
        <p:nvSpPr>
          <p:cNvPr id="18" name="Shape 16"/>
          <p:cNvSpPr/>
          <p:nvPr/>
        </p:nvSpPr>
        <p:spPr>
          <a:xfrm>
            <a:off x="6821424" y="2414016"/>
            <a:ext cx="2011680" cy="0"/>
          </a:xfrm>
          <a:prstGeom prst="line">
            <a:avLst/>
          </a:prstGeom>
          <a:noFill/>
          <a:ln w="12700">
            <a:solidFill>
              <a:srgbClr val="4F7BFF"/>
            </a:solidFill>
            <a:prstDash val="solid"/>
            <a:headEnd type="none"/>
            <a:tailEnd type="triangle"/>
          </a:ln>
        </p:spPr>
      </p:sp>
      <p:sp>
        <p:nvSpPr>
          <p:cNvPr id="19" name="Shape 17"/>
          <p:cNvSpPr/>
          <p:nvPr/>
        </p:nvSpPr>
        <p:spPr>
          <a:xfrm>
            <a:off x="640080" y="2999232"/>
            <a:ext cx="3182112" cy="2980944"/>
          </a:xfrm>
          <a:prstGeom prst="roundRect">
            <a:avLst>
              <a:gd name="adj" fmla="val 2454"/>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20" name="Shape 18"/>
          <p:cNvSpPr/>
          <p:nvPr/>
        </p:nvSpPr>
        <p:spPr>
          <a:xfrm>
            <a:off x="804672" y="3182112"/>
            <a:ext cx="1188720" cy="219456"/>
          </a:xfrm>
          <a:prstGeom prst="roundRect">
            <a:avLst>
              <a:gd name="adj" fmla="val 25000"/>
            </a:avLst>
          </a:prstGeom>
          <a:solidFill>
            <a:srgbClr val="E8F8F5"/>
          </a:solidFill>
          <a:ln w="12700">
            <a:solidFill>
              <a:srgbClr val="E8F8F5">
                <a:alpha val="0"/>
              </a:srgbClr>
            </a:solidFill>
            <a:prstDash val="solid"/>
          </a:ln>
        </p:spPr>
      </p:sp>
      <p:sp>
        <p:nvSpPr>
          <p:cNvPr id="21" name="Text 19"/>
          <p:cNvSpPr/>
          <p:nvPr/>
        </p:nvSpPr>
        <p:spPr>
          <a:xfrm>
            <a:off x="877824" y="3218688"/>
            <a:ext cx="1042416" cy="109728"/>
          </a:xfrm>
          <a:prstGeom prst="rect">
            <a:avLst/>
          </a:prstGeom>
          <a:noFill/>
          <a:ln/>
        </p:spPr>
        <p:txBody>
          <a:bodyPr wrap="square" lIns="0" tIns="0" rIns="0" bIns="0" rtlCol="0" anchor="ctr"/>
          <a:lstStyle/>
          <a:p>
            <a:pPr algn="ctr" indent="0" marL="0">
              <a:buNone/>
            </a:pPr>
            <a:r>
              <a:rPr lang="en-US" sz="800" b="1" dirty="0">
                <a:solidFill>
                  <a:srgbClr val="17324D"/>
                </a:solidFill>
              </a:rPr>
              <a:t>业务与架构</a:t>
            </a:r>
            <a:endParaRPr lang="en-US" sz="800" dirty="0"/>
          </a:p>
        </p:txBody>
      </p:sp>
      <p:sp>
        <p:nvSpPr>
          <p:cNvPr id="22" name="Text 20"/>
          <p:cNvSpPr/>
          <p:nvPr/>
        </p:nvSpPr>
        <p:spPr>
          <a:xfrm>
            <a:off x="804672" y="3493008"/>
            <a:ext cx="2816352" cy="274320"/>
          </a:xfrm>
          <a:prstGeom prst="rect">
            <a:avLst/>
          </a:prstGeom>
          <a:noFill/>
          <a:ln/>
        </p:spPr>
        <p:txBody>
          <a:bodyPr wrap="square" lIns="0" tIns="0" rIns="0" bIns="0" rtlCol="0" anchor="ctr"/>
          <a:lstStyle/>
          <a:p>
            <a:pPr indent="0" marL="0">
              <a:buNone/>
            </a:pPr>
            <a:r>
              <a:rPr lang="en-US" sz="920" dirty="0">
                <a:solidFill>
                  <a:srgbClr val="5B7186"/>
                </a:solidFill>
              </a:rPr>
              <a:t>主要回答：逻辑对不对，设计有没有退化。</a:t>
            </a:r>
            <a:endParaRPr lang="en-US" sz="920" dirty="0"/>
          </a:p>
        </p:txBody>
      </p:sp>
      <p:sp>
        <p:nvSpPr>
          <p:cNvPr id="23" name="Shape 21"/>
          <p:cNvSpPr/>
          <p:nvPr/>
        </p:nvSpPr>
        <p:spPr>
          <a:xfrm>
            <a:off x="786384" y="3968496"/>
            <a:ext cx="2852928" cy="530352"/>
          </a:xfrm>
          <a:prstGeom prst="roundRect">
            <a:avLst>
              <a:gd name="adj" fmla="val 13793"/>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24" name="Text 22"/>
          <p:cNvSpPr/>
          <p:nvPr/>
        </p:nvSpPr>
        <p:spPr>
          <a:xfrm>
            <a:off x="914400" y="4069080"/>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业务正确性专家</a:t>
            </a:r>
            <a:endParaRPr lang="en-US" sz="940" dirty="0"/>
          </a:p>
        </p:txBody>
      </p:sp>
      <p:sp>
        <p:nvSpPr>
          <p:cNvPr id="25" name="Text 23"/>
          <p:cNvSpPr/>
          <p:nvPr/>
        </p:nvSpPr>
        <p:spPr>
          <a:xfrm>
            <a:off x="2029968" y="4069080"/>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看状态流转、边界条件、副作用</a:t>
            </a:r>
            <a:endParaRPr lang="en-US" sz="850" dirty="0"/>
          </a:p>
        </p:txBody>
      </p:sp>
      <p:sp>
        <p:nvSpPr>
          <p:cNvPr id="26" name="Shape 24"/>
          <p:cNvSpPr/>
          <p:nvPr/>
        </p:nvSpPr>
        <p:spPr>
          <a:xfrm>
            <a:off x="786384" y="4626864"/>
            <a:ext cx="2852928" cy="530352"/>
          </a:xfrm>
          <a:prstGeom prst="roundRect">
            <a:avLst>
              <a:gd name="adj" fmla="val 13793"/>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27" name="Text 25"/>
          <p:cNvSpPr/>
          <p:nvPr/>
        </p:nvSpPr>
        <p:spPr>
          <a:xfrm>
            <a:off x="914400" y="4727448"/>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架构与设计专家</a:t>
            </a:r>
            <a:endParaRPr lang="en-US" sz="940" dirty="0"/>
          </a:p>
        </p:txBody>
      </p:sp>
      <p:sp>
        <p:nvSpPr>
          <p:cNvPr id="28" name="Text 26"/>
          <p:cNvSpPr/>
          <p:nvPr/>
        </p:nvSpPr>
        <p:spPr>
          <a:xfrm>
            <a:off x="2029968" y="4727448"/>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看聚合边界、依赖方向、职责划分</a:t>
            </a:r>
            <a:endParaRPr lang="en-US" sz="850" dirty="0"/>
          </a:p>
        </p:txBody>
      </p:sp>
      <p:sp>
        <p:nvSpPr>
          <p:cNvPr id="29" name="Shape 27"/>
          <p:cNvSpPr/>
          <p:nvPr/>
        </p:nvSpPr>
        <p:spPr>
          <a:xfrm>
            <a:off x="786384" y="5285232"/>
            <a:ext cx="2852928" cy="530352"/>
          </a:xfrm>
          <a:prstGeom prst="roundRect">
            <a:avLst>
              <a:gd name="adj" fmla="val 13793"/>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30" name="Text 28"/>
          <p:cNvSpPr/>
          <p:nvPr/>
        </p:nvSpPr>
        <p:spPr>
          <a:xfrm>
            <a:off x="914400" y="5385816"/>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可维护性专家</a:t>
            </a:r>
            <a:endParaRPr lang="en-US" sz="940" dirty="0"/>
          </a:p>
        </p:txBody>
      </p:sp>
      <p:sp>
        <p:nvSpPr>
          <p:cNvPr id="31" name="Text 29"/>
          <p:cNvSpPr/>
          <p:nvPr/>
        </p:nvSpPr>
        <p:spPr>
          <a:xfrm>
            <a:off x="2029968" y="5385816"/>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看复杂度、重复逻辑、表达清晰度</a:t>
            </a:r>
            <a:endParaRPr lang="en-US" sz="850" dirty="0"/>
          </a:p>
        </p:txBody>
      </p:sp>
      <p:sp>
        <p:nvSpPr>
          <p:cNvPr id="32" name="Shape 30"/>
          <p:cNvSpPr/>
          <p:nvPr/>
        </p:nvSpPr>
        <p:spPr>
          <a:xfrm>
            <a:off x="4160520" y="2999232"/>
            <a:ext cx="3182112" cy="2980944"/>
          </a:xfrm>
          <a:prstGeom prst="roundRect">
            <a:avLst>
              <a:gd name="adj" fmla="val 2454"/>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33" name="Shape 31"/>
          <p:cNvSpPr/>
          <p:nvPr/>
        </p:nvSpPr>
        <p:spPr>
          <a:xfrm>
            <a:off x="4325112" y="3182112"/>
            <a:ext cx="1188720" cy="219456"/>
          </a:xfrm>
          <a:prstGeom prst="roundRect">
            <a:avLst>
              <a:gd name="adj" fmla="val 25000"/>
            </a:avLst>
          </a:prstGeom>
          <a:solidFill>
            <a:srgbClr val="EEF4FF"/>
          </a:solidFill>
          <a:ln w="12700">
            <a:solidFill>
              <a:srgbClr val="EEF4FF">
                <a:alpha val="0"/>
              </a:srgbClr>
            </a:solidFill>
            <a:prstDash val="solid"/>
          </a:ln>
        </p:spPr>
      </p:sp>
      <p:sp>
        <p:nvSpPr>
          <p:cNvPr id="34" name="Text 32"/>
          <p:cNvSpPr/>
          <p:nvPr/>
        </p:nvSpPr>
        <p:spPr>
          <a:xfrm>
            <a:off x="4398264" y="3218688"/>
            <a:ext cx="1042416" cy="109728"/>
          </a:xfrm>
          <a:prstGeom prst="rect">
            <a:avLst/>
          </a:prstGeom>
          <a:noFill/>
          <a:ln/>
        </p:spPr>
        <p:txBody>
          <a:bodyPr wrap="square" lIns="0" tIns="0" rIns="0" bIns="0" rtlCol="0" anchor="ctr"/>
          <a:lstStyle/>
          <a:p>
            <a:pPr algn="ctr" indent="0" marL="0">
              <a:buNone/>
            </a:pPr>
            <a:r>
              <a:rPr lang="en-US" sz="800" b="1" dirty="0">
                <a:solidFill>
                  <a:srgbClr val="17324D"/>
                </a:solidFill>
              </a:rPr>
              <a:t>基础设施</a:t>
            </a:r>
            <a:endParaRPr lang="en-US" sz="800" dirty="0"/>
          </a:p>
        </p:txBody>
      </p:sp>
      <p:sp>
        <p:nvSpPr>
          <p:cNvPr id="35" name="Text 33"/>
          <p:cNvSpPr/>
          <p:nvPr/>
        </p:nvSpPr>
        <p:spPr>
          <a:xfrm>
            <a:off x="4325112" y="3493008"/>
            <a:ext cx="2816352" cy="274320"/>
          </a:xfrm>
          <a:prstGeom prst="rect">
            <a:avLst/>
          </a:prstGeom>
          <a:noFill/>
          <a:ln/>
        </p:spPr>
        <p:txBody>
          <a:bodyPr wrap="square" lIns="0" tIns="0" rIns="0" bIns="0" rtlCol="0" anchor="ctr"/>
          <a:lstStyle/>
          <a:p>
            <a:pPr indent="0" marL="0">
              <a:buNone/>
            </a:pPr>
            <a:r>
              <a:rPr lang="en-US" sz="920" dirty="0">
                <a:solidFill>
                  <a:srgbClr val="5B7186"/>
                </a:solidFill>
              </a:rPr>
              <a:t>主要回答：技术实现稳不稳、扛不扛得住。</a:t>
            </a:r>
            <a:endParaRPr lang="en-US" sz="920" dirty="0"/>
          </a:p>
        </p:txBody>
      </p:sp>
      <p:sp>
        <p:nvSpPr>
          <p:cNvPr id="36" name="Shape 34"/>
          <p:cNvSpPr/>
          <p:nvPr/>
        </p:nvSpPr>
        <p:spPr>
          <a:xfrm>
            <a:off x="4306824" y="3968496"/>
            <a:ext cx="2852928" cy="530352"/>
          </a:xfrm>
          <a:prstGeom prst="roundRect">
            <a:avLst>
              <a:gd name="adj" fmla="val 13793"/>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37" name="Text 35"/>
          <p:cNvSpPr/>
          <p:nvPr/>
        </p:nvSpPr>
        <p:spPr>
          <a:xfrm>
            <a:off x="4434840" y="4069080"/>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数据库专家</a:t>
            </a:r>
            <a:endParaRPr lang="en-US" sz="940" dirty="0"/>
          </a:p>
        </p:txBody>
      </p:sp>
      <p:sp>
        <p:nvSpPr>
          <p:cNvPr id="38" name="Text 36"/>
          <p:cNvSpPr/>
          <p:nvPr/>
        </p:nvSpPr>
        <p:spPr>
          <a:xfrm>
            <a:off x="5550408" y="4069080"/>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看事务、索引、查询性能、批量操作</a:t>
            </a:r>
            <a:endParaRPr lang="en-US" sz="850" dirty="0"/>
          </a:p>
        </p:txBody>
      </p:sp>
      <p:sp>
        <p:nvSpPr>
          <p:cNvPr id="39" name="Shape 37"/>
          <p:cNvSpPr/>
          <p:nvPr/>
        </p:nvSpPr>
        <p:spPr>
          <a:xfrm>
            <a:off x="4306824" y="4626864"/>
            <a:ext cx="2852928" cy="530352"/>
          </a:xfrm>
          <a:prstGeom prst="roundRect">
            <a:avLst>
              <a:gd name="adj" fmla="val 13793"/>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40" name="Text 38"/>
          <p:cNvSpPr/>
          <p:nvPr/>
        </p:nvSpPr>
        <p:spPr>
          <a:xfrm>
            <a:off x="4434840" y="4727448"/>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缓存 / Redis 专家</a:t>
            </a:r>
            <a:endParaRPr lang="en-US" sz="940" dirty="0"/>
          </a:p>
        </p:txBody>
      </p:sp>
      <p:sp>
        <p:nvSpPr>
          <p:cNvPr id="41" name="Text 39"/>
          <p:cNvSpPr/>
          <p:nvPr/>
        </p:nvSpPr>
        <p:spPr>
          <a:xfrm>
            <a:off x="5550408" y="4727448"/>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看缓存一致性、热点放大、失效策略</a:t>
            </a:r>
            <a:endParaRPr lang="en-US" sz="850" dirty="0"/>
          </a:p>
        </p:txBody>
      </p:sp>
      <p:sp>
        <p:nvSpPr>
          <p:cNvPr id="42" name="Shape 40"/>
          <p:cNvSpPr/>
          <p:nvPr/>
        </p:nvSpPr>
        <p:spPr>
          <a:xfrm>
            <a:off x="4306824" y="5285232"/>
            <a:ext cx="2852928" cy="530352"/>
          </a:xfrm>
          <a:prstGeom prst="roundRect">
            <a:avLst>
              <a:gd name="adj" fmla="val 13793"/>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43" name="Text 41"/>
          <p:cNvSpPr/>
          <p:nvPr/>
        </p:nvSpPr>
        <p:spPr>
          <a:xfrm>
            <a:off x="4434840" y="5385816"/>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MQ / 性能专家</a:t>
            </a:r>
            <a:endParaRPr lang="en-US" sz="940" dirty="0"/>
          </a:p>
        </p:txBody>
      </p:sp>
      <p:sp>
        <p:nvSpPr>
          <p:cNvPr id="44" name="Text 42"/>
          <p:cNvSpPr/>
          <p:nvPr/>
        </p:nvSpPr>
        <p:spPr>
          <a:xfrm>
            <a:off x="5550408" y="5385816"/>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看消息可靠性、容量风险、资源使用</a:t>
            </a:r>
            <a:endParaRPr lang="en-US" sz="850" dirty="0"/>
          </a:p>
        </p:txBody>
      </p:sp>
      <p:sp>
        <p:nvSpPr>
          <p:cNvPr id="45" name="Shape 43"/>
          <p:cNvSpPr/>
          <p:nvPr/>
        </p:nvSpPr>
        <p:spPr>
          <a:xfrm>
            <a:off x="7680960" y="2999232"/>
            <a:ext cx="3182112" cy="2980944"/>
          </a:xfrm>
          <a:prstGeom prst="roundRect">
            <a:avLst>
              <a:gd name="adj" fmla="val 2454"/>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46" name="Shape 44"/>
          <p:cNvSpPr/>
          <p:nvPr/>
        </p:nvSpPr>
        <p:spPr>
          <a:xfrm>
            <a:off x="7845552" y="3182112"/>
            <a:ext cx="1188720" cy="219456"/>
          </a:xfrm>
          <a:prstGeom prst="roundRect">
            <a:avLst>
              <a:gd name="adj" fmla="val 25000"/>
            </a:avLst>
          </a:prstGeom>
          <a:solidFill>
            <a:srgbClr val="FFF6E6"/>
          </a:solidFill>
          <a:ln w="12700">
            <a:solidFill>
              <a:srgbClr val="FFF6E6">
                <a:alpha val="0"/>
              </a:srgbClr>
            </a:solidFill>
            <a:prstDash val="solid"/>
          </a:ln>
        </p:spPr>
      </p:sp>
      <p:sp>
        <p:nvSpPr>
          <p:cNvPr id="47" name="Text 45"/>
          <p:cNvSpPr/>
          <p:nvPr/>
        </p:nvSpPr>
        <p:spPr>
          <a:xfrm>
            <a:off x="7918704" y="3218688"/>
            <a:ext cx="1042416" cy="109728"/>
          </a:xfrm>
          <a:prstGeom prst="rect">
            <a:avLst/>
          </a:prstGeom>
          <a:noFill/>
          <a:ln/>
        </p:spPr>
        <p:txBody>
          <a:bodyPr wrap="square" lIns="0" tIns="0" rIns="0" bIns="0" rtlCol="0" anchor="ctr"/>
          <a:lstStyle/>
          <a:p>
            <a:pPr algn="ctr" indent="0" marL="0">
              <a:buNone/>
            </a:pPr>
            <a:r>
              <a:rPr lang="en-US" sz="800" b="1" dirty="0">
                <a:solidFill>
                  <a:srgbClr val="17324D"/>
                </a:solidFill>
              </a:rPr>
              <a:t>质量保障</a:t>
            </a:r>
            <a:endParaRPr lang="en-US" sz="800" dirty="0"/>
          </a:p>
        </p:txBody>
      </p:sp>
      <p:sp>
        <p:nvSpPr>
          <p:cNvPr id="48" name="Text 46"/>
          <p:cNvSpPr/>
          <p:nvPr/>
        </p:nvSpPr>
        <p:spPr>
          <a:xfrm>
            <a:off x="7845552" y="3493008"/>
            <a:ext cx="2816352" cy="274320"/>
          </a:xfrm>
          <a:prstGeom prst="rect">
            <a:avLst/>
          </a:prstGeom>
          <a:noFill/>
          <a:ln/>
        </p:spPr>
        <p:txBody>
          <a:bodyPr wrap="square" lIns="0" tIns="0" rIns="0" bIns="0" rtlCol="0" anchor="ctr"/>
          <a:lstStyle/>
          <a:p>
            <a:pPr indent="0" marL="0">
              <a:buNone/>
            </a:pPr>
            <a:r>
              <a:rPr lang="en-US" sz="920" dirty="0">
                <a:solidFill>
                  <a:srgbClr val="5B7186"/>
                </a:solidFill>
              </a:rPr>
              <a:t>主要回答：风险有没有被验证住、兜住。</a:t>
            </a:r>
            <a:endParaRPr lang="en-US" sz="920" dirty="0"/>
          </a:p>
        </p:txBody>
      </p:sp>
      <p:sp>
        <p:nvSpPr>
          <p:cNvPr id="49" name="Shape 47"/>
          <p:cNvSpPr/>
          <p:nvPr/>
        </p:nvSpPr>
        <p:spPr>
          <a:xfrm>
            <a:off x="7827264" y="3968496"/>
            <a:ext cx="2852928" cy="530352"/>
          </a:xfrm>
          <a:prstGeom prst="roundRect">
            <a:avLst>
              <a:gd name="adj" fmla="val 13793"/>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50" name="Text 48"/>
          <p:cNvSpPr/>
          <p:nvPr/>
        </p:nvSpPr>
        <p:spPr>
          <a:xfrm>
            <a:off x="7955280" y="4069080"/>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测试覆盖专家</a:t>
            </a:r>
            <a:endParaRPr lang="en-US" sz="940" dirty="0"/>
          </a:p>
        </p:txBody>
      </p:sp>
      <p:sp>
        <p:nvSpPr>
          <p:cNvPr id="51" name="Text 49"/>
          <p:cNvSpPr/>
          <p:nvPr/>
        </p:nvSpPr>
        <p:spPr>
          <a:xfrm>
            <a:off x="9070848" y="4069080"/>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看关键路径有没有测试保护</a:t>
            </a:r>
            <a:endParaRPr lang="en-US" sz="850" dirty="0"/>
          </a:p>
        </p:txBody>
      </p:sp>
      <p:sp>
        <p:nvSpPr>
          <p:cNvPr id="52" name="Shape 50"/>
          <p:cNvSpPr/>
          <p:nvPr/>
        </p:nvSpPr>
        <p:spPr>
          <a:xfrm>
            <a:off x="7827264" y="4626864"/>
            <a:ext cx="2852928" cy="530352"/>
          </a:xfrm>
          <a:prstGeom prst="roundRect">
            <a:avLst>
              <a:gd name="adj" fmla="val 13793"/>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53" name="Text 51"/>
          <p:cNvSpPr/>
          <p:nvPr/>
        </p:nvSpPr>
        <p:spPr>
          <a:xfrm>
            <a:off x="7955280" y="4727448"/>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安全合规专家</a:t>
            </a:r>
            <a:endParaRPr lang="en-US" sz="940" dirty="0"/>
          </a:p>
        </p:txBody>
      </p:sp>
      <p:sp>
        <p:nvSpPr>
          <p:cNvPr id="54" name="Text 52"/>
          <p:cNvSpPr/>
          <p:nvPr/>
        </p:nvSpPr>
        <p:spPr>
          <a:xfrm>
            <a:off x="9070848" y="4727448"/>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看权限边界、注入风险、敏感信息</a:t>
            </a:r>
            <a:endParaRPr lang="en-US" sz="850" dirty="0"/>
          </a:p>
        </p:txBody>
      </p:sp>
      <p:sp>
        <p:nvSpPr>
          <p:cNvPr id="55" name="Shape 53"/>
          <p:cNvSpPr/>
          <p:nvPr/>
        </p:nvSpPr>
        <p:spPr>
          <a:xfrm>
            <a:off x="7827264" y="5285232"/>
            <a:ext cx="2852928" cy="530352"/>
          </a:xfrm>
          <a:prstGeom prst="roundRect">
            <a:avLst>
              <a:gd name="adj" fmla="val 13793"/>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56" name="Text 54"/>
          <p:cNvSpPr/>
          <p:nvPr/>
        </p:nvSpPr>
        <p:spPr>
          <a:xfrm>
            <a:off x="7955280" y="5385816"/>
            <a:ext cx="1051560" cy="128016"/>
          </a:xfrm>
          <a:prstGeom prst="rect">
            <a:avLst/>
          </a:prstGeom>
          <a:noFill/>
          <a:ln/>
        </p:spPr>
        <p:txBody>
          <a:bodyPr wrap="square" lIns="0" tIns="0" rIns="0" bIns="0" rtlCol="0" anchor="ctr"/>
          <a:lstStyle/>
          <a:p>
            <a:pPr indent="0" marL="0">
              <a:buNone/>
            </a:pPr>
            <a:r>
              <a:rPr lang="en-US" sz="940" b="1" dirty="0">
                <a:solidFill>
                  <a:srgbClr val="17324D"/>
                </a:solidFill>
              </a:rPr>
              <a:t>前端体验专家</a:t>
            </a:r>
            <a:endParaRPr lang="en-US" sz="940" dirty="0"/>
          </a:p>
        </p:txBody>
      </p:sp>
      <p:sp>
        <p:nvSpPr>
          <p:cNvPr id="57" name="Text 55"/>
          <p:cNvSpPr/>
          <p:nvPr/>
        </p:nvSpPr>
        <p:spPr>
          <a:xfrm>
            <a:off x="9070848" y="5385816"/>
            <a:ext cx="1408176" cy="256032"/>
          </a:xfrm>
          <a:prstGeom prst="rect">
            <a:avLst/>
          </a:prstGeom>
          <a:noFill/>
          <a:ln/>
        </p:spPr>
        <p:txBody>
          <a:bodyPr wrap="square" lIns="0" tIns="0" rIns="0" bIns="0" rtlCol="0" anchor="ctr"/>
          <a:lstStyle/>
          <a:p>
            <a:pPr indent="0" marL="0">
              <a:buNone/>
            </a:pPr>
            <a:r>
              <a:rPr lang="en-US" sz="850" dirty="0">
                <a:solidFill>
                  <a:srgbClr val="5B7186"/>
                </a:solidFill>
              </a:rPr>
              <a:t>看可访问性、交互一致性和页面风险</a:t>
            </a:r>
            <a:endParaRPr lang="en-US" sz="850" dirty="0"/>
          </a:p>
        </p:txBody>
      </p:sp>
      <p:sp>
        <p:nvSpPr>
          <p:cNvPr id="58" name="Shape 56"/>
          <p:cNvSpPr/>
          <p:nvPr/>
        </p:nvSpPr>
        <p:spPr>
          <a:xfrm>
            <a:off x="3401568" y="6272784"/>
            <a:ext cx="5358384" cy="219456"/>
          </a:xfrm>
          <a:prstGeom prst="roundRect">
            <a:avLst>
              <a:gd name="adj" fmla="val 25000"/>
            </a:avLst>
          </a:prstGeom>
          <a:solidFill>
            <a:srgbClr val="E8F8F5"/>
          </a:solidFill>
          <a:ln w="12700">
            <a:solidFill>
              <a:srgbClr val="E8F8F5">
                <a:alpha val="0"/>
              </a:srgbClr>
            </a:solidFill>
            <a:prstDash val="solid"/>
          </a:ln>
        </p:spPr>
      </p:sp>
      <p:sp>
        <p:nvSpPr>
          <p:cNvPr id="59" name="Text 57"/>
          <p:cNvSpPr/>
          <p:nvPr/>
        </p:nvSpPr>
        <p:spPr>
          <a:xfrm>
            <a:off x="3474720" y="6309360"/>
            <a:ext cx="5212080" cy="109728"/>
          </a:xfrm>
          <a:prstGeom prst="rect">
            <a:avLst/>
          </a:prstGeom>
          <a:noFill/>
          <a:ln/>
        </p:spPr>
        <p:txBody>
          <a:bodyPr wrap="square" lIns="0" tIns="0" rIns="0" bIns="0" rtlCol="0" anchor="ctr"/>
          <a:lstStyle/>
          <a:p>
            <a:pPr algn="ctr" indent="0" marL="0">
              <a:buNone/>
            </a:pPr>
            <a:r>
              <a:rPr lang="en-US" sz="800" b="1" dirty="0">
                <a:solidFill>
                  <a:srgbClr val="0F766E"/>
                </a:solidFill>
              </a:rPr>
              <a:t>一个典型复杂 MR，往往会同时拉起业务正确性、架构、数据库和性能几个专家分别审查。</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CFBF8"/>
          </a:solidFill>
          <a:ln w="12700">
            <a:solidFill>
              <a:srgbClr val="FCFBF8">
                <a:alpha val="0"/>
              </a:srgbClr>
            </a:solidFill>
            <a:prstDash val="solid"/>
          </a:ln>
        </p:spPr>
      </p:sp>
      <p:sp>
        <p:nvSpPr>
          <p:cNvPr id="3" name="Shape 1"/>
          <p:cNvSpPr/>
          <p:nvPr/>
        </p:nvSpPr>
        <p:spPr>
          <a:xfrm>
            <a:off x="0" y="0"/>
            <a:ext cx="12191695" cy="128016"/>
          </a:xfrm>
          <a:prstGeom prst="rect">
            <a:avLst/>
          </a:prstGeom>
          <a:solidFill>
            <a:srgbClr val="10253A"/>
          </a:solidFill>
          <a:ln w="12700">
            <a:solidFill>
              <a:srgbClr val="10253A">
                <a:alpha val="0"/>
              </a:srgbClr>
            </a:solidFill>
            <a:prstDash val="solid"/>
          </a:ln>
        </p:spPr>
      </p:sp>
      <p:sp>
        <p:nvSpPr>
          <p:cNvPr id="4" name="Shape 2"/>
          <p:cNvSpPr/>
          <p:nvPr/>
        </p:nvSpPr>
        <p:spPr>
          <a:xfrm>
            <a:off x="530352" y="402336"/>
            <a:ext cx="1078992" cy="237744"/>
          </a:xfrm>
          <a:prstGeom prst="roundRect">
            <a:avLst>
              <a:gd name="adj" fmla="val 23077"/>
            </a:avLst>
          </a:prstGeom>
          <a:solidFill>
            <a:srgbClr val="F97316"/>
          </a:solidFill>
          <a:ln w="12700">
            <a:solidFill>
              <a:srgbClr val="F97316">
                <a:alpha val="0"/>
              </a:srgbClr>
            </a:solidFill>
            <a:prstDash val="solid"/>
          </a:ln>
        </p:spPr>
      </p:sp>
      <p:sp>
        <p:nvSpPr>
          <p:cNvPr id="5" name="Text 3"/>
          <p:cNvSpPr/>
          <p:nvPr/>
        </p:nvSpPr>
        <p:spPr>
          <a:xfrm>
            <a:off x="585216" y="452628"/>
            <a:ext cx="969264" cy="109728"/>
          </a:xfrm>
          <a:prstGeom prst="rect">
            <a:avLst/>
          </a:prstGeom>
          <a:noFill/>
          <a:ln/>
        </p:spPr>
        <p:txBody>
          <a:bodyPr wrap="square" lIns="0" tIns="0" rIns="0" bIns="0" rtlCol="0" anchor="ctr"/>
          <a:lstStyle/>
          <a:p>
            <a:pPr algn="ctr" indent="0" marL="0">
              <a:buNone/>
            </a:pPr>
            <a:r>
              <a:rPr lang="en-US" sz="800" b="1" dirty="0">
                <a:solidFill>
                  <a:srgbClr val="FFFFFF"/>
                </a:solidFill>
              </a:rPr>
              <a:t>Multi Agent</a:t>
            </a:r>
            <a:endParaRPr lang="en-US" sz="800" dirty="0"/>
          </a:p>
        </p:txBody>
      </p:sp>
      <p:sp>
        <p:nvSpPr>
          <p:cNvPr id="6" name="Text 4"/>
          <p:cNvSpPr/>
          <p:nvPr/>
        </p:nvSpPr>
        <p:spPr>
          <a:xfrm>
            <a:off x="10881360" y="429768"/>
            <a:ext cx="731520" cy="128016"/>
          </a:xfrm>
          <a:prstGeom prst="rect">
            <a:avLst/>
          </a:prstGeom>
          <a:noFill/>
          <a:ln/>
        </p:spPr>
        <p:txBody>
          <a:bodyPr wrap="square" lIns="0" tIns="0" rIns="0" bIns="0" rtlCol="0" anchor="ctr"/>
          <a:lstStyle/>
          <a:p>
            <a:pPr algn="r" indent="0" marL="0">
              <a:buNone/>
            </a:pPr>
            <a:r>
              <a:rPr lang="en-US" sz="900" b="1" dirty="0">
                <a:solidFill>
                  <a:srgbClr val="5B7186"/>
                </a:solidFill>
              </a:rPr>
              <a:t>04 / 06</a:t>
            </a:r>
            <a:endParaRPr lang="en-US" sz="900" dirty="0"/>
          </a:p>
        </p:txBody>
      </p:sp>
      <p:sp>
        <p:nvSpPr>
          <p:cNvPr id="7" name="Text 5"/>
          <p:cNvSpPr/>
          <p:nvPr/>
        </p:nvSpPr>
        <p:spPr>
          <a:xfrm>
            <a:off x="530352" y="804672"/>
            <a:ext cx="8961120" cy="384048"/>
          </a:xfrm>
          <a:prstGeom prst="rect">
            <a:avLst/>
          </a:prstGeom>
          <a:noFill/>
          <a:ln/>
        </p:spPr>
        <p:txBody>
          <a:bodyPr wrap="square" lIns="0" tIns="0" rIns="0" bIns="0" rtlCol="0" anchor="ctr"/>
          <a:lstStyle/>
          <a:p>
            <a:pPr indent="0" marL="0">
              <a:buNone/>
            </a:pPr>
            <a:r>
              <a:rPr lang="en-US" sz="2400" b="1" dirty="0">
                <a:solidFill>
                  <a:srgbClr val="17324D"/>
                </a:solidFill>
              </a:rPr>
              <a:t>为什么复杂代码审查需要多 Agent 协作？</a:t>
            </a:r>
            <a:endParaRPr lang="en-US" sz="2400" dirty="0"/>
          </a:p>
        </p:txBody>
      </p:sp>
      <p:sp>
        <p:nvSpPr>
          <p:cNvPr id="8" name="Text 6"/>
          <p:cNvSpPr/>
          <p:nvPr/>
        </p:nvSpPr>
        <p:spPr>
          <a:xfrm>
            <a:off x="530352" y="1243584"/>
            <a:ext cx="9601200" cy="274320"/>
          </a:xfrm>
          <a:prstGeom prst="rect">
            <a:avLst/>
          </a:prstGeom>
          <a:noFill/>
          <a:ln/>
        </p:spPr>
        <p:txBody>
          <a:bodyPr wrap="square" lIns="0" tIns="0" rIns="0" bIns="0" rtlCol="0" anchor="ctr"/>
          <a:lstStyle/>
          <a:p>
            <a:pPr indent="0" marL="0">
              <a:buNone/>
            </a:pPr>
            <a:r>
              <a:rPr lang="en-US" sz="1000" dirty="0">
                <a:solidFill>
                  <a:srgbClr val="5B7186"/>
                </a:solidFill>
              </a:rPr>
              <a:t>多 Agent 的核心价值，不只是管理上下文窗口，而是把复杂审查从“一个模型泛泛地看”变成“多领域分工协作地看”。</a:t>
            </a:r>
            <a:endParaRPr lang="en-US" sz="1000" dirty="0"/>
          </a:p>
        </p:txBody>
      </p:sp>
      <p:sp>
        <p:nvSpPr>
          <p:cNvPr id="9" name="Shape 7"/>
          <p:cNvSpPr/>
          <p:nvPr/>
        </p:nvSpPr>
        <p:spPr>
          <a:xfrm>
            <a:off x="676656" y="1755648"/>
            <a:ext cx="5358384" cy="4187952"/>
          </a:xfrm>
          <a:prstGeom prst="roundRect">
            <a:avLst>
              <a:gd name="adj" fmla="val 1747"/>
            </a:avLst>
          </a:prstGeom>
          <a:solidFill>
            <a:srgbClr val="FFF0F4"/>
          </a:solidFill>
          <a:ln w="12700">
            <a:solidFill>
              <a:srgbClr val="E11D48"/>
            </a:solidFill>
            <a:prstDash val="solid"/>
          </a:ln>
          <a:effectLst>
            <a:outerShdw sx="100000" sy="100000" kx="0" ky="0" algn="bl" rotWithShape="0" blurRad="12700" dist="50800" dir="2700000">
              <a:srgbClr val="DDE5EC">
                <a:alpha val="10000"/>
              </a:srgbClr>
            </a:outerShdw>
          </a:effectLst>
        </p:spPr>
      </p:sp>
      <p:sp>
        <p:nvSpPr>
          <p:cNvPr id="10" name="Shape 8"/>
          <p:cNvSpPr/>
          <p:nvPr/>
        </p:nvSpPr>
        <p:spPr>
          <a:xfrm>
            <a:off x="6144768" y="1755648"/>
            <a:ext cx="5358384" cy="4187952"/>
          </a:xfrm>
          <a:prstGeom prst="roundRect">
            <a:avLst>
              <a:gd name="adj" fmla="val 1747"/>
            </a:avLst>
          </a:prstGeom>
          <a:solidFill>
            <a:srgbClr val="E8F8F5"/>
          </a:solidFill>
          <a:ln w="12700">
            <a:solidFill>
              <a:srgbClr val="0F766E"/>
            </a:solidFill>
            <a:prstDash val="solid"/>
          </a:ln>
          <a:effectLst>
            <a:outerShdw sx="100000" sy="100000" kx="0" ky="0" algn="bl" rotWithShape="0" blurRad="12700" dist="50800" dir="2700000">
              <a:srgbClr val="DDE5EC">
                <a:alpha val="10000"/>
              </a:srgbClr>
            </a:outerShdw>
          </a:effectLst>
        </p:spPr>
      </p:sp>
      <p:sp>
        <p:nvSpPr>
          <p:cNvPr id="11" name="Text 9"/>
          <p:cNvSpPr/>
          <p:nvPr/>
        </p:nvSpPr>
        <p:spPr>
          <a:xfrm>
            <a:off x="932688" y="1993392"/>
            <a:ext cx="2011680" cy="164592"/>
          </a:xfrm>
          <a:prstGeom prst="rect">
            <a:avLst/>
          </a:prstGeom>
          <a:noFill/>
          <a:ln/>
        </p:spPr>
        <p:txBody>
          <a:bodyPr wrap="square" lIns="0" tIns="0" rIns="0" bIns="0" rtlCol="0" anchor="ctr"/>
          <a:lstStyle/>
          <a:p>
            <a:pPr indent="0" marL="0">
              <a:buNone/>
            </a:pPr>
            <a:r>
              <a:rPr lang="en-US" sz="1400" b="1" dirty="0">
                <a:solidFill>
                  <a:srgbClr val="17324D"/>
                </a:solidFill>
              </a:rPr>
              <a:t>单 Agent 的问题</a:t>
            </a:r>
            <a:endParaRPr lang="en-US" sz="1400" dirty="0"/>
          </a:p>
        </p:txBody>
      </p:sp>
      <p:sp>
        <p:nvSpPr>
          <p:cNvPr id="12" name="Text 10"/>
          <p:cNvSpPr/>
          <p:nvPr/>
        </p:nvSpPr>
        <p:spPr>
          <a:xfrm>
            <a:off x="6400800" y="1993392"/>
            <a:ext cx="2011680" cy="164592"/>
          </a:xfrm>
          <a:prstGeom prst="rect">
            <a:avLst/>
          </a:prstGeom>
          <a:noFill/>
          <a:ln/>
        </p:spPr>
        <p:txBody>
          <a:bodyPr wrap="square" lIns="0" tIns="0" rIns="0" bIns="0" rtlCol="0" anchor="ctr"/>
          <a:lstStyle/>
          <a:p>
            <a:pPr indent="0" marL="0">
              <a:buNone/>
            </a:pPr>
            <a:r>
              <a:rPr lang="en-US" sz="1400" b="1" dirty="0">
                <a:solidFill>
                  <a:srgbClr val="17324D"/>
                </a:solidFill>
              </a:rPr>
              <a:t>多 Agent 的优势</a:t>
            </a:r>
            <a:endParaRPr lang="en-US" sz="1400" dirty="0"/>
          </a:p>
        </p:txBody>
      </p:sp>
      <p:sp>
        <p:nvSpPr>
          <p:cNvPr id="13" name="Shape 11"/>
          <p:cNvSpPr/>
          <p:nvPr/>
        </p:nvSpPr>
        <p:spPr>
          <a:xfrm>
            <a:off x="914400" y="2414016"/>
            <a:ext cx="73152" cy="73152"/>
          </a:xfrm>
          <a:prstGeom prst="ellipse">
            <a:avLst/>
          </a:prstGeom>
          <a:solidFill>
            <a:srgbClr val="E11D48"/>
          </a:solidFill>
          <a:ln w="12700">
            <a:solidFill>
              <a:srgbClr val="E11D48">
                <a:alpha val="0"/>
              </a:srgbClr>
            </a:solidFill>
            <a:prstDash val="solid"/>
          </a:ln>
        </p:spPr>
      </p:sp>
      <p:sp>
        <p:nvSpPr>
          <p:cNvPr id="14" name="Text 12"/>
          <p:cNvSpPr/>
          <p:nvPr/>
        </p:nvSpPr>
        <p:spPr>
          <a:xfrm>
            <a:off x="1042416" y="2359152"/>
            <a:ext cx="4626864" cy="256032"/>
          </a:xfrm>
          <a:prstGeom prst="rect">
            <a:avLst/>
          </a:prstGeom>
          <a:noFill/>
          <a:ln/>
        </p:spPr>
        <p:txBody>
          <a:bodyPr wrap="square" lIns="0" tIns="0" rIns="0" bIns="0" rtlCol="0" anchor="ctr"/>
          <a:lstStyle/>
          <a:p>
            <a:pPr indent="0" marL="0">
              <a:buNone/>
            </a:pPr>
            <a:r>
              <a:rPr lang="en-US" sz="1020" dirty="0">
                <a:solidFill>
                  <a:srgbClr val="17324D"/>
                </a:solidFill>
              </a:rPr>
              <a:t>所有问题混在一个上下文里，业务、架构、数据库、性能很容易互相稀释。</a:t>
            </a:r>
            <a:endParaRPr lang="en-US" sz="1020" dirty="0"/>
          </a:p>
        </p:txBody>
      </p:sp>
      <p:sp>
        <p:nvSpPr>
          <p:cNvPr id="15" name="Shape 13"/>
          <p:cNvSpPr/>
          <p:nvPr/>
        </p:nvSpPr>
        <p:spPr>
          <a:xfrm>
            <a:off x="914400" y="2724912"/>
            <a:ext cx="73152" cy="73152"/>
          </a:xfrm>
          <a:prstGeom prst="ellipse">
            <a:avLst/>
          </a:prstGeom>
          <a:solidFill>
            <a:srgbClr val="E11D48"/>
          </a:solidFill>
          <a:ln w="12700">
            <a:solidFill>
              <a:srgbClr val="E11D48">
                <a:alpha val="0"/>
              </a:srgbClr>
            </a:solidFill>
            <a:prstDash val="solid"/>
          </a:ln>
        </p:spPr>
      </p:sp>
      <p:sp>
        <p:nvSpPr>
          <p:cNvPr id="16" name="Text 14"/>
          <p:cNvSpPr/>
          <p:nvPr/>
        </p:nvSpPr>
        <p:spPr>
          <a:xfrm>
            <a:off x="1042416" y="2670048"/>
            <a:ext cx="4626864" cy="256032"/>
          </a:xfrm>
          <a:prstGeom prst="rect">
            <a:avLst/>
          </a:prstGeom>
          <a:noFill/>
          <a:ln/>
        </p:spPr>
        <p:txBody>
          <a:bodyPr wrap="square" lIns="0" tIns="0" rIns="0" bIns="0" rtlCol="0" anchor="ctr"/>
          <a:lstStyle/>
          <a:p>
            <a:pPr indent="0" marL="0">
              <a:buNone/>
            </a:pPr>
            <a:r>
              <a:rPr lang="en-US" sz="1020" dirty="0">
                <a:solidFill>
                  <a:srgbClr val="17324D"/>
                </a:solidFill>
              </a:rPr>
              <a:t>模型容易用同一套判断方式去看完全不同类型的问题。</a:t>
            </a:r>
            <a:endParaRPr lang="en-US" sz="1020" dirty="0"/>
          </a:p>
        </p:txBody>
      </p:sp>
      <p:sp>
        <p:nvSpPr>
          <p:cNvPr id="17" name="Shape 15"/>
          <p:cNvSpPr/>
          <p:nvPr/>
        </p:nvSpPr>
        <p:spPr>
          <a:xfrm>
            <a:off x="914400" y="3035808"/>
            <a:ext cx="73152" cy="73152"/>
          </a:xfrm>
          <a:prstGeom prst="ellipse">
            <a:avLst/>
          </a:prstGeom>
          <a:solidFill>
            <a:srgbClr val="E11D48"/>
          </a:solidFill>
          <a:ln w="12700">
            <a:solidFill>
              <a:srgbClr val="E11D48">
                <a:alpha val="0"/>
              </a:srgbClr>
            </a:solidFill>
            <a:prstDash val="solid"/>
          </a:ln>
        </p:spPr>
      </p:sp>
      <p:sp>
        <p:nvSpPr>
          <p:cNvPr id="18" name="Text 16"/>
          <p:cNvSpPr/>
          <p:nvPr/>
        </p:nvSpPr>
        <p:spPr>
          <a:xfrm>
            <a:off x="1042416" y="2980944"/>
            <a:ext cx="4626864" cy="256032"/>
          </a:xfrm>
          <a:prstGeom prst="rect">
            <a:avLst/>
          </a:prstGeom>
          <a:noFill/>
          <a:ln/>
        </p:spPr>
        <p:txBody>
          <a:bodyPr wrap="square" lIns="0" tIns="0" rIns="0" bIns="0" rtlCol="0" anchor="ctr"/>
          <a:lstStyle/>
          <a:p>
            <a:pPr indent="0" marL="0">
              <a:buNone/>
            </a:pPr>
            <a:r>
              <a:rPr lang="en-US" sz="1020" dirty="0">
                <a:solidFill>
                  <a:srgbClr val="17324D"/>
                </a:solidFill>
              </a:rPr>
              <a:t>输出像“什么都看了”，但深度和稳定性不够一致。</a:t>
            </a:r>
            <a:endParaRPr lang="en-US" sz="1020" dirty="0"/>
          </a:p>
        </p:txBody>
      </p:sp>
      <p:sp>
        <p:nvSpPr>
          <p:cNvPr id="19" name="Shape 17"/>
          <p:cNvSpPr/>
          <p:nvPr/>
        </p:nvSpPr>
        <p:spPr>
          <a:xfrm>
            <a:off x="914400" y="3346704"/>
            <a:ext cx="73152" cy="73152"/>
          </a:xfrm>
          <a:prstGeom prst="ellipse">
            <a:avLst/>
          </a:prstGeom>
          <a:solidFill>
            <a:srgbClr val="E11D48"/>
          </a:solidFill>
          <a:ln w="12700">
            <a:solidFill>
              <a:srgbClr val="E11D48">
                <a:alpha val="0"/>
              </a:srgbClr>
            </a:solidFill>
            <a:prstDash val="solid"/>
          </a:ln>
        </p:spPr>
      </p:sp>
      <p:sp>
        <p:nvSpPr>
          <p:cNvPr id="20" name="Text 18"/>
          <p:cNvSpPr/>
          <p:nvPr/>
        </p:nvSpPr>
        <p:spPr>
          <a:xfrm>
            <a:off x="1042416" y="3291840"/>
            <a:ext cx="4626864" cy="256032"/>
          </a:xfrm>
          <a:prstGeom prst="rect">
            <a:avLst/>
          </a:prstGeom>
          <a:noFill/>
          <a:ln/>
        </p:spPr>
        <p:txBody>
          <a:bodyPr wrap="square" lIns="0" tIns="0" rIns="0" bIns="0" rtlCol="0" anchor="ctr"/>
          <a:lstStyle/>
          <a:p>
            <a:pPr indent="0" marL="0">
              <a:buNone/>
            </a:pPr>
            <a:r>
              <a:rPr lang="en-US" sz="1020" dirty="0">
                <a:solidFill>
                  <a:srgbClr val="17324D"/>
                </a:solidFill>
              </a:rPr>
              <a:t>上下文窗口不是唯一问题，专业分工不清才是更大的问题。</a:t>
            </a:r>
            <a:endParaRPr lang="en-US" sz="1020" dirty="0"/>
          </a:p>
        </p:txBody>
      </p:sp>
      <p:sp>
        <p:nvSpPr>
          <p:cNvPr id="21" name="Shape 19"/>
          <p:cNvSpPr/>
          <p:nvPr/>
        </p:nvSpPr>
        <p:spPr>
          <a:xfrm>
            <a:off x="6400800" y="2414016"/>
            <a:ext cx="73152" cy="73152"/>
          </a:xfrm>
          <a:prstGeom prst="ellipse">
            <a:avLst/>
          </a:prstGeom>
          <a:solidFill>
            <a:srgbClr val="0F766E"/>
          </a:solidFill>
          <a:ln w="12700">
            <a:solidFill>
              <a:srgbClr val="0F766E">
                <a:alpha val="0"/>
              </a:srgbClr>
            </a:solidFill>
            <a:prstDash val="solid"/>
          </a:ln>
        </p:spPr>
      </p:sp>
      <p:sp>
        <p:nvSpPr>
          <p:cNvPr id="22" name="Text 20"/>
          <p:cNvSpPr/>
          <p:nvPr/>
        </p:nvSpPr>
        <p:spPr>
          <a:xfrm>
            <a:off x="6528816" y="2359152"/>
            <a:ext cx="4626864" cy="256032"/>
          </a:xfrm>
          <a:prstGeom prst="rect">
            <a:avLst/>
          </a:prstGeom>
          <a:noFill/>
          <a:ln/>
        </p:spPr>
        <p:txBody>
          <a:bodyPr wrap="square" lIns="0" tIns="0" rIns="0" bIns="0" rtlCol="0" anchor="ctr"/>
          <a:lstStyle/>
          <a:p>
            <a:pPr indent="0" marL="0">
              <a:buNone/>
            </a:pPr>
            <a:r>
              <a:rPr lang="en-US" sz="1020" dirty="0">
                <a:solidFill>
                  <a:srgbClr val="17324D"/>
                </a:solidFill>
              </a:rPr>
              <a:t>每类问题由对应专家处理，分工边界更清楚。</a:t>
            </a:r>
            <a:endParaRPr lang="en-US" sz="1020" dirty="0"/>
          </a:p>
        </p:txBody>
      </p:sp>
      <p:sp>
        <p:nvSpPr>
          <p:cNvPr id="23" name="Shape 21"/>
          <p:cNvSpPr/>
          <p:nvPr/>
        </p:nvSpPr>
        <p:spPr>
          <a:xfrm>
            <a:off x="6400800" y="2724912"/>
            <a:ext cx="73152" cy="73152"/>
          </a:xfrm>
          <a:prstGeom prst="ellipse">
            <a:avLst/>
          </a:prstGeom>
          <a:solidFill>
            <a:srgbClr val="0F766E"/>
          </a:solidFill>
          <a:ln w="12700">
            <a:solidFill>
              <a:srgbClr val="0F766E">
                <a:alpha val="0"/>
              </a:srgbClr>
            </a:solidFill>
            <a:prstDash val="solid"/>
          </a:ln>
        </p:spPr>
      </p:sp>
      <p:sp>
        <p:nvSpPr>
          <p:cNvPr id="24" name="Text 22"/>
          <p:cNvSpPr/>
          <p:nvPr/>
        </p:nvSpPr>
        <p:spPr>
          <a:xfrm>
            <a:off x="6528816" y="2670048"/>
            <a:ext cx="4626864" cy="256032"/>
          </a:xfrm>
          <a:prstGeom prst="rect">
            <a:avLst/>
          </a:prstGeom>
          <a:noFill/>
          <a:ln/>
        </p:spPr>
        <p:txBody>
          <a:bodyPr wrap="square" lIns="0" tIns="0" rIns="0" bIns="0" rtlCol="0" anchor="ctr"/>
          <a:lstStyle/>
          <a:p>
            <a:pPr indent="0" marL="0">
              <a:buNone/>
            </a:pPr>
            <a:r>
              <a:rPr lang="en-US" sz="1020" dirty="0">
                <a:solidFill>
                  <a:srgbClr val="17324D"/>
                </a:solidFill>
              </a:rPr>
              <a:t>每个专家只拿和自己职责相关的文档、规则和代码证据。</a:t>
            </a:r>
            <a:endParaRPr lang="en-US" sz="1020" dirty="0"/>
          </a:p>
        </p:txBody>
      </p:sp>
      <p:sp>
        <p:nvSpPr>
          <p:cNvPr id="25" name="Shape 23"/>
          <p:cNvSpPr/>
          <p:nvPr/>
        </p:nvSpPr>
        <p:spPr>
          <a:xfrm>
            <a:off x="6400800" y="3035808"/>
            <a:ext cx="73152" cy="73152"/>
          </a:xfrm>
          <a:prstGeom prst="ellipse">
            <a:avLst/>
          </a:prstGeom>
          <a:solidFill>
            <a:srgbClr val="0F766E"/>
          </a:solidFill>
          <a:ln w="12700">
            <a:solidFill>
              <a:srgbClr val="0F766E">
                <a:alpha val="0"/>
              </a:srgbClr>
            </a:solidFill>
            <a:prstDash val="solid"/>
          </a:ln>
        </p:spPr>
      </p:sp>
      <p:sp>
        <p:nvSpPr>
          <p:cNvPr id="26" name="Text 24"/>
          <p:cNvSpPr/>
          <p:nvPr/>
        </p:nvSpPr>
        <p:spPr>
          <a:xfrm>
            <a:off x="6528816" y="2980944"/>
            <a:ext cx="4626864" cy="256032"/>
          </a:xfrm>
          <a:prstGeom prst="rect">
            <a:avLst/>
          </a:prstGeom>
          <a:noFill/>
          <a:ln/>
        </p:spPr>
        <p:txBody>
          <a:bodyPr wrap="square" lIns="0" tIns="0" rIns="0" bIns="0" rtlCol="0" anchor="ctr"/>
          <a:lstStyle/>
          <a:p>
            <a:pPr indent="0" marL="0">
              <a:buNone/>
            </a:pPr>
            <a:r>
              <a:rPr lang="en-US" sz="1020" dirty="0">
                <a:solidFill>
                  <a:srgbClr val="17324D"/>
                </a:solidFill>
              </a:rPr>
              <a:t>不同领域可以并行补证据，不必互相拖累。</a:t>
            </a:r>
            <a:endParaRPr lang="en-US" sz="1020" dirty="0"/>
          </a:p>
        </p:txBody>
      </p:sp>
      <p:sp>
        <p:nvSpPr>
          <p:cNvPr id="27" name="Shape 25"/>
          <p:cNvSpPr/>
          <p:nvPr/>
        </p:nvSpPr>
        <p:spPr>
          <a:xfrm>
            <a:off x="6400800" y="3346704"/>
            <a:ext cx="73152" cy="73152"/>
          </a:xfrm>
          <a:prstGeom prst="ellipse">
            <a:avLst/>
          </a:prstGeom>
          <a:solidFill>
            <a:srgbClr val="0F766E"/>
          </a:solidFill>
          <a:ln w="12700">
            <a:solidFill>
              <a:srgbClr val="0F766E">
                <a:alpha val="0"/>
              </a:srgbClr>
            </a:solidFill>
            <a:prstDash val="solid"/>
          </a:ln>
        </p:spPr>
      </p:sp>
      <p:sp>
        <p:nvSpPr>
          <p:cNvPr id="28" name="Text 26"/>
          <p:cNvSpPr/>
          <p:nvPr/>
        </p:nvSpPr>
        <p:spPr>
          <a:xfrm>
            <a:off x="6528816" y="3291840"/>
            <a:ext cx="4626864" cy="256032"/>
          </a:xfrm>
          <a:prstGeom prst="rect">
            <a:avLst/>
          </a:prstGeom>
          <a:noFill/>
          <a:ln/>
        </p:spPr>
        <p:txBody>
          <a:bodyPr wrap="square" lIns="0" tIns="0" rIns="0" bIns="0" rtlCol="0" anchor="ctr"/>
          <a:lstStyle/>
          <a:p>
            <a:pPr indent="0" marL="0">
              <a:buNone/>
            </a:pPr>
            <a:r>
              <a:rPr lang="en-US" sz="1020" dirty="0">
                <a:solidFill>
                  <a:srgbClr val="17324D"/>
                </a:solidFill>
              </a:rPr>
              <a:t>最后还能由 judge、阈值和治理逻辑统一收敛结果。</a:t>
            </a:r>
            <a:endParaRPr lang="en-US" sz="1020" dirty="0"/>
          </a:p>
        </p:txBody>
      </p:sp>
      <p:sp>
        <p:nvSpPr>
          <p:cNvPr id="29" name="Shape 27"/>
          <p:cNvSpPr/>
          <p:nvPr/>
        </p:nvSpPr>
        <p:spPr>
          <a:xfrm>
            <a:off x="1298448" y="6236208"/>
            <a:ext cx="9546336" cy="219456"/>
          </a:xfrm>
          <a:prstGeom prst="roundRect">
            <a:avLst>
              <a:gd name="adj" fmla="val 25000"/>
            </a:avLst>
          </a:prstGeom>
          <a:solidFill>
            <a:srgbClr val="EEF4FF"/>
          </a:solidFill>
          <a:ln w="12700">
            <a:solidFill>
              <a:srgbClr val="EEF4FF">
                <a:alpha val="0"/>
              </a:srgbClr>
            </a:solidFill>
            <a:prstDash val="solid"/>
          </a:ln>
        </p:spPr>
      </p:sp>
      <p:sp>
        <p:nvSpPr>
          <p:cNvPr id="30" name="Text 28"/>
          <p:cNvSpPr/>
          <p:nvPr/>
        </p:nvSpPr>
        <p:spPr>
          <a:xfrm>
            <a:off x="1371600" y="6272784"/>
            <a:ext cx="9400032" cy="109728"/>
          </a:xfrm>
          <a:prstGeom prst="rect">
            <a:avLst/>
          </a:prstGeom>
          <a:noFill/>
          <a:ln/>
        </p:spPr>
        <p:txBody>
          <a:bodyPr wrap="square" lIns="0" tIns="0" rIns="0" bIns="0" rtlCol="0" anchor="ctr"/>
          <a:lstStyle/>
          <a:p>
            <a:pPr algn="ctr" indent="0" marL="0">
              <a:buNone/>
            </a:pPr>
            <a:r>
              <a:rPr lang="en-US" sz="800" b="1" dirty="0">
                <a:solidFill>
                  <a:srgbClr val="4F7BFF"/>
                </a:solidFill>
              </a:rPr>
              <a:t>关键点：多 Agent 的价值，不只是上下文窗口管理，而是专业分工、证据隔离和结果收敛。</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F1"/>
          </a:solidFill>
          <a:ln w="12700">
            <a:solidFill>
              <a:srgbClr val="F7F5F1">
                <a:alpha val="0"/>
              </a:srgbClr>
            </a:solidFill>
            <a:prstDash val="solid"/>
          </a:ln>
        </p:spPr>
      </p:sp>
      <p:sp>
        <p:nvSpPr>
          <p:cNvPr id="3" name="Shape 1"/>
          <p:cNvSpPr/>
          <p:nvPr/>
        </p:nvSpPr>
        <p:spPr>
          <a:xfrm>
            <a:off x="0" y="0"/>
            <a:ext cx="12191695" cy="128016"/>
          </a:xfrm>
          <a:prstGeom prst="rect">
            <a:avLst/>
          </a:prstGeom>
          <a:solidFill>
            <a:srgbClr val="10253A"/>
          </a:solidFill>
          <a:ln w="12700">
            <a:solidFill>
              <a:srgbClr val="10253A">
                <a:alpha val="0"/>
              </a:srgbClr>
            </a:solidFill>
            <a:prstDash val="solid"/>
          </a:ln>
        </p:spPr>
      </p:sp>
      <p:sp>
        <p:nvSpPr>
          <p:cNvPr id="4" name="Shape 2"/>
          <p:cNvSpPr/>
          <p:nvPr/>
        </p:nvSpPr>
        <p:spPr>
          <a:xfrm>
            <a:off x="530352" y="402336"/>
            <a:ext cx="1078992" cy="237744"/>
          </a:xfrm>
          <a:prstGeom prst="roundRect">
            <a:avLst>
              <a:gd name="adj" fmla="val 23077"/>
            </a:avLst>
          </a:prstGeom>
          <a:solidFill>
            <a:srgbClr val="4F7BFF"/>
          </a:solidFill>
          <a:ln w="12700">
            <a:solidFill>
              <a:srgbClr val="4F7BFF">
                <a:alpha val="0"/>
              </a:srgbClr>
            </a:solidFill>
            <a:prstDash val="solid"/>
          </a:ln>
        </p:spPr>
      </p:sp>
      <p:sp>
        <p:nvSpPr>
          <p:cNvPr id="5" name="Text 3"/>
          <p:cNvSpPr/>
          <p:nvPr/>
        </p:nvSpPr>
        <p:spPr>
          <a:xfrm>
            <a:off x="585216" y="452628"/>
            <a:ext cx="969264" cy="109728"/>
          </a:xfrm>
          <a:prstGeom prst="rect">
            <a:avLst/>
          </a:prstGeom>
          <a:noFill/>
          <a:ln/>
        </p:spPr>
        <p:txBody>
          <a:bodyPr wrap="square" lIns="0" tIns="0" rIns="0" bIns="0" rtlCol="0" anchor="ctr"/>
          <a:lstStyle/>
          <a:p>
            <a:pPr algn="ctr" indent="0" marL="0">
              <a:buNone/>
            </a:pPr>
            <a:r>
              <a:rPr lang="en-US" sz="800" b="1" dirty="0">
                <a:solidFill>
                  <a:srgbClr val="FFFFFF"/>
                </a:solidFill>
              </a:rPr>
              <a:t>Framework</a:t>
            </a:r>
            <a:endParaRPr lang="en-US" sz="800" dirty="0"/>
          </a:p>
        </p:txBody>
      </p:sp>
      <p:sp>
        <p:nvSpPr>
          <p:cNvPr id="6" name="Text 4"/>
          <p:cNvSpPr/>
          <p:nvPr/>
        </p:nvSpPr>
        <p:spPr>
          <a:xfrm>
            <a:off x="10881360" y="429768"/>
            <a:ext cx="731520" cy="128016"/>
          </a:xfrm>
          <a:prstGeom prst="rect">
            <a:avLst/>
          </a:prstGeom>
          <a:noFill/>
          <a:ln/>
        </p:spPr>
        <p:txBody>
          <a:bodyPr wrap="square" lIns="0" tIns="0" rIns="0" bIns="0" rtlCol="0" anchor="ctr"/>
          <a:lstStyle/>
          <a:p>
            <a:pPr algn="r" indent="0" marL="0">
              <a:buNone/>
            </a:pPr>
            <a:r>
              <a:rPr lang="en-US" sz="900" b="1" dirty="0">
                <a:solidFill>
                  <a:srgbClr val="5B7186"/>
                </a:solidFill>
              </a:rPr>
              <a:t>05 / 06</a:t>
            </a:r>
            <a:endParaRPr lang="en-US" sz="900" dirty="0"/>
          </a:p>
        </p:txBody>
      </p:sp>
      <p:sp>
        <p:nvSpPr>
          <p:cNvPr id="7" name="Text 5"/>
          <p:cNvSpPr/>
          <p:nvPr/>
        </p:nvSpPr>
        <p:spPr>
          <a:xfrm>
            <a:off x="530352" y="804672"/>
            <a:ext cx="8961120" cy="384048"/>
          </a:xfrm>
          <a:prstGeom prst="rect">
            <a:avLst/>
          </a:prstGeom>
          <a:noFill/>
          <a:ln/>
        </p:spPr>
        <p:txBody>
          <a:bodyPr wrap="square" lIns="0" tIns="0" rIns="0" bIns="0" rtlCol="0" anchor="ctr"/>
          <a:lstStyle/>
          <a:p>
            <a:pPr indent="0" marL="0">
              <a:buNone/>
            </a:pPr>
            <a:r>
              <a:rPr lang="en-US" sz="2400" b="1" dirty="0">
                <a:solidFill>
                  <a:srgbClr val="17324D"/>
                </a:solidFill>
              </a:rPr>
              <a:t>为什么选择 LangGraph 作为流程编排框架？</a:t>
            </a:r>
            <a:endParaRPr lang="en-US" sz="2400" dirty="0"/>
          </a:p>
        </p:txBody>
      </p:sp>
      <p:sp>
        <p:nvSpPr>
          <p:cNvPr id="8" name="Text 6"/>
          <p:cNvSpPr/>
          <p:nvPr/>
        </p:nvSpPr>
        <p:spPr>
          <a:xfrm>
            <a:off x="530352" y="1243584"/>
            <a:ext cx="9601200" cy="274320"/>
          </a:xfrm>
          <a:prstGeom prst="rect">
            <a:avLst/>
          </a:prstGeom>
          <a:noFill/>
          <a:ln/>
        </p:spPr>
        <p:txBody>
          <a:bodyPr wrap="square" lIns="0" tIns="0" rIns="0" bIns="0" rtlCol="0" anchor="ctr"/>
          <a:lstStyle/>
          <a:p>
            <a:pPr indent="0" marL="0">
              <a:buNone/>
            </a:pPr>
            <a:r>
              <a:rPr lang="en-US" sz="1000" dirty="0">
                <a:solidFill>
                  <a:srgbClr val="5B7186"/>
                </a:solidFill>
              </a:rPr>
              <a:t>我们面对的不是简单对话，而是一条需要状态管理、流程编排和治理能力的复杂审查链路。</a:t>
            </a:r>
            <a:endParaRPr lang="en-US" sz="1000" dirty="0"/>
          </a:p>
        </p:txBody>
      </p:sp>
      <p:sp>
        <p:nvSpPr>
          <p:cNvPr id="9" name="Shape 7"/>
          <p:cNvSpPr/>
          <p:nvPr/>
        </p:nvSpPr>
        <p:spPr>
          <a:xfrm>
            <a:off x="603504" y="1719072"/>
            <a:ext cx="10972800" cy="1152144"/>
          </a:xfrm>
          <a:prstGeom prst="roundRect">
            <a:avLst>
              <a:gd name="adj" fmla="val 6349"/>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0" name="Text 8"/>
          <p:cNvSpPr/>
          <p:nvPr/>
        </p:nvSpPr>
        <p:spPr>
          <a:xfrm>
            <a:off x="877824" y="1901952"/>
            <a:ext cx="2560320" cy="164592"/>
          </a:xfrm>
          <a:prstGeom prst="rect">
            <a:avLst/>
          </a:prstGeom>
          <a:noFill/>
          <a:ln/>
        </p:spPr>
        <p:txBody>
          <a:bodyPr wrap="square" lIns="0" tIns="0" rIns="0" bIns="0" rtlCol="0" anchor="ctr"/>
          <a:lstStyle/>
          <a:p>
            <a:pPr indent="0" marL="0">
              <a:buNone/>
            </a:pPr>
            <a:r>
              <a:rPr lang="en-US" sz="1300" b="1" dirty="0">
                <a:solidFill>
                  <a:srgbClr val="17324D"/>
                </a:solidFill>
              </a:rPr>
              <a:t>我们真正要跑的是这样一条链</a:t>
            </a:r>
            <a:endParaRPr lang="en-US" sz="1300" dirty="0"/>
          </a:p>
        </p:txBody>
      </p:sp>
      <p:sp>
        <p:nvSpPr>
          <p:cNvPr id="11" name="Shape 9"/>
          <p:cNvSpPr/>
          <p:nvPr/>
        </p:nvSpPr>
        <p:spPr>
          <a:xfrm>
            <a:off x="896112" y="2267712"/>
            <a:ext cx="1572768" cy="384048"/>
          </a:xfrm>
          <a:prstGeom prst="roundRect">
            <a:avLst>
              <a:gd name="adj" fmla="val 19048"/>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12" name="Text 10"/>
          <p:cNvSpPr/>
          <p:nvPr/>
        </p:nvSpPr>
        <p:spPr>
          <a:xfrm>
            <a:off x="896112" y="2386584"/>
            <a:ext cx="1572768" cy="109728"/>
          </a:xfrm>
          <a:prstGeom prst="rect">
            <a:avLst/>
          </a:prstGeom>
          <a:noFill/>
          <a:ln/>
        </p:spPr>
        <p:txBody>
          <a:bodyPr wrap="square" lIns="0" tIns="0" rIns="0" bIns="0" rtlCol="0" anchor="ctr"/>
          <a:lstStyle/>
          <a:p>
            <a:pPr algn="ctr" indent="0" marL="0">
              <a:buNone/>
            </a:pPr>
            <a:r>
              <a:rPr lang="en-US" sz="940" b="1" dirty="0">
                <a:solidFill>
                  <a:srgbClr val="17324D"/>
                </a:solidFill>
              </a:rPr>
              <a:t>选专家</a:t>
            </a:r>
            <a:endParaRPr lang="en-US" sz="940" dirty="0"/>
          </a:p>
        </p:txBody>
      </p:sp>
      <p:sp>
        <p:nvSpPr>
          <p:cNvPr id="13" name="Shape 11"/>
          <p:cNvSpPr/>
          <p:nvPr/>
        </p:nvSpPr>
        <p:spPr>
          <a:xfrm>
            <a:off x="2560320" y="2459736"/>
            <a:ext cx="329184" cy="0"/>
          </a:xfrm>
          <a:prstGeom prst="line">
            <a:avLst/>
          </a:prstGeom>
          <a:noFill/>
          <a:ln w="12700">
            <a:solidFill>
              <a:srgbClr val="4F7BFF"/>
            </a:solidFill>
            <a:prstDash val="solid"/>
            <a:headEnd type="none"/>
            <a:tailEnd type="triangle"/>
          </a:ln>
        </p:spPr>
      </p:sp>
      <p:sp>
        <p:nvSpPr>
          <p:cNvPr id="14" name="Shape 12"/>
          <p:cNvSpPr/>
          <p:nvPr/>
        </p:nvSpPr>
        <p:spPr>
          <a:xfrm>
            <a:off x="2999232" y="2267712"/>
            <a:ext cx="1572768" cy="384048"/>
          </a:xfrm>
          <a:prstGeom prst="roundRect">
            <a:avLst>
              <a:gd name="adj" fmla="val 19048"/>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15" name="Text 13"/>
          <p:cNvSpPr/>
          <p:nvPr/>
        </p:nvSpPr>
        <p:spPr>
          <a:xfrm>
            <a:off x="2999232" y="2386584"/>
            <a:ext cx="1572768" cy="109728"/>
          </a:xfrm>
          <a:prstGeom prst="rect">
            <a:avLst/>
          </a:prstGeom>
          <a:noFill/>
          <a:ln/>
        </p:spPr>
        <p:txBody>
          <a:bodyPr wrap="square" lIns="0" tIns="0" rIns="0" bIns="0" rtlCol="0" anchor="ctr"/>
          <a:lstStyle/>
          <a:p>
            <a:pPr algn="ctr" indent="0" marL="0">
              <a:buNone/>
            </a:pPr>
            <a:r>
              <a:rPr lang="en-US" sz="940" b="1" dirty="0">
                <a:solidFill>
                  <a:srgbClr val="17324D"/>
                </a:solidFill>
              </a:rPr>
              <a:t>补证据</a:t>
            </a:r>
            <a:endParaRPr lang="en-US" sz="940" dirty="0"/>
          </a:p>
        </p:txBody>
      </p:sp>
      <p:sp>
        <p:nvSpPr>
          <p:cNvPr id="16" name="Shape 14"/>
          <p:cNvSpPr/>
          <p:nvPr/>
        </p:nvSpPr>
        <p:spPr>
          <a:xfrm>
            <a:off x="4663440" y="2459736"/>
            <a:ext cx="329184" cy="0"/>
          </a:xfrm>
          <a:prstGeom prst="line">
            <a:avLst/>
          </a:prstGeom>
          <a:noFill/>
          <a:ln w="12700">
            <a:solidFill>
              <a:srgbClr val="4F7BFF"/>
            </a:solidFill>
            <a:prstDash val="solid"/>
            <a:headEnd type="none"/>
            <a:tailEnd type="triangle"/>
          </a:ln>
        </p:spPr>
      </p:sp>
      <p:sp>
        <p:nvSpPr>
          <p:cNvPr id="17" name="Shape 15"/>
          <p:cNvSpPr/>
          <p:nvPr/>
        </p:nvSpPr>
        <p:spPr>
          <a:xfrm>
            <a:off x="5102352" y="2267712"/>
            <a:ext cx="1572768" cy="384048"/>
          </a:xfrm>
          <a:prstGeom prst="roundRect">
            <a:avLst>
              <a:gd name="adj" fmla="val 19048"/>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18" name="Text 16"/>
          <p:cNvSpPr/>
          <p:nvPr/>
        </p:nvSpPr>
        <p:spPr>
          <a:xfrm>
            <a:off x="5102352" y="2386584"/>
            <a:ext cx="1572768" cy="109728"/>
          </a:xfrm>
          <a:prstGeom prst="rect">
            <a:avLst/>
          </a:prstGeom>
          <a:noFill/>
          <a:ln/>
        </p:spPr>
        <p:txBody>
          <a:bodyPr wrap="square" lIns="0" tIns="0" rIns="0" bIns="0" rtlCol="0" anchor="ctr"/>
          <a:lstStyle/>
          <a:p>
            <a:pPr algn="ctr" indent="0" marL="0">
              <a:buNone/>
            </a:pPr>
            <a:r>
              <a:rPr lang="en-US" sz="940" b="1" dirty="0">
                <a:solidFill>
                  <a:srgbClr val="17324D"/>
                </a:solidFill>
              </a:rPr>
              <a:t>并行审查</a:t>
            </a:r>
            <a:endParaRPr lang="en-US" sz="940" dirty="0"/>
          </a:p>
        </p:txBody>
      </p:sp>
      <p:sp>
        <p:nvSpPr>
          <p:cNvPr id="19" name="Shape 17"/>
          <p:cNvSpPr/>
          <p:nvPr/>
        </p:nvSpPr>
        <p:spPr>
          <a:xfrm>
            <a:off x="6766560" y="2459736"/>
            <a:ext cx="329184" cy="0"/>
          </a:xfrm>
          <a:prstGeom prst="line">
            <a:avLst/>
          </a:prstGeom>
          <a:noFill/>
          <a:ln w="12700">
            <a:solidFill>
              <a:srgbClr val="4F7BFF"/>
            </a:solidFill>
            <a:prstDash val="solid"/>
            <a:headEnd type="none"/>
            <a:tailEnd type="triangle"/>
          </a:ln>
        </p:spPr>
      </p:sp>
      <p:sp>
        <p:nvSpPr>
          <p:cNvPr id="20" name="Shape 18"/>
          <p:cNvSpPr/>
          <p:nvPr/>
        </p:nvSpPr>
        <p:spPr>
          <a:xfrm>
            <a:off x="7278624" y="2267712"/>
            <a:ext cx="1572768" cy="384048"/>
          </a:xfrm>
          <a:prstGeom prst="roundRect">
            <a:avLst>
              <a:gd name="adj" fmla="val 19048"/>
            </a:avLst>
          </a:prstGeom>
          <a:solidFill>
            <a:srgbClr val="FFF0F4"/>
          </a:solidFill>
          <a:ln w="12700">
            <a:solidFill>
              <a:srgbClr val="FFF0F4"/>
            </a:solidFill>
            <a:prstDash val="solid"/>
          </a:ln>
          <a:effectLst>
            <a:outerShdw sx="100000" sy="100000" kx="0" ky="0" algn="bl" rotWithShape="0" blurRad="12700" dist="50800" dir="2700000">
              <a:srgbClr val="DDE5EC">
                <a:alpha val="10000"/>
              </a:srgbClr>
            </a:outerShdw>
          </a:effectLst>
        </p:spPr>
      </p:sp>
      <p:sp>
        <p:nvSpPr>
          <p:cNvPr id="21" name="Text 19"/>
          <p:cNvSpPr/>
          <p:nvPr/>
        </p:nvSpPr>
        <p:spPr>
          <a:xfrm>
            <a:off x="7278624" y="2386584"/>
            <a:ext cx="1572768" cy="109728"/>
          </a:xfrm>
          <a:prstGeom prst="rect">
            <a:avLst/>
          </a:prstGeom>
          <a:noFill/>
          <a:ln/>
        </p:spPr>
        <p:txBody>
          <a:bodyPr wrap="square" lIns="0" tIns="0" rIns="0" bIns="0" rtlCol="0" anchor="ctr"/>
          <a:lstStyle/>
          <a:p>
            <a:pPr algn="ctr" indent="0" marL="0">
              <a:buNone/>
            </a:pPr>
            <a:r>
              <a:rPr lang="en-US" sz="940" b="1" dirty="0">
                <a:solidFill>
                  <a:srgbClr val="17324D"/>
                </a:solidFill>
              </a:rPr>
              <a:t>结果收敛</a:t>
            </a:r>
            <a:endParaRPr lang="en-US" sz="940" dirty="0"/>
          </a:p>
        </p:txBody>
      </p:sp>
      <p:sp>
        <p:nvSpPr>
          <p:cNvPr id="22" name="Shape 20"/>
          <p:cNvSpPr/>
          <p:nvPr/>
        </p:nvSpPr>
        <p:spPr>
          <a:xfrm>
            <a:off x="8942832" y="2459736"/>
            <a:ext cx="329184" cy="0"/>
          </a:xfrm>
          <a:prstGeom prst="line">
            <a:avLst/>
          </a:prstGeom>
          <a:noFill/>
          <a:ln w="12700">
            <a:solidFill>
              <a:srgbClr val="4F7BFF"/>
            </a:solidFill>
            <a:prstDash val="solid"/>
            <a:headEnd type="none"/>
            <a:tailEnd type="triangle"/>
          </a:ln>
        </p:spPr>
      </p:sp>
      <p:sp>
        <p:nvSpPr>
          <p:cNvPr id="23" name="Shape 21"/>
          <p:cNvSpPr/>
          <p:nvPr/>
        </p:nvSpPr>
        <p:spPr>
          <a:xfrm>
            <a:off x="9436608" y="2267712"/>
            <a:ext cx="1572768" cy="384048"/>
          </a:xfrm>
          <a:prstGeom prst="roundRect">
            <a:avLst>
              <a:gd name="adj" fmla="val 19048"/>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24" name="Text 22"/>
          <p:cNvSpPr/>
          <p:nvPr/>
        </p:nvSpPr>
        <p:spPr>
          <a:xfrm>
            <a:off x="9436608" y="2386584"/>
            <a:ext cx="1572768" cy="109728"/>
          </a:xfrm>
          <a:prstGeom prst="rect">
            <a:avLst/>
          </a:prstGeom>
          <a:noFill/>
          <a:ln/>
        </p:spPr>
        <p:txBody>
          <a:bodyPr wrap="square" lIns="0" tIns="0" rIns="0" bIns="0" rtlCol="0" anchor="ctr"/>
          <a:lstStyle/>
          <a:p>
            <a:pPr algn="ctr" indent="0" marL="0">
              <a:buNone/>
            </a:pPr>
            <a:r>
              <a:rPr lang="en-US" sz="940" b="1" dirty="0">
                <a:solidFill>
                  <a:srgbClr val="17324D"/>
                </a:solidFill>
              </a:rPr>
              <a:t>人工介入</a:t>
            </a:r>
            <a:endParaRPr lang="en-US" sz="940" dirty="0"/>
          </a:p>
        </p:txBody>
      </p:sp>
      <p:sp>
        <p:nvSpPr>
          <p:cNvPr id="25" name="Shape 23"/>
          <p:cNvSpPr/>
          <p:nvPr/>
        </p:nvSpPr>
        <p:spPr>
          <a:xfrm>
            <a:off x="603504" y="3255264"/>
            <a:ext cx="10972800" cy="2505456"/>
          </a:xfrm>
          <a:prstGeom prst="roundRect">
            <a:avLst>
              <a:gd name="adj" fmla="val 2920"/>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26" name="Shape 24"/>
          <p:cNvSpPr/>
          <p:nvPr/>
        </p:nvSpPr>
        <p:spPr>
          <a:xfrm>
            <a:off x="841248" y="3547872"/>
            <a:ext cx="2852928" cy="1901952"/>
          </a:xfrm>
          <a:prstGeom prst="roundRect">
            <a:avLst>
              <a:gd name="adj" fmla="val 3846"/>
            </a:avLst>
          </a:prstGeom>
          <a:solidFill>
            <a:srgbClr val="F7F5F1"/>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27" name="Text 25"/>
          <p:cNvSpPr/>
          <p:nvPr/>
        </p:nvSpPr>
        <p:spPr>
          <a:xfrm>
            <a:off x="1005840" y="3730752"/>
            <a:ext cx="2468880" cy="164592"/>
          </a:xfrm>
          <a:prstGeom prst="rect">
            <a:avLst/>
          </a:prstGeom>
          <a:noFill/>
          <a:ln/>
        </p:spPr>
        <p:txBody>
          <a:bodyPr wrap="square" lIns="0" tIns="0" rIns="0" bIns="0" rtlCol="0" anchor="ctr"/>
          <a:lstStyle/>
          <a:p>
            <a:pPr indent="0" marL="0">
              <a:buNone/>
            </a:pPr>
            <a:r>
              <a:rPr lang="en-US" sz="1150" b="1" dirty="0">
                <a:solidFill>
                  <a:srgbClr val="17324D"/>
                </a:solidFill>
              </a:rPr>
              <a:t>我们真正需要什么</a:t>
            </a:r>
            <a:endParaRPr lang="en-US" sz="1150" dirty="0"/>
          </a:p>
        </p:txBody>
      </p:sp>
      <p:sp>
        <p:nvSpPr>
          <p:cNvPr id="28" name="Shape 26"/>
          <p:cNvSpPr/>
          <p:nvPr/>
        </p:nvSpPr>
        <p:spPr>
          <a:xfrm>
            <a:off x="1005840" y="4114800"/>
            <a:ext cx="73152" cy="73152"/>
          </a:xfrm>
          <a:prstGeom prst="ellipse">
            <a:avLst/>
          </a:prstGeom>
          <a:solidFill>
            <a:srgbClr val="5B7186"/>
          </a:solidFill>
          <a:ln w="12700">
            <a:solidFill>
              <a:srgbClr val="5B7186">
                <a:alpha val="0"/>
              </a:srgbClr>
            </a:solidFill>
            <a:prstDash val="solid"/>
          </a:ln>
        </p:spPr>
      </p:sp>
      <p:sp>
        <p:nvSpPr>
          <p:cNvPr id="29" name="Text 27"/>
          <p:cNvSpPr/>
          <p:nvPr/>
        </p:nvSpPr>
        <p:spPr>
          <a:xfrm>
            <a:off x="1133856" y="4059936"/>
            <a:ext cx="2377440" cy="256032"/>
          </a:xfrm>
          <a:prstGeom prst="rect">
            <a:avLst/>
          </a:prstGeom>
          <a:noFill/>
          <a:ln/>
        </p:spPr>
        <p:txBody>
          <a:bodyPr wrap="square" lIns="0" tIns="0" rIns="0" bIns="0" rtlCol="0" anchor="ctr"/>
          <a:lstStyle/>
          <a:p>
            <a:pPr indent="0" marL="0">
              <a:buNone/>
            </a:pPr>
            <a:r>
              <a:rPr lang="en-US" sz="870" dirty="0">
                <a:solidFill>
                  <a:srgbClr val="17324D"/>
                </a:solidFill>
              </a:rPr>
              <a:t>多专家协作、状态流转、失败重试、人工门禁、过程回放和治理观测，都要放进同一条链路里。</a:t>
            </a:r>
            <a:endParaRPr lang="en-US" sz="870" dirty="0"/>
          </a:p>
        </p:txBody>
      </p:sp>
      <p:sp>
        <p:nvSpPr>
          <p:cNvPr id="30" name="Shape 28"/>
          <p:cNvSpPr/>
          <p:nvPr/>
        </p:nvSpPr>
        <p:spPr>
          <a:xfrm>
            <a:off x="1005840" y="4425696"/>
            <a:ext cx="73152" cy="73152"/>
          </a:xfrm>
          <a:prstGeom prst="ellipse">
            <a:avLst/>
          </a:prstGeom>
          <a:solidFill>
            <a:srgbClr val="5B7186"/>
          </a:solidFill>
          <a:ln w="12700">
            <a:solidFill>
              <a:srgbClr val="5B7186">
                <a:alpha val="0"/>
              </a:srgbClr>
            </a:solidFill>
            <a:prstDash val="solid"/>
          </a:ln>
        </p:spPr>
      </p:sp>
      <p:sp>
        <p:nvSpPr>
          <p:cNvPr id="31" name="Text 29"/>
          <p:cNvSpPr/>
          <p:nvPr/>
        </p:nvSpPr>
        <p:spPr>
          <a:xfrm>
            <a:off x="1133856" y="4370832"/>
            <a:ext cx="2377440" cy="256032"/>
          </a:xfrm>
          <a:prstGeom prst="rect">
            <a:avLst/>
          </a:prstGeom>
          <a:noFill/>
          <a:ln/>
        </p:spPr>
        <p:txBody>
          <a:bodyPr wrap="square" lIns="0" tIns="0" rIns="0" bIns="0" rtlCol="0" anchor="ctr"/>
          <a:lstStyle/>
          <a:p>
            <a:pPr indent="0" marL="0">
              <a:buNone/>
            </a:pPr>
            <a:r>
              <a:rPr lang="en-US" sz="870" dirty="0">
                <a:solidFill>
                  <a:srgbClr val="17324D"/>
                </a:solidFill>
              </a:rPr>
              <a:t>专家选择、补证据、judge 和阈值治理必须清楚串起来。</a:t>
            </a:r>
            <a:endParaRPr lang="en-US" sz="870" dirty="0"/>
          </a:p>
        </p:txBody>
      </p:sp>
      <p:sp>
        <p:nvSpPr>
          <p:cNvPr id="32" name="Shape 30"/>
          <p:cNvSpPr/>
          <p:nvPr/>
        </p:nvSpPr>
        <p:spPr>
          <a:xfrm>
            <a:off x="1005840" y="4736592"/>
            <a:ext cx="73152" cy="73152"/>
          </a:xfrm>
          <a:prstGeom prst="ellipse">
            <a:avLst/>
          </a:prstGeom>
          <a:solidFill>
            <a:srgbClr val="5B7186"/>
          </a:solidFill>
          <a:ln w="12700">
            <a:solidFill>
              <a:srgbClr val="5B7186">
                <a:alpha val="0"/>
              </a:srgbClr>
            </a:solidFill>
            <a:prstDash val="solid"/>
          </a:ln>
        </p:spPr>
      </p:sp>
      <p:sp>
        <p:nvSpPr>
          <p:cNvPr id="33" name="Text 31"/>
          <p:cNvSpPr/>
          <p:nvPr/>
        </p:nvSpPr>
        <p:spPr>
          <a:xfrm>
            <a:off x="1133856" y="4681728"/>
            <a:ext cx="2377440" cy="256032"/>
          </a:xfrm>
          <a:prstGeom prst="rect">
            <a:avLst/>
          </a:prstGeom>
          <a:noFill/>
          <a:ln/>
        </p:spPr>
        <p:txBody>
          <a:bodyPr wrap="square" lIns="0" tIns="0" rIns="0" bIns="0" rtlCol="0" anchor="ctr"/>
          <a:lstStyle/>
          <a:p>
            <a:pPr indent="0" marL="0">
              <a:buNone/>
            </a:pPr>
            <a:r>
              <a:rPr lang="en-US" sz="870" dirty="0">
                <a:solidFill>
                  <a:srgbClr val="17324D"/>
                </a:solidFill>
              </a:rPr>
              <a:t>每次执行的状态都要保留下来，方便恢复和追溯。</a:t>
            </a:r>
            <a:endParaRPr lang="en-US" sz="870" dirty="0"/>
          </a:p>
        </p:txBody>
      </p:sp>
      <p:sp>
        <p:nvSpPr>
          <p:cNvPr id="34" name="Shape 32"/>
          <p:cNvSpPr/>
          <p:nvPr/>
        </p:nvSpPr>
        <p:spPr>
          <a:xfrm>
            <a:off x="4005072" y="3547872"/>
            <a:ext cx="2852928" cy="1901952"/>
          </a:xfrm>
          <a:prstGeom prst="roundRect">
            <a:avLst>
              <a:gd name="adj" fmla="val 3846"/>
            </a:avLst>
          </a:prstGeom>
          <a:solidFill>
            <a:srgbClr val="F7F5F1"/>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35" name="Text 33"/>
          <p:cNvSpPr/>
          <p:nvPr/>
        </p:nvSpPr>
        <p:spPr>
          <a:xfrm>
            <a:off x="4169664" y="3730752"/>
            <a:ext cx="2468880" cy="164592"/>
          </a:xfrm>
          <a:prstGeom prst="rect">
            <a:avLst/>
          </a:prstGeom>
          <a:noFill/>
          <a:ln/>
        </p:spPr>
        <p:txBody>
          <a:bodyPr wrap="square" lIns="0" tIns="0" rIns="0" bIns="0" rtlCol="0" anchor="ctr"/>
          <a:lstStyle/>
          <a:p>
            <a:pPr indent="0" marL="0">
              <a:buNone/>
            </a:pPr>
            <a:r>
              <a:rPr lang="en-US" sz="1150" b="1" dirty="0">
                <a:solidFill>
                  <a:srgbClr val="17324D"/>
                </a:solidFill>
              </a:rPr>
              <a:t>对其他方案的判断</a:t>
            </a:r>
            <a:endParaRPr lang="en-US" sz="1150" dirty="0"/>
          </a:p>
        </p:txBody>
      </p:sp>
      <p:sp>
        <p:nvSpPr>
          <p:cNvPr id="36" name="Shape 34"/>
          <p:cNvSpPr/>
          <p:nvPr/>
        </p:nvSpPr>
        <p:spPr>
          <a:xfrm>
            <a:off x="4169664" y="4114800"/>
            <a:ext cx="73152" cy="73152"/>
          </a:xfrm>
          <a:prstGeom prst="ellipse">
            <a:avLst/>
          </a:prstGeom>
          <a:solidFill>
            <a:srgbClr val="5B7186"/>
          </a:solidFill>
          <a:ln w="12700">
            <a:solidFill>
              <a:srgbClr val="5B7186">
                <a:alpha val="0"/>
              </a:srgbClr>
            </a:solidFill>
            <a:prstDash val="solid"/>
          </a:ln>
        </p:spPr>
      </p:sp>
      <p:sp>
        <p:nvSpPr>
          <p:cNvPr id="37" name="Text 35"/>
          <p:cNvSpPr/>
          <p:nvPr/>
        </p:nvSpPr>
        <p:spPr>
          <a:xfrm>
            <a:off x="4297680" y="4059936"/>
            <a:ext cx="2377440" cy="256032"/>
          </a:xfrm>
          <a:prstGeom prst="rect">
            <a:avLst/>
          </a:prstGeom>
          <a:noFill/>
          <a:ln/>
        </p:spPr>
        <p:txBody>
          <a:bodyPr wrap="square" lIns="0" tIns="0" rIns="0" bIns="0" rtlCol="0" anchor="ctr"/>
          <a:lstStyle/>
          <a:p>
            <a:pPr indent="0" marL="0">
              <a:buNone/>
            </a:pPr>
            <a:r>
              <a:rPr lang="en-US" sz="870" dirty="0">
                <a:solidFill>
                  <a:srgbClr val="17324D"/>
                </a:solidFill>
              </a:rPr>
              <a:t>直接调模型 API 适合起步快，但流程和状态都要自己在外面补。</a:t>
            </a:r>
            <a:endParaRPr lang="en-US" sz="870" dirty="0"/>
          </a:p>
        </p:txBody>
      </p:sp>
      <p:sp>
        <p:nvSpPr>
          <p:cNvPr id="38" name="Shape 36"/>
          <p:cNvSpPr/>
          <p:nvPr/>
        </p:nvSpPr>
        <p:spPr>
          <a:xfrm>
            <a:off x="4169664" y="4425696"/>
            <a:ext cx="73152" cy="73152"/>
          </a:xfrm>
          <a:prstGeom prst="ellipse">
            <a:avLst/>
          </a:prstGeom>
          <a:solidFill>
            <a:srgbClr val="5B7186"/>
          </a:solidFill>
          <a:ln w="12700">
            <a:solidFill>
              <a:srgbClr val="5B7186">
                <a:alpha val="0"/>
              </a:srgbClr>
            </a:solidFill>
            <a:prstDash val="solid"/>
          </a:ln>
        </p:spPr>
      </p:sp>
      <p:sp>
        <p:nvSpPr>
          <p:cNvPr id="39" name="Text 37"/>
          <p:cNvSpPr/>
          <p:nvPr/>
        </p:nvSpPr>
        <p:spPr>
          <a:xfrm>
            <a:off x="4297680" y="4370832"/>
            <a:ext cx="2377440" cy="256032"/>
          </a:xfrm>
          <a:prstGeom prst="rect">
            <a:avLst/>
          </a:prstGeom>
          <a:noFill/>
          <a:ln/>
        </p:spPr>
        <p:txBody>
          <a:bodyPr wrap="square" lIns="0" tIns="0" rIns="0" bIns="0" rtlCol="0" anchor="ctr"/>
          <a:lstStyle/>
          <a:p>
            <a:pPr indent="0" marL="0">
              <a:buNone/>
            </a:pPr>
            <a:r>
              <a:rPr lang="en-US" sz="870" dirty="0">
                <a:solidFill>
                  <a:srgbClr val="17324D"/>
                </a:solidFill>
              </a:rPr>
              <a:t>对话式 Agent 更适合“多个角色一起说话”，对多分支流程表达通常不够直观。</a:t>
            </a:r>
            <a:endParaRPr lang="en-US" sz="870" dirty="0"/>
          </a:p>
        </p:txBody>
      </p:sp>
      <p:sp>
        <p:nvSpPr>
          <p:cNvPr id="40" name="Shape 38"/>
          <p:cNvSpPr/>
          <p:nvPr/>
        </p:nvSpPr>
        <p:spPr>
          <a:xfrm>
            <a:off x="4169664" y="4736592"/>
            <a:ext cx="73152" cy="73152"/>
          </a:xfrm>
          <a:prstGeom prst="ellipse">
            <a:avLst/>
          </a:prstGeom>
          <a:solidFill>
            <a:srgbClr val="5B7186"/>
          </a:solidFill>
          <a:ln w="12700">
            <a:solidFill>
              <a:srgbClr val="5B7186">
                <a:alpha val="0"/>
              </a:srgbClr>
            </a:solidFill>
            <a:prstDash val="solid"/>
          </a:ln>
        </p:spPr>
      </p:sp>
      <p:sp>
        <p:nvSpPr>
          <p:cNvPr id="41" name="Text 39"/>
          <p:cNvSpPr/>
          <p:nvPr/>
        </p:nvSpPr>
        <p:spPr>
          <a:xfrm>
            <a:off x="4297680" y="4681728"/>
            <a:ext cx="2377440" cy="256032"/>
          </a:xfrm>
          <a:prstGeom prst="rect">
            <a:avLst/>
          </a:prstGeom>
          <a:noFill/>
          <a:ln/>
        </p:spPr>
        <p:txBody>
          <a:bodyPr wrap="square" lIns="0" tIns="0" rIns="0" bIns="0" rtlCol="0" anchor="ctr"/>
          <a:lstStyle/>
          <a:p>
            <a:pPr indent="0" marL="0">
              <a:buNone/>
            </a:pPr>
            <a:r>
              <a:rPr lang="en-US" sz="870" dirty="0">
                <a:solidFill>
                  <a:srgbClr val="17324D"/>
                </a:solidFill>
              </a:rPr>
              <a:t>能做执行，不等于能做成可治理、可回放的工程系统。</a:t>
            </a:r>
            <a:endParaRPr lang="en-US" sz="870" dirty="0"/>
          </a:p>
        </p:txBody>
      </p:sp>
      <p:sp>
        <p:nvSpPr>
          <p:cNvPr id="42" name="Shape 40"/>
          <p:cNvSpPr/>
          <p:nvPr/>
        </p:nvSpPr>
        <p:spPr>
          <a:xfrm>
            <a:off x="7168896" y="3547872"/>
            <a:ext cx="2852928" cy="1901952"/>
          </a:xfrm>
          <a:prstGeom prst="roundRect">
            <a:avLst>
              <a:gd name="adj" fmla="val 3846"/>
            </a:avLst>
          </a:prstGeom>
          <a:solidFill>
            <a:srgbClr val="EEF4FF"/>
          </a:solidFill>
          <a:ln w="12700">
            <a:solidFill>
              <a:srgbClr val="4F7BFF"/>
            </a:solidFill>
            <a:prstDash val="solid"/>
          </a:ln>
          <a:effectLst>
            <a:outerShdw sx="100000" sy="100000" kx="0" ky="0" algn="bl" rotWithShape="0" blurRad="12700" dist="50800" dir="2700000">
              <a:srgbClr val="DDE5EC">
                <a:alpha val="10000"/>
              </a:srgbClr>
            </a:outerShdw>
          </a:effectLst>
        </p:spPr>
      </p:sp>
      <p:sp>
        <p:nvSpPr>
          <p:cNvPr id="43" name="Text 41"/>
          <p:cNvSpPr/>
          <p:nvPr/>
        </p:nvSpPr>
        <p:spPr>
          <a:xfrm>
            <a:off x="7333488" y="3730752"/>
            <a:ext cx="2468880" cy="164592"/>
          </a:xfrm>
          <a:prstGeom prst="rect">
            <a:avLst/>
          </a:prstGeom>
          <a:noFill/>
          <a:ln/>
        </p:spPr>
        <p:txBody>
          <a:bodyPr wrap="square" lIns="0" tIns="0" rIns="0" bIns="0" rtlCol="0" anchor="ctr"/>
          <a:lstStyle/>
          <a:p>
            <a:pPr indent="0" marL="0">
              <a:buNone/>
            </a:pPr>
            <a:r>
              <a:rPr lang="en-US" sz="1150" b="1" dirty="0">
                <a:solidFill>
                  <a:srgbClr val="17324D"/>
                </a:solidFill>
              </a:rPr>
              <a:t>为什么最后选 LangGraph</a:t>
            </a:r>
            <a:endParaRPr lang="en-US" sz="1150" dirty="0"/>
          </a:p>
        </p:txBody>
      </p:sp>
      <p:sp>
        <p:nvSpPr>
          <p:cNvPr id="44" name="Shape 42"/>
          <p:cNvSpPr/>
          <p:nvPr/>
        </p:nvSpPr>
        <p:spPr>
          <a:xfrm>
            <a:off x="7333488" y="4114800"/>
            <a:ext cx="73152" cy="73152"/>
          </a:xfrm>
          <a:prstGeom prst="ellipse">
            <a:avLst/>
          </a:prstGeom>
          <a:solidFill>
            <a:srgbClr val="4F7BFF"/>
          </a:solidFill>
          <a:ln w="12700">
            <a:solidFill>
              <a:srgbClr val="4F7BFF">
                <a:alpha val="0"/>
              </a:srgbClr>
            </a:solidFill>
            <a:prstDash val="solid"/>
          </a:ln>
        </p:spPr>
      </p:sp>
      <p:sp>
        <p:nvSpPr>
          <p:cNvPr id="45" name="Text 43"/>
          <p:cNvSpPr/>
          <p:nvPr/>
        </p:nvSpPr>
        <p:spPr>
          <a:xfrm>
            <a:off x="7461504" y="4059936"/>
            <a:ext cx="2377440" cy="256032"/>
          </a:xfrm>
          <a:prstGeom prst="rect">
            <a:avLst/>
          </a:prstGeom>
          <a:noFill/>
          <a:ln/>
        </p:spPr>
        <p:txBody>
          <a:bodyPr wrap="square" lIns="0" tIns="0" rIns="0" bIns="0" rtlCol="0" anchor="ctr"/>
          <a:lstStyle/>
          <a:p>
            <a:pPr indent="0" marL="0">
              <a:buNone/>
            </a:pPr>
            <a:r>
              <a:rPr lang="en-US" sz="870" dirty="0">
                <a:solidFill>
                  <a:srgbClr val="17324D"/>
                </a:solidFill>
              </a:rPr>
              <a:t>节点和边就是流程本身，天然适合多阶段、多分支执行逻辑。</a:t>
            </a:r>
            <a:endParaRPr lang="en-US" sz="870" dirty="0"/>
          </a:p>
        </p:txBody>
      </p:sp>
      <p:sp>
        <p:nvSpPr>
          <p:cNvPr id="46" name="Shape 44"/>
          <p:cNvSpPr/>
          <p:nvPr/>
        </p:nvSpPr>
        <p:spPr>
          <a:xfrm>
            <a:off x="7333488" y="4425696"/>
            <a:ext cx="73152" cy="73152"/>
          </a:xfrm>
          <a:prstGeom prst="ellipse">
            <a:avLst/>
          </a:prstGeom>
          <a:solidFill>
            <a:srgbClr val="4F7BFF"/>
          </a:solidFill>
          <a:ln w="12700">
            <a:solidFill>
              <a:srgbClr val="4F7BFF">
                <a:alpha val="0"/>
              </a:srgbClr>
            </a:solidFill>
            <a:prstDash val="solid"/>
          </a:ln>
        </p:spPr>
      </p:sp>
      <p:sp>
        <p:nvSpPr>
          <p:cNvPr id="47" name="Text 45"/>
          <p:cNvSpPr/>
          <p:nvPr/>
        </p:nvSpPr>
        <p:spPr>
          <a:xfrm>
            <a:off x="7461504" y="4370832"/>
            <a:ext cx="2377440" cy="256032"/>
          </a:xfrm>
          <a:prstGeom prst="rect">
            <a:avLst/>
          </a:prstGeom>
          <a:noFill/>
          <a:ln/>
        </p:spPr>
        <p:txBody>
          <a:bodyPr wrap="square" lIns="0" tIns="0" rIns="0" bIns="0" rtlCol="0" anchor="ctr"/>
          <a:lstStyle/>
          <a:p>
            <a:pPr indent="0" marL="0">
              <a:buNone/>
            </a:pPr>
            <a:r>
              <a:rPr lang="en-US" sz="870" dirty="0">
                <a:solidFill>
                  <a:srgbClr val="17324D"/>
                </a:solidFill>
              </a:rPr>
              <a:t>状态是第一公民，更适合长流程、长任务和需要恢复的场景。</a:t>
            </a:r>
            <a:endParaRPr lang="en-US" sz="870" dirty="0"/>
          </a:p>
        </p:txBody>
      </p:sp>
      <p:sp>
        <p:nvSpPr>
          <p:cNvPr id="48" name="Shape 46"/>
          <p:cNvSpPr/>
          <p:nvPr/>
        </p:nvSpPr>
        <p:spPr>
          <a:xfrm>
            <a:off x="7333488" y="4736592"/>
            <a:ext cx="73152" cy="73152"/>
          </a:xfrm>
          <a:prstGeom prst="ellipse">
            <a:avLst/>
          </a:prstGeom>
          <a:solidFill>
            <a:srgbClr val="4F7BFF"/>
          </a:solidFill>
          <a:ln w="12700">
            <a:solidFill>
              <a:srgbClr val="4F7BFF">
                <a:alpha val="0"/>
              </a:srgbClr>
            </a:solidFill>
            <a:prstDash val="solid"/>
          </a:ln>
        </p:spPr>
      </p:sp>
      <p:sp>
        <p:nvSpPr>
          <p:cNvPr id="49" name="Text 47"/>
          <p:cNvSpPr/>
          <p:nvPr/>
        </p:nvSpPr>
        <p:spPr>
          <a:xfrm>
            <a:off x="7461504" y="4681728"/>
            <a:ext cx="2377440" cy="256032"/>
          </a:xfrm>
          <a:prstGeom prst="rect">
            <a:avLst/>
          </a:prstGeom>
          <a:noFill/>
          <a:ln/>
        </p:spPr>
        <p:txBody>
          <a:bodyPr wrap="square" lIns="0" tIns="0" rIns="0" bIns="0" rtlCol="0" anchor="ctr"/>
          <a:lstStyle/>
          <a:p>
            <a:pPr indent="0" marL="0">
              <a:buNone/>
            </a:pPr>
            <a:r>
              <a:rPr lang="en-US" sz="870" dirty="0">
                <a:solidFill>
                  <a:srgbClr val="17324D"/>
                </a:solidFill>
              </a:rPr>
              <a:t>更容易把复杂审查流程做成一条可观测、可治理的工程链。</a:t>
            </a:r>
            <a:endParaRPr lang="en-US" sz="870" dirty="0"/>
          </a:p>
        </p:txBody>
      </p:sp>
      <p:sp>
        <p:nvSpPr>
          <p:cNvPr id="50" name="Shape 48"/>
          <p:cNvSpPr/>
          <p:nvPr/>
        </p:nvSpPr>
        <p:spPr>
          <a:xfrm>
            <a:off x="1097280" y="6199632"/>
            <a:ext cx="9875520" cy="219456"/>
          </a:xfrm>
          <a:prstGeom prst="roundRect">
            <a:avLst>
              <a:gd name="adj" fmla="val 25000"/>
            </a:avLst>
          </a:prstGeom>
          <a:solidFill>
            <a:srgbClr val="EEF4FF"/>
          </a:solidFill>
          <a:ln w="12700">
            <a:solidFill>
              <a:srgbClr val="EEF4FF">
                <a:alpha val="0"/>
              </a:srgbClr>
            </a:solidFill>
            <a:prstDash val="solid"/>
          </a:ln>
        </p:spPr>
      </p:sp>
      <p:sp>
        <p:nvSpPr>
          <p:cNvPr id="51" name="Text 49"/>
          <p:cNvSpPr/>
          <p:nvPr/>
        </p:nvSpPr>
        <p:spPr>
          <a:xfrm>
            <a:off x="1170432" y="6236208"/>
            <a:ext cx="9729216" cy="109728"/>
          </a:xfrm>
          <a:prstGeom prst="rect">
            <a:avLst/>
          </a:prstGeom>
          <a:noFill/>
          <a:ln/>
        </p:spPr>
        <p:txBody>
          <a:bodyPr wrap="square" lIns="0" tIns="0" rIns="0" bIns="0" rtlCol="0" anchor="ctr"/>
          <a:lstStyle/>
          <a:p>
            <a:pPr algn="ctr" indent="0" marL="0">
              <a:buNone/>
            </a:pPr>
            <a:r>
              <a:rPr lang="en-US" sz="800" b="1" dirty="0">
                <a:solidFill>
                  <a:srgbClr val="4F7BFF"/>
                </a:solidFill>
              </a:rPr>
              <a:t>选择 LangGraph，不是因为它更流行，而是因为这类多专家代码审查本质上就是一条需要状态管理和治理能力的复杂流程。</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CFBF8"/>
          </a:solidFill>
          <a:ln w="12700">
            <a:solidFill>
              <a:srgbClr val="FCFBF8">
                <a:alpha val="0"/>
              </a:srgbClr>
            </a:solidFill>
            <a:prstDash val="solid"/>
          </a:ln>
        </p:spPr>
      </p:sp>
      <p:sp>
        <p:nvSpPr>
          <p:cNvPr id="3" name="Shape 1"/>
          <p:cNvSpPr/>
          <p:nvPr/>
        </p:nvSpPr>
        <p:spPr>
          <a:xfrm>
            <a:off x="0" y="0"/>
            <a:ext cx="12191695" cy="128016"/>
          </a:xfrm>
          <a:prstGeom prst="rect">
            <a:avLst/>
          </a:prstGeom>
          <a:solidFill>
            <a:srgbClr val="10253A"/>
          </a:solidFill>
          <a:ln w="12700">
            <a:solidFill>
              <a:srgbClr val="10253A">
                <a:alpha val="0"/>
              </a:srgbClr>
            </a:solidFill>
            <a:prstDash val="solid"/>
          </a:ln>
        </p:spPr>
      </p:sp>
      <p:sp>
        <p:nvSpPr>
          <p:cNvPr id="4" name="Shape 2"/>
          <p:cNvSpPr/>
          <p:nvPr/>
        </p:nvSpPr>
        <p:spPr>
          <a:xfrm>
            <a:off x="530352" y="402336"/>
            <a:ext cx="1078992" cy="237744"/>
          </a:xfrm>
          <a:prstGeom prst="roundRect">
            <a:avLst>
              <a:gd name="adj" fmla="val 23077"/>
            </a:avLst>
          </a:prstGeom>
          <a:solidFill>
            <a:srgbClr val="0F766E"/>
          </a:solidFill>
          <a:ln w="12700">
            <a:solidFill>
              <a:srgbClr val="0F766E">
                <a:alpha val="0"/>
              </a:srgbClr>
            </a:solidFill>
            <a:prstDash val="solid"/>
          </a:ln>
        </p:spPr>
      </p:sp>
      <p:sp>
        <p:nvSpPr>
          <p:cNvPr id="5" name="Text 3"/>
          <p:cNvSpPr/>
          <p:nvPr/>
        </p:nvSpPr>
        <p:spPr>
          <a:xfrm>
            <a:off x="585216" y="452628"/>
            <a:ext cx="969264" cy="109728"/>
          </a:xfrm>
          <a:prstGeom prst="rect">
            <a:avLst/>
          </a:prstGeom>
          <a:noFill/>
          <a:ln/>
        </p:spPr>
        <p:txBody>
          <a:bodyPr wrap="square" lIns="0" tIns="0" rIns="0" bIns="0" rtlCol="0" anchor="ctr"/>
          <a:lstStyle/>
          <a:p>
            <a:pPr algn="ctr" indent="0" marL="0">
              <a:buNone/>
            </a:pPr>
            <a:r>
              <a:rPr lang="en-US" sz="800" b="1" dirty="0">
                <a:solidFill>
                  <a:srgbClr val="FFFFFF"/>
                </a:solidFill>
              </a:rPr>
              <a:t>Quality</a:t>
            </a:r>
            <a:endParaRPr lang="en-US" sz="800" dirty="0"/>
          </a:p>
        </p:txBody>
      </p:sp>
      <p:sp>
        <p:nvSpPr>
          <p:cNvPr id="6" name="Text 4"/>
          <p:cNvSpPr/>
          <p:nvPr/>
        </p:nvSpPr>
        <p:spPr>
          <a:xfrm>
            <a:off x="10881360" y="429768"/>
            <a:ext cx="731520" cy="128016"/>
          </a:xfrm>
          <a:prstGeom prst="rect">
            <a:avLst/>
          </a:prstGeom>
          <a:noFill/>
          <a:ln/>
        </p:spPr>
        <p:txBody>
          <a:bodyPr wrap="square" lIns="0" tIns="0" rIns="0" bIns="0" rtlCol="0" anchor="ctr"/>
          <a:lstStyle/>
          <a:p>
            <a:pPr algn="r" indent="0" marL="0">
              <a:buNone/>
            </a:pPr>
            <a:r>
              <a:rPr lang="en-US" sz="900" b="1" dirty="0">
                <a:solidFill>
                  <a:srgbClr val="5B7186"/>
                </a:solidFill>
              </a:rPr>
              <a:t>06 / 06</a:t>
            </a:r>
            <a:endParaRPr lang="en-US" sz="900" dirty="0"/>
          </a:p>
        </p:txBody>
      </p:sp>
      <p:sp>
        <p:nvSpPr>
          <p:cNvPr id="7" name="Text 5"/>
          <p:cNvSpPr/>
          <p:nvPr/>
        </p:nvSpPr>
        <p:spPr>
          <a:xfrm>
            <a:off x="530352" y="804672"/>
            <a:ext cx="8961120" cy="384048"/>
          </a:xfrm>
          <a:prstGeom prst="rect">
            <a:avLst/>
          </a:prstGeom>
          <a:noFill/>
          <a:ln/>
        </p:spPr>
        <p:txBody>
          <a:bodyPr wrap="square" lIns="0" tIns="0" rIns="0" bIns="0" rtlCol="0" anchor="ctr"/>
          <a:lstStyle/>
          <a:p>
            <a:pPr indent="0" marL="0">
              <a:buNone/>
            </a:pPr>
            <a:r>
              <a:rPr lang="en-US" sz="2400" b="1" dirty="0">
                <a:solidFill>
                  <a:srgbClr val="17324D"/>
                </a:solidFill>
              </a:rPr>
              <a:t>当前质量水平：已能在真实 MR 上发现高价值问题，但稳定性仍需提升</a:t>
            </a:r>
            <a:endParaRPr lang="en-US" sz="2400" dirty="0"/>
          </a:p>
        </p:txBody>
      </p:sp>
      <p:sp>
        <p:nvSpPr>
          <p:cNvPr id="8" name="Text 6"/>
          <p:cNvSpPr/>
          <p:nvPr/>
        </p:nvSpPr>
        <p:spPr>
          <a:xfrm>
            <a:off x="530352" y="1243584"/>
            <a:ext cx="9601200" cy="274320"/>
          </a:xfrm>
          <a:prstGeom prst="rect">
            <a:avLst/>
          </a:prstGeom>
          <a:noFill/>
          <a:ln/>
        </p:spPr>
        <p:txBody>
          <a:bodyPr wrap="square" lIns="0" tIns="0" rIns="0" bIns="0" rtlCol="0" anchor="ctr"/>
          <a:lstStyle/>
          <a:p>
            <a:pPr indent="0" marL="0">
              <a:buNone/>
            </a:pPr>
            <a:r>
              <a:rPr lang="en-US" sz="1000" dirty="0">
                <a:solidFill>
                  <a:srgbClr val="5B7186"/>
                </a:solidFill>
              </a:rPr>
              <a:t>这套工具还在开发期，所以这里不强调效果数字，重点讲现在做到哪一步、还差什么。</a:t>
            </a:r>
            <a:endParaRPr lang="en-US" sz="1000" dirty="0"/>
          </a:p>
        </p:txBody>
      </p:sp>
      <p:sp>
        <p:nvSpPr>
          <p:cNvPr id="9" name="Shape 7"/>
          <p:cNvSpPr/>
          <p:nvPr/>
        </p:nvSpPr>
        <p:spPr>
          <a:xfrm>
            <a:off x="640080" y="1737360"/>
            <a:ext cx="5413248" cy="3529584"/>
          </a:xfrm>
          <a:prstGeom prst="roundRect">
            <a:avLst>
              <a:gd name="adj" fmla="val 2073"/>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0" name="Text 8"/>
          <p:cNvSpPr/>
          <p:nvPr/>
        </p:nvSpPr>
        <p:spPr>
          <a:xfrm>
            <a:off x="896112" y="1956816"/>
            <a:ext cx="2377440" cy="164592"/>
          </a:xfrm>
          <a:prstGeom prst="rect">
            <a:avLst/>
          </a:prstGeom>
          <a:noFill/>
          <a:ln/>
        </p:spPr>
        <p:txBody>
          <a:bodyPr wrap="square" lIns="0" tIns="0" rIns="0" bIns="0" rtlCol="0" anchor="ctr"/>
          <a:lstStyle/>
          <a:p>
            <a:pPr indent="0" marL="0">
              <a:buNone/>
            </a:pPr>
            <a:r>
              <a:rPr lang="en-US" sz="1300" b="1" dirty="0">
                <a:solidFill>
                  <a:srgbClr val="17324D"/>
                </a:solidFill>
              </a:rPr>
              <a:t>现在已经看得见的价值</a:t>
            </a:r>
            <a:endParaRPr lang="en-US" sz="1300" dirty="0"/>
          </a:p>
        </p:txBody>
      </p:sp>
      <p:sp>
        <p:nvSpPr>
          <p:cNvPr id="11" name="Text 9"/>
          <p:cNvSpPr/>
          <p:nvPr/>
        </p:nvSpPr>
        <p:spPr>
          <a:xfrm>
            <a:off x="896112" y="2231136"/>
            <a:ext cx="3474720" cy="146304"/>
          </a:xfrm>
          <a:prstGeom prst="rect">
            <a:avLst/>
          </a:prstGeom>
          <a:noFill/>
          <a:ln/>
        </p:spPr>
        <p:txBody>
          <a:bodyPr wrap="square" lIns="0" tIns="0" rIns="0" bIns="0" rtlCol="0" anchor="ctr"/>
          <a:lstStyle/>
          <a:p>
            <a:pPr indent="0" marL="0">
              <a:buNone/>
            </a:pPr>
            <a:r>
              <a:rPr lang="en-US" sz="960" dirty="0">
                <a:solidFill>
                  <a:srgbClr val="5B7186"/>
                </a:solidFill>
              </a:rPr>
              <a:t>真实案例：订单 / 事件 / 批量读取这类复杂改动</a:t>
            </a:r>
            <a:endParaRPr lang="en-US" sz="960" dirty="0"/>
          </a:p>
        </p:txBody>
      </p:sp>
      <p:sp>
        <p:nvSpPr>
          <p:cNvPr id="12" name="Shape 10"/>
          <p:cNvSpPr/>
          <p:nvPr/>
        </p:nvSpPr>
        <p:spPr>
          <a:xfrm>
            <a:off x="914400" y="2615184"/>
            <a:ext cx="4846320" cy="658368"/>
          </a:xfrm>
          <a:prstGeom prst="roundRect">
            <a:avLst>
              <a:gd name="adj" fmla="val 11111"/>
            </a:avLst>
          </a:prstGeom>
          <a:solidFill>
            <a:srgbClr val="EEF4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3" name="Shape 11"/>
          <p:cNvSpPr/>
          <p:nvPr/>
        </p:nvSpPr>
        <p:spPr>
          <a:xfrm>
            <a:off x="1060704" y="2779776"/>
            <a:ext cx="347472" cy="219456"/>
          </a:xfrm>
          <a:prstGeom prst="roundRect">
            <a:avLst>
              <a:gd name="adj" fmla="val 25000"/>
            </a:avLst>
          </a:prstGeom>
          <a:solidFill>
            <a:srgbClr val="FFFFFF"/>
          </a:solidFill>
          <a:ln w="12700">
            <a:solidFill>
              <a:srgbClr val="FFFFFF">
                <a:alpha val="0"/>
              </a:srgbClr>
            </a:solidFill>
            <a:prstDash val="solid"/>
          </a:ln>
        </p:spPr>
      </p:sp>
      <p:sp>
        <p:nvSpPr>
          <p:cNvPr id="14" name="Text 12"/>
          <p:cNvSpPr/>
          <p:nvPr/>
        </p:nvSpPr>
        <p:spPr>
          <a:xfrm>
            <a:off x="1133856" y="2816352"/>
            <a:ext cx="201168" cy="109728"/>
          </a:xfrm>
          <a:prstGeom prst="rect">
            <a:avLst/>
          </a:prstGeom>
          <a:noFill/>
          <a:ln/>
        </p:spPr>
        <p:txBody>
          <a:bodyPr wrap="square" lIns="0" tIns="0" rIns="0" bIns="0" rtlCol="0" anchor="ctr"/>
          <a:lstStyle/>
          <a:p>
            <a:pPr algn="ctr" indent="0" marL="0">
              <a:buNone/>
            </a:pPr>
            <a:r>
              <a:rPr lang="en-US" sz="800" b="1" dirty="0">
                <a:solidFill>
                  <a:srgbClr val="17324D"/>
                </a:solidFill>
              </a:rPr>
              <a:t>1</a:t>
            </a:r>
            <a:endParaRPr lang="en-US" sz="800" dirty="0"/>
          </a:p>
        </p:txBody>
      </p:sp>
      <p:sp>
        <p:nvSpPr>
          <p:cNvPr id="15" name="Text 13"/>
          <p:cNvSpPr/>
          <p:nvPr/>
        </p:nvSpPr>
        <p:spPr>
          <a:xfrm>
            <a:off x="1536192" y="2752344"/>
            <a:ext cx="914400" cy="128016"/>
          </a:xfrm>
          <a:prstGeom prst="rect">
            <a:avLst/>
          </a:prstGeom>
          <a:noFill/>
          <a:ln/>
        </p:spPr>
        <p:txBody>
          <a:bodyPr wrap="square" lIns="0" tIns="0" rIns="0" bIns="0" rtlCol="0" anchor="ctr"/>
          <a:lstStyle/>
          <a:p>
            <a:pPr indent="0" marL="0">
              <a:buNone/>
            </a:pPr>
            <a:r>
              <a:rPr lang="en-US" sz="1000" b="1" dirty="0">
                <a:solidFill>
                  <a:srgbClr val="17324D"/>
                </a:solidFill>
              </a:rPr>
              <a:t>PR 改动</a:t>
            </a:r>
            <a:endParaRPr lang="en-US" sz="1000" dirty="0"/>
          </a:p>
        </p:txBody>
      </p:sp>
      <p:sp>
        <p:nvSpPr>
          <p:cNvPr id="16" name="Text 14"/>
          <p:cNvSpPr/>
          <p:nvPr/>
        </p:nvSpPr>
        <p:spPr>
          <a:xfrm>
            <a:off x="2578608" y="2752344"/>
            <a:ext cx="2816352" cy="256032"/>
          </a:xfrm>
          <a:prstGeom prst="rect">
            <a:avLst/>
          </a:prstGeom>
          <a:noFill/>
          <a:ln/>
        </p:spPr>
        <p:txBody>
          <a:bodyPr wrap="square" lIns="0" tIns="0" rIns="0" bIns="0" rtlCol="0" anchor="ctr"/>
          <a:lstStyle/>
          <a:p>
            <a:pPr indent="0" marL="0">
              <a:buNone/>
            </a:pPr>
            <a:r>
              <a:rPr lang="en-US" sz="870" dirty="0">
                <a:solidFill>
                  <a:srgbClr val="5B7186"/>
                </a:solidFill>
              </a:rPr>
              <a:t>同时改了聚合创建、事件发布顺序和批量读取逻辑</a:t>
            </a:r>
            <a:endParaRPr lang="en-US" sz="870" dirty="0"/>
          </a:p>
        </p:txBody>
      </p:sp>
      <p:sp>
        <p:nvSpPr>
          <p:cNvPr id="17" name="Shape 15"/>
          <p:cNvSpPr/>
          <p:nvPr/>
        </p:nvSpPr>
        <p:spPr>
          <a:xfrm>
            <a:off x="914400" y="3419856"/>
            <a:ext cx="4846320" cy="658368"/>
          </a:xfrm>
          <a:prstGeom prst="roundRect">
            <a:avLst>
              <a:gd name="adj" fmla="val 11111"/>
            </a:avLst>
          </a:prstGeom>
          <a:solidFill>
            <a:srgbClr val="E8F8F5"/>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18" name="Shape 16"/>
          <p:cNvSpPr/>
          <p:nvPr/>
        </p:nvSpPr>
        <p:spPr>
          <a:xfrm>
            <a:off x="1060704" y="3584448"/>
            <a:ext cx="347472" cy="219456"/>
          </a:xfrm>
          <a:prstGeom prst="roundRect">
            <a:avLst>
              <a:gd name="adj" fmla="val 25000"/>
            </a:avLst>
          </a:prstGeom>
          <a:solidFill>
            <a:srgbClr val="FFFFFF"/>
          </a:solidFill>
          <a:ln w="12700">
            <a:solidFill>
              <a:srgbClr val="FFFFFF">
                <a:alpha val="0"/>
              </a:srgbClr>
            </a:solidFill>
            <a:prstDash val="solid"/>
          </a:ln>
        </p:spPr>
      </p:sp>
      <p:sp>
        <p:nvSpPr>
          <p:cNvPr id="19" name="Text 17"/>
          <p:cNvSpPr/>
          <p:nvPr/>
        </p:nvSpPr>
        <p:spPr>
          <a:xfrm>
            <a:off x="1133856" y="3621024"/>
            <a:ext cx="201168" cy="109728"/>
          </a:xfrm>
          <a:prstGeom prst="rect">
            <a:avLst/>
          </a:prstGeom>
          <a:noFill/>
          <a:ln/>
        </p:spPr>
        <p:txBody>
          <a:bodyPr wrap="square" lIns="0" tIns="0" rIns="0" bIns="0" rtlCol="0" anchor="ctr"/>
          <a:lstStyle/>
          <a:p>
            <a:pPr algn="ctr" indent="0" marL="0">
              <a:buNone/>
            </a:pPr>
            <a:r>
              <a:rPr lang="en-US" sz="800" b="1" dirty="0">
                <a:solidFill>
                  <a:srgbClr val="17324D"/>
                </a:solidFill>
              </a:rPr>
              <a:t>2</a:t>
            </a:r>
            <a:endParaRPr lang="en-US" sz="800" dirty="0"/>
          </a:p>
        </p:txBody>
      </p:sp>
      <p:sp>
        <p:nvSpPr>
          <p:cNvPr id="20" name="Text 18"/>
          <p:cNvSpPr/>
          <p:nvPr/>
        </p:nvSpPr>
        <p:spPr>
          <a:xfrm>
            <a:off x="1536192" y="3557016"/>
            <a:ext cx="914400" cy="128016"/>
          </a:xfrm>
          <a:prstGeom prst="rect">
            <a:avLst/>
          </a:prstGeom>
          <a:noFill/>
          <a:ln/>
        </p:spPr>
        <p:txBody>
          <a:bodyPr wrap="square" lIns="0" tIns="0" rIns="0" bIns="0" rtlCol="0" anchor="ctr"/>
          <a:lstStyle/>
          <a:p>
            <a:pPr indent="0" marL="0">
              <a:buNone/>
            </a:pPr>
            <a:r>
              <a:rPr lang="en-US" sz="1000" b="1" dirty="0">
                <a:solidFill>
                  <a:srgbClr val="17324D"/>
                </a:solidFill>
              </a:rPr>
              <a:t>系统命中</a:t>
            </a:r>
            <a:endParaRPr lang="en-US" sz="1000" dirty="0"/>
          </a:p>
        </p:txBody>
      </p:sp>
      <p:sp>
        <p:nvSpPr>
          <p:cNvPr id="21" name="Text 19"/>
          <p:cNvSpPr/>
          <p:nvPr/>
        </p:nvSpPr>
        <p:spPr>
          <a:xfrm>
            <a:off x="2578608" y="3557016"/>
            <a:ext cx="2816352" cy="256032"/>
          </a:xfrm>
          <a:prstGeom prst="rect">
            <a:avLst/>
          </a:prstGeom>
          <a:noFill/>
          <a:ln/>
        </p:spPr>
        <p:txBody>
          <a:bodyPr wrap="square" lIns="0" tIns="0" rIns="0" bIns="0" rtlCol="0" anchor="ctr"/>
          <a:lstStyle/>
          <a:p>
            <a:pPr indent="0" marL="0">
              <a:buNone/>
            </a:pPr>
            <a:r>
              <a:rPr lang="en-US" sz="870" dirty="0">
                <a:solidFill>
                  <a:srgbClr val="5B7186"/>
                </a:solidFill>
              </a:rPr>
              <a:t>业务正确性、架构、数据库几个专家分别给出发现</a:t>
            </a:r>
            <a:endParaRPr lang="en-US" sz="870" dirty="0"/>
          </a:p>
        </p:txBody>
      </p:sp>
      <p:sp>
        <p:nvSpPr>
          <p:cNvPr id="22" name="Shape 20"/>
          <p:cNvSpPr/>
          <p:nvPr/>
        </p:nvSpPr>
        <p:spPr>
          <a:xfrm>
            <a:off x="914400" y="4224528"/>
            <a:ext cx="4846320" cy="658368"/>
          </a:xfrm>
          <a:prstGeom prst="roundRect">
            <a:avLst>
              <a:gd name="adj" fmla="val 11111"/>
            </a:avLst>
          </a:prstGeom>
          <a:solidFill>
            <a:srgbClr val="FFF6E6"/>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23" name="Shape 21"/>
          <p:cNvSpPr/>
          <p:nvPr/>
        </p:nvSpPr>
        <p:spPr>
          <a:xfrm>
            <a:off x="1060704" y="4389120"/>
            <a:ext cx="347472" cy="219456"/>
          </a:xfrm>
          <a:prstGeom prst="roundRect">
            <a:avLst>
              <a:gd name="adj" fmla="val 25000"/>
            </a:avLst>
          </a:prstGeom>
          <a:solidFill>
            <a:srgbClr val="FFFFFF"/>
          </a:solidFill>
          <a:ln w="12700">
            <a:solidFill>
              <a:srgbClr val="FFFFFF">
                <a:alpha val="0"/>
              </a:srgbClr>
            </a:solidFill>
            <a:prstDash val="solid"/>
          </a:ln>
        </p:spPr>
      </p:sp>
      <p:sp>
        <p:nvSpPr>
          <p:cNvPr id="24" name="Text 22"/>
          <p:cNvSpPr/>
          <p:nvPr/>
        </p:nvSpPr>
        <p:spPr>
          <a:xfrm>
            <a:off x="1133856" y="4425696"/>
            <a:ext cx="201168" cy="109728"/>
          </a:xfrm>
          <a:prstGeom prst="rect">
            <a:avLst/>
          </a:prstGeom>
          <a:noFill/>
          <a:ln/>
        </p:spPr>
        <p:txBody>
          <a:bodyPr wrap="square" lIns="0" tIns="0" rIns="0" bIns="0" rtlCol="0" anchor="ctr"/>
          <a:lstStyle/>
          <a:p>
            <a:pPr algn="ctr" indent="0" marL="0">
              <a:buNone/>
            </a:pPr>
            <a:r>
              <a:rPr lang="en-US" sz="800" b="1" dirty="0">
                <a:solidFill>
                  <a:srgbClr val="17324D"/>
                </a:solidFill>
              </a:rPr>
              <a:t>3</a:t>
            </a:r>
            <a:endParaRPr lang="en-US" sz="800" dirty="0"/>
          </a:p>
        </p:txBody>
      </p:sp>
      <p:sp>
        <p:nvSpPr>
          <p:cNvPr id="25" name="Text 23"/>
          <p:cNvSpPr/>
          <p:nvPr/>
        </p:nvSpPr>
        <p:spPr>
          <a:xfrm>
            <a:off x="1536192" y="4361688"/>
            <a:ext cx="914400" cy="128016"/>
          </a:xfrm>
          <a:prstGeom prst="rect">
            <a:avLst/>
          </a:prstGeom>
          <a:noFill/>
          <a:ln/>
        </p:spPr>
        <p:txBody>
          <a:bodyPr wrap="square" lIns="0" tIns="0" rIns="0" bIns="0" rtlCol="0" anchor="ctr"/>
          <a:lstStyle/>
          <a:p>
            <a:pPr indent="0" marL="0">
              <a:buNone/>
            </a:pPr>
            <a:r>
              <a:rPr lang="en-US" sz="1000" b="1" dirty="0">
                <a:solidFill>
                  <a:srgbClr val="17324D"/>
                </a:solidFill>
              </a:rPr>
              <a:t>结论价值</a:t>
            </a:r>
            <a:endParaRPr lang="en-US" sz="1000" dirty="0"/>
          </a:p>
        </p:txBody>
      </p:sp>
      <p:sp>
        <p:nvSpPr>
          <p:cNvPr id="26" name="Text 24"/>
          <p:cNvSpPr/>
          <p:nvPr/>
        </p:nvSpPr>
        <p:spPr>
          <a:xfrm>
            <a:off x="2578608" y="4361688"/>
            <a:ext cx="2816352" cy="256032"/>
          </a:xfrm>
          <a:prstGeom prst="rect">
            <a:avLst/>
          </a:prstGeom>
          <a:noFill/>
          <a:ln/>
        </p:spPr>
        <p:txBody>
          <a:bodyPr wrap="square" lIns="0" tIns="0" rIns="0" bIns="0" rtlCol="0" anchor="ctr"/>
          <a:lstStyle/>
          <a:p>
            <a:pPr indent="0" marL="0">
              <a:buNone/>
            </a:pPr>
            <a:r>
              <a:rPr lang="en-US" sz="870" dirty="0">
                <a:solidFill>
                  <a:srgbClr val="5B7186"/>
                </a:solidFill>
              </a:rPr>
              <a:t>抓到的不是表面代码味道，而是更容易漏掉的高风险问题</a:t>
            </a:r>
            <a:endParaRPr lang="en-US" sz="870" dirty="0"/>
          </a:p>
        </p:txBody>
      </p:sp>
      <p:sp>
        <p:nvSpPr>
          <p:cNvPr id="27" name="Shape 25"/>
          <p:cNvSpPr/>
          <p:nvPr/>
        </p:nvSpPr>
        <p:spPr>
          <a:xfrm>
            <a:off x="6199632" y="1737360"/>
            <a:ext cx="5358384" cy="3529584"/>
          </a:xfrm>
          <a:prstGeom prst="roundRect">
            <a:avLst>
              <a:gd name="adj" fmla="val 2073"/>
            </a:avLst>
          </a:prstGeom>
          <a:solidFill>
            <a:srgbClr val="FFFFFF"/>
          </a:solidFill>
          <a:ln w="12700">
            <a:solidFill>
              <a:srgbClr val="D9E2EA"/>
            </a:solidFill>
            <a:prstDash val="solid"/>
          </a:ln>
          <a:effectLst>
            <a:outerShdw sx="100000" sy="100000" kx="0" ky="0" algn="bl" rotWithShape="0" blurRad="12700" dist="50800" dir="2700000">
              <a:srgbClr val="DDE5EC">
                <a:alpha val="10000"/>
              </a:srgbClr>
            </a:outerShdw>
          </a:effectLst>
        </p:spPr>
      </p:sp>
      <p:sp>
        <p:nvSpPr>
          <p:cNvPr id="28" name="Text 26"/>
          <p:cNvSpPr/>
          <p:nvPr/>
        </p:nvSpPr>
        <p:spPr>
          <a:xfrm>
            <a:off x="6455664" y="1956816"/>
            <a:ext cx="2560320" cy="164592"/>
          </a:xfrm>
          <a:prstGeom prst="rect">
            <a:avLst/>
          </a:prstGeom>
          <a:noFill/>
          <a:ln/>
        </p:spPr>
        <p:txBody>
          <a:bodyPr wrap="square" lIns="0" tIns="0" rIns="0" bIns="0" rtlCol="0" anchor="ctr"/>
          <a:lstStyle/>
          <a:p>
            <a:pPr indent="0" marL="0">
              <a:buNone/>
            </a:pPr>
            <a:r>
              <a:rPr lang="en-US" sz="1300" b="1" dirty="0">
                <a:solidFill>
                  <a:srgbClr val="17324D"/>
                </a:solidFill>
              </a:rPr>
              <a:t>接下来最该补的三件事</a:t>
            </a:r>
            <a:endParaRPr lang="en-US" sz="1300" dirty="0"/>
          </a:p>
        </p:txBody>
      </p:sp>
      <p:sp>
        <p:nvSpPr>
          <p:cNvPr id="29" name="Shape 27"/>
          <p:cNvSpPr/>
          <p:nvPr/>
        </p:nvSpPr>
        <p:spPr>
          <a:xfrm>
            <a:off x="6419088" y="2487168"/>
            <a:ext cx="4901184" cy="749808"/>
          </a:xfrm>
          <a:prstGeom prst="roundRect">
            <a:avLst>
              <a:gd name="adj" fmla="val 9756"/>
            </a:avLst>
          </a:prstGeom>
          <a:solidFill>
            <a:srgbClr val="EEF4FF"/>
          </a:solidFill>
          <a:ln w="12700">
            <a:solidFill>
              <a:srgbClr val="EEF4FF"/>
            </a:solidFill>
            <a:prstDash val="solid"/>
          </a:ln>
          <a:effectLst>
            <a:outerShdw sx="100000" sy="100000" kx="0" ky="0" algn="bl" rotWithShape="0" blurRad="12700" dist="50800" dir="2700000">
              <a:srgbClr val="DDE5EC">
                <a:alpha val="10000"/>
              </a:srgbClr>
            </a:outerShdw>
          </a:effectLst>
        </p:spPr>
      </p:sp>
      <p:sp>
        <p:nvSpPr>
          <p:cNvPr id="30" name="Shape 28"/>
          <p:cNvSpPr/>
          <p:nvPr/>
        </p:nvSpPr>
        <p:spPr>
          <a:xfrm>
            <a:off x="6565392" y="2688336"/>
            <a:ext cx="384048" cy="219456"/>
          </a:xfrm>
          <a:prstGeom prst="roundRect">
            <a:avLst>
              <a:gd name="adj" fmla="val 25000"/>
            </a:avLst>
          </a:prstGeom>
          <a:solidFill>
            <a:srgbClr val="FFFFFF"/>
          </a:solidFill>
          <a:ln w="12700">
            <a:solidFill>
              <a:srgbClr val="FFFFFF">
                <a:alpha val="0"/>
              </a:srgbClr>
            </a:solidFill>
            <a:prstDash val="solid"/>
          </a:ln>
        </p:spPr>
      </p:sp>
      <p:sp>
        <p:nvSpPr>
          <p:cNvPr id="31" name="Text 29"/>
          <p:cNvSpPr/>
          <p:nvPr/>
        </p:nvSpPr>
        <p:spPr>
          <a:xfrm>
            <a:off x="6638544" y="2724912"/>
            <a:ext cx="237744" cy="109728"/>
          </a:xfrm>
          <a:prstGeom prst="rect">
            <a:avLst/>
          </a:prstGeom>
          <a:noFill/>
          <a:ln/>
        </p:spPr>
        <p:txBody>
          <a:bodyPr wrap="square" lIns="0" tIns="0" rIns="0" bIns="0" rtlCol="0" anchor="ctr"/>
          <a:lstStyle/>
          <a:p>
            <a:pPr algn="ctr" indent="0" marL="0">
              <a:buNone/>
            </a:pPr>
            <a:r>
              <a:rPr lang="en-US" sz="800" b="1" dirty="0">
                <a:solidFill>
                  <a:srgbClr val="17324D"/>
                </a:solidFill>
              </a:rPr>
              <a:t>1</a:t>
            </a:r>
            <a:endParaRPr lang="en-US" sz="800" dirty="0"/>
          </a:p>
        </p:txBody>
      </p:sp>
      <p:sp>
        <p:nvSpPr>
          <p:cNvPr id="32" name="Text 30"/>
          <p:cNvSpPr/>
          <p:nvPr/>
        </p:nvSpPr>
        <p:spPr>
          <a:xfrm>
            <a:off x="7095744" y="2633472"/>
            <a:ext cx="1554480" cy="128016"/>
          </a:xfrm>
          <a:prstGeom prst="rect">
            <a:avLst/>
          </a:prstGeom>
          <a:noFill/>
          <a:ln/>
        </p:spPr>
        <p:txBody>
          <a:bodyPr wrap="square" lIns="0" tIns="0" rIns="0" bIns="0" rtlCol="0" anchor="ctr"/>
          <a:lstStyle/>
          <a:p>
            <a:pPr indent="0" marL="0">
              <a:buNone/>
            </a:pPr>
            <a:r>
              <a:rPr lang="en-US" sz="1000" b="1" dirty="0">
                <a:solidFill>
                  <a:srgbClr val="17324D"/>
                </a:solidFill>
              </a:rPr>
              <a:t>先把流程跑稳</a:t>
            </a:r>
            <a:endParaRPr lang="en-US" sz="1000" dirty="0"/>
          </a:p>
        </p:txBody>
      </p:sp>
      <p:sp>
        <p:nvSpPr>
          <p:cNvPr id="33" name="Text 31"/>
          <p:cNvSpPr/>
          <p:nvPr/>
        </p:nvSpPr>
        <p:spPr>
          <a:xfrm>
            <a:off x="8833104" y="2633472"/>
            <a:ext cx="2212848" cy="256032"/>
          </a:xfrm>
          <a:prstGeom prst="rect">
            <a:avLst/>
          </a:prstGeom>
          <a:noFill/>
          <a:ln/>
        </p:spPr>
        <p:txBody>
          <a:bodyPr wrap="square" lIns="0" tIns="0" rIns="0" bIns="0" rtlCol="0" anchor="ctr"/>
          <a:lstStyle/>
          <a:p>
            <a:pPr indent="0" marL="0">
              <a:buNone/>
            </a:pPr>
            <a:r>
              <a:rPr lang="en-US" sz="860" dirty="0">
                <a:solidFill>
                  <a:srgbClr val="5B7186"/>
                </a:solidFill>
              </a:rPr>
              <a:t>先解决大任务、内网调用和 Windows 环境问题</a:t>
            </a:r>
            <a:endParaRPr lang="en-US" sz="860" dirty="0"/>
          </a:p>
        </p:txBody>
      </p:sp>
      <p:sp>
        <p:nvSpPr>
          <p:cNvPr id="34" name="Shape 32"/>
          <p:cNvSpPr/>
          <p:nvPr/>
        </p:nvSpPr>
        <p:spPr>
          <a:xfrm>
            <a:off x="6419088" y="3401568"/>
            <a:ext cx="4901184" cy="749808"/>
          </a:xfrm>
          <a:prstGeom prst="roundRect">
            <a:avLst>
              <a:gd name="adj" fmla="val 9756"/>
            </a:avLst>
          </a:prstGeom>
          <a:solidFill>
            <a:srgbClr val="E8F8F5"/>
          </a:solidFill>
          <a:ln w="12700">
            <a:solidFill>
              <a:srgbClr val="E8F8F5"/>
            </a:solidFill>
            <a:prstDash val="solid"/>
          </a:ln>
          <a:effectLst>
            <a:outerShdw sx="100000" sy="100000" kx="0" ky="0" algn="bl" rotWithShape="0" blurRad="12700" dist="50800" dir="2700000">
              <a:srgbClr val="DDE5EC">
                <a:alpha val="10000"/>
              </a:srgbClr>
            </a:outerShdw>
          </a:effectLst>
        </p:spPr>
      </p:sp>
      <p:sp>
        <p:nvSpPr>
          <p:cNvPr id="35" name="Shape 33"/>
          <p:cNvSpPr/>
          <p:nvPr/>
        </p:nvSpPr>
        <p:spPr>
          <a:xfrm>
            <a:off x="6565392" y="3602736"/>
            <a:ext cx="384048" cy="219456"/>
          </a:xfrm>
          <a:prstGeom prst="roundRect">
            <a:avLst>
              <a:gd name="adj" fmla="val 25000"/>
            </a:avLst>
          </a:prstGeom>
          <a:solidFill>
            <a:srgbClr val="FFFFFF"/>
          </a:solidFill>
          <a:ln w="12700">
            <a:solidFill>
              <a:srgbClr val="FFFFFF">
                <a:alpha val="0"/>
              </a:srgbClr>
            </a:solidFill>
            <a:prstDash val="solid"/>
          </a:ln>
        </p:spPr>
      </p:sp>
      <p:sp>
        <p:nvSpPr>
          <p:cNvPr id="36" name="Text 34"/>
          <p:cNvSpPr/>
          <p:nvPr/>
        </p:nvSpPr>
        <p:spPr>
          <a:xfrm>
            <a:off x="6638544" y="3639312"/>
            <a:ext cx="237744" cy="109728"/>
          </a:xfrm>
          <a:prstGeom prst="rect">
            <a:avLst/>
          </a:prstGeom>
          <a:noFill/>
          <a:ln/>
        </p:spPr>
        <p:txBody>
          <a:bodyPr wrap="square" lIns="0" tIns="0" rIns="0" bIns="0" rtlCol="0" anchor="ctr"/>
          <a:lstStyle/>
          <a:p>
            <a:pPr algn="ctr" indent="0" marL="0">
              <a:buNone/>
            </a:pPr>
            <a:r>
              <a:rPr lang="en-US" sz="800" b="1" dirty="0">
                <a:solidFill>
                  <a:srgbClr val="17324D"/>
                </a:solidFill>
              </a:rPr>
              <a:t>2</a:t>
            </a:r>
            <a:endParaRPr lang="en-US" sz="800" dirty="0"/>
          </a:p>
        </p:txBody>
      </p:sp>
      <p:sp>
        <p:nvSpPr>
          <p:cNvPr id="37" name="Text 35"/>
          <p:cNvSpPr/>
          <p:nvPr/>
        </p:nvSpPr>
        <p:spPr>
          <a:xfrm>
            <a:off x="7095744" y="3547872"/>
            <a:ext cx="1554480" cy="128016"/>
          </a:xfrm>
          <a:prstGeom prst="rect">
            <a:avLst/>
          </a:prstGeom>
          <a:noFill/>
          <a:ln/>
        </p:spPr>
        <p:txBody>
          <a:bodyPr wrap="square" lIns="0" tIns="0" rIns="0" bIns="0" rtlCol="0" anchor="ctr"/>
          <a:lstStyle/>
          <a:p>
            <a:pPr indent="0" marL="0">
              <a:buNone/>
            </a:pPr>
            <a:r>
              <a:rPr lang="en-US" sz="1000" b="1" dirty="0">
                <a:solidFill>
                  <a:srgbClr val="17324D"/>
                </a:solidFill>
              </a:rPr>
              <a:t>再把误报压下来</a:t>
            </a:r>
            <a:endParaRPr lang="en-US" sz="1000" dirty="0"/>
          </a:p>
        </p:txBody>
      </p:sp>
      <p:sp>
        <p:nvSpPr>
          <p:cNvPr id="38" name="Text 36"/>
          <p:cNvSpPr/>
          <p:nvPr/>
        </p:nvSpPr>
        <p:spPr>
          <a:xfrm>
            <a:off x="8833104" y="3547872"/>
            <a:ext cx="2212848" cy="256032"/>
          </a:xfrm>
          <a:prstGeom prst="rect">
            <a:avLst/>
          </a:prstGeom>
          <a:noFill/>
          <a:ln/>
        </p:spPr>
        <p:txBody>
          <a:bodyPr wrap="square" lIns="0" tIns="0" rIns="0" bIns="0" rtlCol="0" anchor="ctr"/>
          <a:lstStyle/>
          <a:p>
            <a:pPr indent="0" marL="0">
              <a:buNone/>
            </a:pPr>
            <a:r>
              <a:rPr lang="en-US" sz="860" dirty="0">
                <a:solidFill>
                  <a:srgbClr val="5B7186"/>
                </a:solidFill>
              </a:rPr>
              <a:t>继续优化规则筛选、阈值治理和上下文组装</a:t>
            </a:r>
            <a:endParaRPr lang="en-US" sz="860" dirty="0"/>
          </a:p>
        </p:txBody>
      </p:sp>
      <p:sp>
        <p:nvSpPr>
          <p:cNvPr id="39" name="Shape 37"/>
          <p:cNvSpPr/>
          <p:nvPr/>
        </p:nvSpPr>
        <p:spPr>
          <a:xfrm>
            <a:off x="6419088" y="4315968"/>
            <a:ext cx="4901184" cy="749808"/>
          </a:xfrm>
          <a:prstGeom prst="roundRect">
            <a:avLst>
              <a:gd name="adj" fmla="val 9756"/>
            </a:avLst>
          </a:prstGeom>
          <a:solidFill>
            <a:srgbClr val="FFF6E6"/>
          </a:solidFill>
          <a:ln w="12700">
            <a:solidFill>
              <a:srgbClr val="FFF6E6"/>
            </a:solidFill>
            <a:prstDash val="solid"/>
          </a:ln>
          <a:effectLst>
            <a:outerShdw sx="100000" sy="100000" kx="0" ky="0" algn="bl" rotWithShape="0" blurRad="12700" dist="50800" dir="2700000">
              <a:srgbClr val="DDE5EC">
                <a:alpha val="10000"/>
              </a:srgbClr>
            </a:outerShdw>
          </a:effectLst>
        </p:spPr>
      </p:sp>
      <p:sp>
        <p:nvSpPr>
          <p:cNvPr id="40" name="Shape 38"/>
          <p:cNvSpPr/>
          <p:nvPr/>
        </p:nvSpPr>
        <p:spPr>
          <a:xfrm>
            <a:off x="6565392" y="4517136"/>
            <a:ext cx="384048" cy="219456"/>
          </a:xfrm>
          <a:prstGeom prst="roundRect">
            <a:avLst>
              <a:gd name="adj" fmla="val 25000"/>
            </a:avLst>
          </a:prstGeom>
          <a:solidFill>
            <a:srgbClr val="FFFFFF"/>
          </a:solidFill>
          <a:ln w="12700">
            <a:solidFill>
              <a:srgbClr val="FFFFFF">
                <a:alpha val="0"/>
              </a:srgbClr>
            </a:solidFill>
            <a:prstDash val="solid"/>
          </a:ln>
        </p:spPr>
      </p:sp>
      <p:sp>
        <p:nvSpPr>
          <p:cNvPr id="41" name="Text 39"/>
          <p:cNvSpPr/>
          <p:nvPr/>
        </p:nvSpPr>
        <p:spPr>
          <a:xfrm>
            <a:off x="6638544" y="4553712"/>
            <a:ext cx="237744" cy="109728"/>
          </a:xfrm>
          <a:prstGeom prst="rect">
            <a:avLst/>
          </a:prstGeom>
          <a:noFill/>
          <a:ln/>
        </p:spPr>
        <p:txBody>
          <a:bodyPr wrap="square" lIns="0" tIns="0" rIns="0" bIns="0" rtlCol="0" anchor="ctr"/>
          <a:lstStyle/>
          <a:p>
            <a:pPr algn="ctr" indent="0" marL="0">
              <a:buNone/>
            </a:pPr>
            <a:r>
              <a:rPr lang="en-US" sz="800" b="1" dirty="0">
                <a:solidFill>
                  <a:srgbClr val="17324D"/>
                </a:solidFill>
              </a:rPr>
              <a:t>3</a:t>
            </a:r>
            <a:endParaRPr lang="en-US" sz="800" dirty="0"/>
          </a:p>
        </p:txBody>
      </p:sp>
      <p:sp>
        <p:nvSpPr>
          <p:cNvPr id="42" name="Text 40"/>
          <p:cNvSpPr/>
          <p:nvPr/>
        </p:nvSpPr>
        <p:spPr>
          <a:xfrm>
            <a:off x="7095744" y="4462272"/>
            <a:ext cx="1554480" cy="128016"/>
          </a:xfrm>
          <a:prstGeom prst="rect">
            <a:avLst/>
          </a:prstGeom>
          <a:noFill/>
          <a:ln/>
        </p:spPr>
        <p:txBody>
          <a:bodyPr wrap="square" lIns="0" tIns="0" rIns="0" bIns="0" rtlCol="0" anchor="ctr"/>
          <a:lstStyle/>
          <a:p>
            <a:pPr indent="0" marL="0">
              <a:buNone/>
            </a:pPr>
            <a:r>
              <a:rPr lang="en-US" sz="1000" b="1" dirty="0">
                <a:solidFill>
                  <a:srgbClr val="17324D"/>
                </a:solidFill>
              </a:rPr>
              <a:t>把关键专家做深</a:t>
            </a:r>
            <a:endParaRPr lang="en-US" sz="1000" dirty="0"/>
          </a:p>
        </p:txBody>
      </p:sp>
      <p:sp>
        <p:nvSpPr>
          <p:cNvPr id="43" name="Text 41"/>
          <p:cNvSpPr/>
          <p:nvPr/>
        </p:nvSpPr>
        <p:spPr>
          <a:xfrm>
            <a:off x="8833104" y="4462272"/>
            <a:ext cx="2212848" cy="256032"/>
          </a:xfrm>
          <a:prstGeom prst="rect">
            <a:avLst/>
          </a:prstGeom>
          <a:noFill/>
          <a:ln/>
        </p:spPr>
        <p:txBody>
          <a:bodyPr wrap="square" lIns="0" tIns="0" rIns="0" bIns="0" rtlCol="0" anchor="ctr"/>
          <a:lstStyle/>
          <a:p>
            <a:pPr indent="0" marL="0">
              <a:buNone/>
            </a:pPr>
            <a:r>
              <a:rPr lang="en-US" sz="860" dirty="0">
                <a:solidFill>
                  <a:srgbClr val="5B7186"/>
                </a:solidFill>
              </a:rPr>
              <a:t>重点增强架构、业务正确性、数据库和性能专家</a:t>
            </a:r>
            <a:endParaRPr lang="en-US" sz="860" dirty="0"/>
          </a:p>
        </p:txBody>
      </p:sp>
      <p:sp>
        <p:nvSpPr>
          <p:cNvPr id="44" name="Shape 42"/>
          <p:cNvSpPr/>
          <p:nvPr/>
        </p:nvSpPr>
        <p:spPr>
          <a:xfrm>
            <a:off x="1024128" y="5669280"/>
            <a:ext cx="10058400" cy="219456"/>
          </a:xfrm>
          <a:prstGeom prst="roundRect">
            <a:avLst>
              <a:gd name="adj" fmla="val 25000"/>
            </a:avLst>
          </a:prstGeom>
          <a:solidFill>
            <a:srgbClr val="E8F8F5"/>
          </a:solidFill>
          <a:ln w="12700">
            <a:solidFill>
              <a:srgbClr val="E8F8F5">
                <a:alpha val="0"/>
              </a:srgbClr>
            </a:solidFill>
            <a:prstDash val="solid"/>
          </a:ln>
        </p:spPr>
      </p:sp>
      <p:sp>
        <p:nvSpPr>
          <p:cNvPr id="45" name="Text 43"/>
          <p:cNvSpPr/>
          <p:nvPr/>
        </p:nvSpPr>
        <p:spPr>
          <a:xfrm>
            <a:off x="1097280" y="5705856"/>
            <a:ext cx="9912096" cy="109728"/>
          </a:xfrm>
          <a:prstGeom prst="rect">
            <a:avLst/>
          </a:prstGeom>
          <a:noFill/>
          <a:ln/>
        </p:spPr>
        <p:txBody>
          <a:bodyPr wrap="square" lIns="0" tIns="0" rIns="0" bIns="0" rtlCol="0" anchor="ctr"/>
          <a:lstStyle/>
          <a:p>
            <a:pPr algn="ctr" indent="0" marL="0">
              <a:buNone/>
            </a:pPr>
            <a:r>
              <a:rPr lang="en-US" sz="800" b="1" dirty="0">
                <a:solidFill>
                  <a:srgbClr val="0F766E"/>
                </a:solidFill>
              </a:rPr>
              <a:t>这套系统已经证明方向成立。下一阶段的重点，不是继续堆功能，而是把这份价值更稳定、更可信地交付出来。</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多专家代码审查系统简介 v3</dc:title>
  <dc:subject>Multi Code Review Agent v3</dc:subject>
  <dc:creator>Codex</dc:creator>
  <cp:lastModifiedBy>Codex</cp:lastModifiedBy>
  <cp:revision>1</cp:revision>
  <dcterms:created xsi:type="dcterms:W3CDTF">2026-04-15T02:40:19Z</dcterms:created>
  <dcterms:modified xsi:type="dcterms:W3CDTF">2026-04-15T02:40:19Z</dcterms:modified>
</cp:coreProperties>
</file>
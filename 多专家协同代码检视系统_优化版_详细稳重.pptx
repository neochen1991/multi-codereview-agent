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 LangGraph overview: https://docs.langchain.com/oss/python/langgraph/overview
- LangGraph graph API: https://docs.langchain.com/oss/python/langgraph/graph-api
- AutoGen AgentChat: https://microsoft.github.io/autogen/stable/user-guide/agentchat-user-guide/index.html
- AutoGen Agents: https://microsoft.github.io/autogen/stable/user-guide/agentchat-user-guide/tutorial/agents.html
- CrewAI docs: https://docs.crewai.com/
- CrewAI agents: https://docs.crewai.com/en/concepts/agents
- Semantic Kernel overview: https://learn.microsoft.com/en-us/semantic-kernel/
- Semantic Kernel Agent Orchestration: https://learn.microsoft.com/en-us/semantic-kernel/frameworks/agent/agent-orchestration/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用户上传文稿：/mnt/data/粘贴的文本 (1).txt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E"/>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noFill/>
          <a:ln w="12700">
            <a:solidFill>
              <a:srgbClr val="0E5AA7"/>
            </a:solidFill>
            <a:prstDash val="solid"/>
          </a:ln>
        </p:spPr>
      </p:sp>
      <p:sp>
        <p:nvSpPr>
          <p:cNvPr id="3" name="Shape 1"/>
          <p:cNvSpPr/>
          <p:nvPr/>
        </p:nvSpPr>
        <p:spPr>
          <a:xfrm>
            <a:off x="0" y="6565392"/>
            <a:ext cx="12191695" cy="292608"/>
          </a:xfrm>
          <a:prstGeom prst="rect">
            <a:avLst/>
          </a:prstGeom>
          <a:noFill/>
          <a:ln w="12700">
            <a:solidFill>
              <a:srgbClr val="EAF2FB"/>
            </a:solidFill>
            <a:prstDash val="solid"/>
          </a:ln>
        </p:spPr>
      </p:sp>
      <p:sp>
        <p:nvSpPr>
          <p:cNvPr id="4" name="Text 2"/>
          <p:cNvSpPr/>
          <p:nvPr/>
        </p:nvSpPr>
        <p:spPr>
          <a:xfrm>
            <a:off x="411480" y="6583680"/>
            <a:ext cx="11247120" cy="164592"/>
          </a:xfrm>
          <a:prstGeom prst="rect">
            <a:avLst/>
          </a:prstGeom>
          <a:noFill/>
          <a:ln/>
        </p:spPr>
        <p:txBody>
          <a:bodyPr wrap="square" rtlCol="0" anchor="ctr"/>
          <a:lstStyle/>
          <a:p>
            <a:pP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Shape 0"/>
          <p:cNvSpPr/>
          <p:nvPr/>
        </p:nvSpPr>
        <p:spPr>
          <a:xfrm>
            <a:off x="731520" y="1261872"/>
            <a:ext cx="7406640" cy="1874520"/>
          </a:xfrm>
          <a:prstGeom prst="roundRect">
            <a:avLst/>
          </a:prstGeom>
          <a:solidFill>
            <a:srgbClr val="FFFFFF">
              <a:alpha val="92000"/>
            </a:srgbClr>
          </a:solidFill>
          <a:ln w="12700">
            <a:solidFill>
              <a:srgbClr val="D8E6F5"/>
            </a:solidFill>
            <a:prstDash val="solid"/>
          </a:ln>
        </p:spPr>
      </p:sp>
      <p:sp>
        <p:nvSpPr>
          <p:cNvPr id="4" name="Text 1"/>
          <p:cNvSpPr/>
          <p:nvPr/>
        </p:nvSpPr>
        <p:spPr>
          <a:xfrm>
            <a:off x="960120" y="1572768"/>
            <a:ext cx="6949440" cy="566928"/>
          </a:xfrm>
          <a:prstGeom prst="rect">
            <a:avLst/>
          </a:prstGeom>
          <a:noFill/>
          <a:ln/>
        </p:spPr>
        <p:txBody>
          <a:bodyPr wrap="square" lIns="0" tIns="0" rIns="0" bIns="0" rtlCol="0" anchor="ctr"/>
          <a:lstStyle/>
          <a:p>
            <a:pPr indent="0" marL="0">
              <a:buNone/>
            </a:pPr>
            <a:r>
              <a:rPr lang="en-US" sz="2500" b="1" dirty="0">
                <a:solidFill>
                  <a:srgbClr val="0E5AA7"/>
                </a:solidFill>
              </a:rPr>
              <a:t>多专家协同代码检视系统</a:t>
            </a:r>
            <a:endParaRPr lang="en-US" sz="2500" dirty="0"/>
          </a:p>
        </p:txBody>
      </p:sp>
      <p:sp>
        <p:nvSpPr>
          <p:cNvPr id="5" name="Text 2"/>
          <p:cNvSpPr/>
          <p:nvPr/>
        </p:nvSpPr>
        <p:spPr>
          <a:xfrm>
            <a:off x="987552" y="2194560"/>
            <a:ext cx="6217920" cy="256032"/>
          </a:xfrm>
          <a:prstGeom prst="rect">
            <a:avLst/>
          </a:prstGeom>
          <a:noFill/>
          <a:ln/>
        </p:spPr>
        <p:txBody>
          <a:bodyPr wrap="square" lIns="0" tIns="0" rIns="0" bIns="0" rtlCol="0" anchor="ctr"/>
          <a:lstStyle/>
          <a:p>
            <a:pPr indent="0" marL="0">
              <a:buNone/>
            </a:pPr>
            <a:r>
              <a:rPr lang="en-US" sz="1650" dirty="0">
                <a:solidFill>
                  <a:srgbClr val="1F2D3D"/>
                </a:solidFill>
              </a:rPr>
              <a:t>组织级代码质量能力建设的实现思路与推进建议</a:t>
            </a:r>
            <a:endParaRPr lang="en-US" sz="1650" dirty="0"/>
          </a:p>
        </p:txBody>
      </p:sp>
      <p:sp>
        <p:nvSpPr>
          <p:cNvPr id="6" name="Text 3"/>
          <p:cNvSpPr/>
          <p:nvPr/>
        </p:nvSpPr>
        <p:spPr>
          <a:xfrm>
            <a:off x="987552" y="2578608"/>
            <a:ext cx="6583680" cy="475488"/>
          </a:xfrm>
          <a:prstGeom prst="rect">
            <a:avLst/>
          </a:prstGeom>
          <a:noFill/>
          <a:ln/>
        </p:spPr>
        <p:txBody>
          <a:bodyPr wrap="square" lIns="0" tIns="0" rIns="0" bIns="0" rtlCol="0" anchor="ctr"/>
          <a:lstStyle/>
          <a:p>
            <a:pPr indent="0" marL="0">
              <a:buNone/>
            </a:pPr>
            <a:r>
              <a:rPr lang="en-US" sz="1320" dirty="0">
                <a:solidFill>
                  <a:srgbClr val="556677"/>
                </a:solidFill>
              </a:rPr>
              <a:t>把依赖个人经验的 Code Review，逐步沉淀为可复制、可追溯、可治理的质量把关机制</a:t>
            </a:r>
            <a:endParaRPr lang="en-US" sz="1320" dirty="0"/>
          </a:p>
        </p:txBody>
      </p:sp>
      <p:sp>
        <p:nvSpPr>
          <p:cNvPr id="7" name="Shape 4"/>
          <p:cNvSpPr/>
          <p:nvPr/>
        </p:nvSpPr>
        <p:spPr>
          <a:xfrm>
            <a:off x="8503920" y="1325880"/>
            <a:ext cx="2834640" cy="1005840"/>
          </a:xfrm>
          <a:prstGeom prst="roundRect">
            <a:avLst/>
          </a:prstGeom>
          <a:solidFill>
            <a:srgbClr val="FFFFFF"/>
          </a:solidFill>
          <a:ln w="12700">
            <a:solidFill>
              <a:srgbClr val="BFD3EA"/>
            </a:solidFill>
            <a:prstDash val="solid"/>
          </a:ln>
        </p:spPr>
      </p:sp>
      <p:sp>
        <p:nvSpPr>
          <p:cNvPr id="8" name="Shape 5"/>
          <p:cNvSpPr/>
          <p:nvPr/>
        </p:nvSpPr>
        <p:spPr>
          <a:xfrm>
            <a:off x="8668512" y="1472184"/>
            <a:ext cx="73152" cy="713232"/>
          </a:xfrm>
          <a:prstGeom prst="roundRect">
            <a:avLst/>
          </a:prstGeom>
          <a:solidFill>
            <a:srgbClr val="1E74C6"/>
          </a:solidFill>
          <a:ln w="12700">
            <a:solidFill>
              <a:srgbClr val="1E74C6"/>
            </a:solidFill>
            <a:prstDash val="solid"/>
          </a:ln>
        </p:spPr>
      </p:sp>
      <p:sp>
        <p:nvSpPr>
          <p:cNvPr id="9" name="Text 6"/>
          <p:cNvSpPr/>
          <p:nvPr/>
        </p:nvSpPr>
        <p:spPr>
          <a:xfrm>
            <a:off x="8823960" y="1490472"/>
            <a:ext cx="2423160" cy="201168"/>
          </a:xfrm>
          <a:prstGeom prst="rect">
            <a:avLst/>
          </a:prstGeom>
          <a:noFill/>
          <a:ln/>
        </p:spPr>
        <p:txBody>
          <a:bodyPr wrap="square" lIns="0" tIns="0" rIns="0" bIns="0" rtlCol="0" anchor="ctr"/>
          <a:lstStyle/>
          <a:p>
            <a:pPr indent="0" marL="0">
              <a:buNone/>
            </a:pPr>
            <a:r>
              <a:rPr lang="en-US" sz="1450" b="1" dirty="0">
                <a:solidFill>
                  <a:srgbClr val="0E5AA7"/>
                </a:solidFill>
              </a:rPr>
              <a:t>汇报重点</a:t>
            </a:r>
            <a:endParaRPr lang="en-US" sz="1450" dirty="0"/>
          </a:p>
        </p:txBody>
      </p:sp>
      <p:sp>
        <p:nvSpPr>
          <p:cNvPr id="10" name="Text 7"/>
          <p:cNvSpPr/>
          <p:nvPr/>
        </p:nvSpPr>
        <p:spPr>
          <a:xfrm>
            <a:off x="8823960" y="1764792"/>
            <a:ext cx="2423160" cy="47548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为什么要做、多Agent为什么有效、系统如何落地、框架如何选型、试点如何推进</a:t>
            </a:r>
            <a:endParaRPr lang="en-US" sz="1150" dirty="0"/>
          </a:p>
        </p:txBody>
      </p:sp>
      <p:sp>
        <p:nvSpPr>
          <p:cNvPr id="11" name="Shape 8"/>
          <p:cNvSpPr/>
          <p:nvPr/>
        </p:nvSpPr>
        <p:spPr>
          <a:xfrm>
            <a:off x="8503920" y="2560320"/>
            <a:ext cx="2834640" cy="1005840"/>
          </a:xfrm>
          <a:prstGeom prst="roundRect">
            <a:avLst/>
          </a:prstGeom>
          <a:solidFill>
            <a:srgbClr val="FFFFFF"/>
          </a:solidFill>
          <a:ln w="12700">
            <a:solidFill>
              <a:srgbClr val="BFD3EA"/>
            </a:solidFill>
            <a:prstDash val="solid"/>
          </a:ln>
        </p:spPr>
      </p:sp>
      <p:sp>
        <p:nvSpPr>
          <p:cNvPr id="12" name="Shape 9"/>
          <p:cNvSpPr/>
          <p:nvPr/>
        </p:nvSpPr>
        <p:spPr>
          <a:xfrm>
            <a:off x="8668512" y="2706624"/>
            <a:ext cx="73152" cy="713232"/>
          </a:xfrm>
          <a:prstGeom prst="roundRect">
            <a:avLst/>
          </a:prstGeom>
          <a:solidFill>
            <a:srgbClr val="2F8F6B"/>
          </a:solidFill>
          <a:ln w="12700">
            <a:solidFill>
              <a:srgbClr val="2F8F6B"/>
            </a:solidFill>
            <a:prstDash val="solid"/>
          </a:ln>
        </p:spPr>
      </p:sp>
      <p:sp>
        <p:nvSpPr>
          <p:cNvPr id="13" name="Text 10"/>
          <p:cNvSpPr/>
          <p:nvPr/>
        </p:nvSpPr>
        <p:spPr>
          <a:xfrm>
            <a:off x="8823960" y="2724912"/>
            <a:ext cx="2423160" cy="201168"/>
          </a:xfrm>
          <a:prstGeom prst="rect">
            <a:avLst/>
          </a:prstGeom>
          <a:noFill/>
          <a:ln/>
        </p:spPr>
        <p:txBody>
          <a:bodyPr wrap="square" lIns="0" tIns="0" rIns="0" bIns="0" rtlCol="0" anchor="ctr"/>
          <a:lstStyle/>
          <a:p>
            <a:pPr indent="0" marL="0">
              <a:buNone/>
            </a:pPr>
            <a:r>
              <a:rPr lang="en-US" sz="1450" b="1" dirty="0">
                <a:solidFill>
                  <a:srgbClr val="0E5AA7"/>
                </a:solidFill>
              </a:rPr>
              <a:t>适用对象</a:t>
            </a:r>
            <a:endParaRPr lang="en-US" sz="1450" dirty="0"/>
          </a:p>
        </p:txBody>
      </p:sp>
      <p:sp>
        <p:nvSpPr>
          <p:cNvPr id="14" name="Text 11"/>
          <p:cNvSpPr/>
          <p:nvPr/>
        </p:nvSpPr>
        <p:spPr>
          <a:xfrm>
            <a:off x="8823960" y="2999232"/>
            <a:ext cx="2423160" cy="47548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技术管理层、研发负责人、平台团队、质量治理相关角色</a:t>
            </a:r>
            <a:endParaRPr lang="en-US" sz="1150" dirty="0"/>
          </a:p>
        </p:txBody>
      </p:sp>
      <p:sp>
        <p:nvSpPr>
          <p:cNvPr id="15" name="Text 12"/>
          <p:cNvSpPr/>
          <p:nvPr/>
        </p:nvSpPr>
        <p:spPr>
          <a:xfrm>
            <a:off x="960120" y="5394960"/>
            <a:ext cx="4389120" cy="201168"/>
          </a:xfrm>
          <a:prstGeom prst="rect">
            <a:avLst/>
          </a:prstGeom>
          <a:noFill/>
          <a:ln/>
        </p:spPr>
        <p:txBody>
          <a:bodyPr wrap="square" rtlCol="0" anchor="ctr"/>
          <a:lstStyle/>
          <a:p>
            <a:pPr indent="0" marL="0">
              <a:buNone/>
            </a:pPr>
            <a:r>
              <a:rPr lang="en-US" sz="1150" dirty="0">
                <a:solidFill>
                  <a:srgbClr val="556677"/>
                </a:solidFill>
              </a:rPr>
              <a:t>蓝白企业汇报版｜正文增强｜版式安全区优化</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项目背景：为什么传统 Code Review 不够了</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从个体经验式审查，走向稳定、可复制的质量机制</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背景</a:t>
            </a:r>
            <a:endParaRPr lang="en-US" sz="1050" dirty="0"/>
          </a:p>
        </p:txBody>
      </p:sp>
      <p:sp>
        <p:nvSpPr>
          <p:cNvPr id="5" name="Text 3"/>
          <p:cNvSpPr/>
          <p:nvPr/>
        </p:nvSpPr>
        <p:spPr>
          <a:xfrm>
            <a:off x="640080" y="1234440"/>
            <a:ext cx="6583680" cy="4480560"/>
          </a:xfrm>
          <a:prstGeom prst="rect">
            <a:avLst/>
          </a:prstGeom>
          <a:noFill/>
          <a:ln/>
        </p:spPr>
        <p:txBody>
          <a:bodyPr wrap="square" rtlCol="0" anchor="ctr">
            <a:normAutofit/>
          </a:bodyPr>
          <a:lstStyle/>
          <a:p>
            <a:pPr indent="0" marL="0">
              <a:buNone/>
            </a:pPr>
            <a:r>
              <a:rPr lang="en-US" sz="1540" b="1" dirty="0">
                <a:solidFill>
                  <a:srgbClr val="1E74C6"/>
                </a:solidFill>
              </a:rPr>
              <a:t>• </a:t>
            </a:r>
            <a:pPr indent="0" marL="0">
              <a:buNone/>
            </a:pPr>
            <a:r>
              <a:rPr lang="en-US" sz="1540" dirty="0">
                <a:solidFill>
                  <a:srgbClr val="1F2D3D"/>
                </a:solidFill>
              </a:rPr>
              <a:t>随着系统规模和协作人数增加，人工 Review 对个人经验、时间和责任心的依赖越来越明显。不同评审人关注点不同，导致同类问题在不同项目中的检出率和处理口径并不一致。</a:t>
            </a:r>
            <a:endParaRPr lang="en-US" sz="1540" dirty="0"/>
          </a:p>
          <a:p>
            <a:pPr indent="0" marL="0">
              <a:buNone/>
            </a:pPr>
            <a:r>
              <a:rPr lang="en-US" sz="1540" b="1" dirty="0">
                <a:solidFill>
                  <a:srgbClr val="1E74C6"/>
                </a:solidFill>
              </a:rPr>
              <a:t>• </a:t>
            </a:r>
            <a:pPr indent="0" marL="0">
              <a:buNone/>
            </a:pPr>
            <a:r>
              <a:rPr lang="en-US" sz="1540" dirty="0">
                <a:solidFill>
                  <a:srgbClr val="1F2D3D"/>
                </a:solidFill>
              </a:rPr>
              <a:t>单一评审角色很难同时兼顾业务规则、安全边界、性能风险、架构约束和测试充分性。尤其在业务复杂、跨模块改动较多时，人工往往只能优先看“看得见”的局部问题。</a:t>
            </a:r>
            <a:endParaRPr lang="en-US" sz="1540" dirty="0"/>
          </a:p>
          <a:p>
            <a:pPr indent="0" marL="0">
              <a:buNone/>
            </a:pPr>
            <a:r>
              <a:rPr lang="en-US" sz="1540" b="1" dirty="0">
                <a:solidFill>
                  <a:srgbClr val="1E74C6"/>
                </a:solidFill>
              </a:rPr>
              <a:t>• </a:t>
            </a:r>
            <a:pPr indent="0" marL="0">
              <a:buNone/>
            </a:pPr>
            <a:r>
              <a:rPr lang="en-US" sz="1540" dirty="0">
                <a:solidFill>
                  <a:srgbClr val="1F2D3D"/>
                </a:solidFill>
              </a:rPr>
              <a:t>传统规则类工具适合发现格式类、静态模式类问题，但对跨文件调用链、业务语义偏差、事务边界、权限校验等复杂问题识别能力有限，难以替代真正的审查判断。</a:t>
            </a:r>
            <a:endParaRPr lang="en-US" sz="1540" dirty="0"/>
          </a:p>
          <a:p>
            <a:pPr indent="0" marL="0">
              <a:buNone/>
            </a:pPr>
            <a:r>
              <a:rPr lang="en-US" sz="1540" b="1" dirty="0">
                <a:solidFill>
                  <a:srgbClr val="1E74C6"/>
                </a:solidFill>
              </a:rPr>
              <a:t>• </a:t>
            </a:r>
            <a:pPr indent="0" marL="0">
              <a:buNone/>
            </a:pPr>
            <a:r>
              <a:rPr lang="en-US" sz="1540" dirty="0">
                <a:solidFill>
                  <a:srgbClr val="1F2D3D"/>
                </a:solidFill>
              </a:rPr>
              <a:t>研发组织真正缺的不是“再快一点看代码”，而是让质量控制从依赖少数人，逐步变成组织可以复用、复盘和治理的基础能力。</a:t>
            </a:r>
            <a:endParaRPr lang="en-US" sz="1540" dirty="0"/>
          </a:p>
        </p:txBody>
      </p:sp>
      <p:sp>
        <p:nvSpPr>
          <p:cNvPr id="6" name="Shape 4"/>
          <p:cNvSpPr/>
          <p:nvPr/>
        </p:nvSpPr>
        <p:spPr>
          <a:xfrm>
            <a:off x="7635240" y="1417320"/>
            <a:ext cx="3794760" cy="1051560"/>
          </a:xfrm>
          <a:prstGeom prst="roundRect">
            <a:avLst/>
          </a:prstGeom>
          <a:solidFill>
            <a:srgbClr val="FFFFFF"/>
          </a:solidFill>
          <a:ln w="12700">
            <a:solidFill>
              <a:srgbClr val="BFD3EA"/>
            </a:solidFill>
            <a:prstDash val="solid"/>
          </a:ln>
        </p:spPr>
      </p:sp>
      <p:sp>
        <p:nvSpPr>
          <p:cNvPr id="7" name="Shape 5"/>
          <p:cNvSpPr/>
          <p:nvPr/>
        </p:nvSpPr>
        <p:spPr>
          <a:xfrm>
            <a:off x="7799832" y="1563624"/>
            <a:ext cx="73152" cy="758952"/>
          </a:xfrm>
          <a:prstGeom prst="roundRect">
            <a:avLst/>
          </a:prstGeom>
          <a:solidFill>
            <a:srgbClr val="C94F4F"/>
          </a:solidFill>
          <a:ln w="12700">
            <a:solidFill>
              <a:srgbClr val="C94F4F"/>
            </a:solidFill>
            <a:prstDash val="solid"/>
          </a:ln>
        </p:spPr>
      </p:sp>
      <p:sp>
        <p:nvSpPr>
          <p:cNvPr id="8" name="Text 6"/>
          <p:cNvSpPr/>
          <p:nvPr/>
        </p:nvSpPr>
        <p:spPr>
          <a:xfrm>
            <a:off x="7955280" y="1581912"/>
            <a:ext cx="3383280" cy="201168"/>
          </a:xfrm>
          <a:prstGeom prst="rect">
            <a:avLst/>
          </a:prstGeom>
          <a:noFill/>
          <a:ln/>
        </p:spPr>
        <p:txBody>
          <a:bodyPr wrap="square" lIns="0" tIns="0" rIns="0" bIns="0" rtlCol="0" anchor="ctr"/>
          <a:lstStyle/>
          <a:p>
            <a:pPr indent="0" marL="0">
              <a:buNone/>
            </a:pPr>
            <a:r>
              <a:rPr lang="en-US" sz="1450" b="1" dirty="0">
                <a:solidFill>
                  <a:srgbClr val="0E5AA7"/>
                </a:solidFill>
              </a:rPr>
              <a:t>人工评审的主要局限</a:t>
            </a:r>
            <a:endParaRPr lang="en-US" sz="1450" dirty="0"/>
          </a:p>
        </p:txBody>
      </p:sp>
      <p:sp>
        <p:nvSpPr>
          <p:cNvPr id="9" name="Text 7"/>
          <p:cNvSpPr/>
          <p:nvPr/>
        </p:nvSpPr>
        <p:spPr>
          <a:xfrm>
            <a:off x="7955280" y="1856232"/>
            <a:ext cx="3383280" cy="52120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看得慢：MR大、上下文多时，评审人难以在有限时间内看全；</a:t>
            </a:r>
            <a:endParaRPr lang="en-US" sz="1150" dirty="0"/>
          </a:p>
          <a:p>
            <a:pPr indent="0" marL="0">
              <a:buNone/>
            </a:pPr>
            <a:r>
              <a:rPr lang="en-US" sz="1150" dirty="0">
                <a:solidFill>
                  <a:srgbClr val="1F2D3D"/>
                </a:solidFill>
              </a:rPr>
              <a:t>看得不一致：不同人关注点不同，同类问题口径不统一。</a:t>
            </a:r>
            <a:endParaRPr lang="en-US" sz="1150" dirty="0"/>
          </a:p>
        </p:txBody>
      </p:sp>
      <p:sp>
        <p:nvSpPr>
          <p:cNvPr id="10" name="Shape 8"/>
          <p:cNvSpPr/>
          <p:nvPr/>
        </p:nvSpPr>
        <p:spPr>
          <a:xfrm>
            <a:off x="7635240" y="2697480"/>
            <a:ext cx="3794760" cy="1051560"/>
          </a:xfrm>
          <a:prstGeom prst="roundRect">
            <a:avLst/>
          </a:prstGeom>
          <a:solidFill>
            <a:srgbClr val="FFFFFF"/>
          </a:solidFill>
          <a:ln w="12700">
            <a:solidFill>
              <a:srgbClr val="BFD3EA"/>
            </a:solidFill>
            <a:prstDash val="solid"/>
          </a:ln>
        </p:spPr>
      </p:sp>
      <p:sp>
        <p:nvSpPr>
          <p:cNvPr id="11" name="Shape 9"/>
          <p:cNvSpPr/>
          <p:nvPr/>
        </p:nvSpPr>
        <p:spPr>
          <a:xfrm>
            <a:off x="7799832" y="2843784"/>
            <a:ext cx="73152" cy="758952"/>
          </a:xfrm>
          <a:prstGeom prst="roundRect">
            <a:avLst/>
          </a:prstGeom>
          <a:solidFill>
            <a:srgbClr val="D98B1D"/>
          </a:solidFill>
          <a:ln w="12700">
            <a:solidFill>
              <a:srgbClr val="D98B1D"/>
            </a:solidFill>
            <a:prstDash val="solid"/>
          </a:ln>
        </p:spPr>
      </p:sp>
      <p:sp>
        <p:nvSpPr>
          <p:cNvPr id="12" name="Text 10"/>
          <p:cNvSpPr/>
          <p:nvPr/>
        </p:nvSpPr>
        <p:spPr>
          <a:xfrm>
            <a:off x="7955280" y="2862072"/>
            <a:ext cx="3383280" cy="201168"/>
          </a:xfrm>
          <a:prstGeom prst="rect">
            <a:avLst/>
          </a:prstGeom>
          <a:noFill/>
          <a:ln/>
        </p:spPr>
        <p:txBody>
          <a:bodyPr wrap="square" lIns="0" tIns="0" rIns="0" bIns="0" rtlCol="0" anchor="ctr"/>
          <a:lstStyle/>
          <a:p>
            <a:pPr indent="0" marL="0">
              <a:buNone/>
            </a:pPr>
            <a:r>
              <a:rPr lang="en-US" sz="1450" b="1" dirty="0">
                <a:solidFill>
                  <a:srgbClr val="0E5AA7"/>
                </a:solidFill>
              </a:rPr>
              <a:t>单角色审查的盲区</a:t>
            </a:r>
            <a:endParaRPr lang="en-US" sz="1450" dirty="0"/>
          </a:p>
        </p:txBody>
      </p:sp>
      <p:sp>
        <p:nvSpPr>
          <p:cNvPr id="13" name="Text 11"/>
          <p:cNvSpPr/>
          <p:nvPr/>
        </p:nvSpPr>
        <p:spPr>
          <a:xfrm>
            <a:off x="7955280" y="3136392"/>
            <a:ext cx="3383280" cy="52120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业务、安全、性能、架构、测试常常混在一起，任何一位评审人都不太可能长期兼顾全部维度。</a:t>
            </a:r>
            <a:endParaRPr lang="en-US" sz="1150" dirty="0"/>
          </a:p>
        </p:txBody>
      </p:sp>
      <p:sp>
        <p:nvSpPr>
          <p:cNvPr id="14" name="Shape 12"/>
          <p:cNvSpPr/>
          <p:nvPr/>
        </p:nvSpPr>
        <p:spPr>
          <a:xfrm>
            <a:off x="7635240" y="3977640"/>
            <a:ext cx="3794760" cy="1051560"/>
          </a:xfrm>
          <a:prstGeom prst="roundRect">
            <a:avLst/>
          </a:prstGeom>
          <a:solidFill>
            <a:srgbClr val="FFFFFF"/>
          </a:solidFill>
          <a:ln w="12700">
            <a:solidFill>
              <a:srgbClr val="BFD3EA"/>
            </a:solidFill>
            <a:prstDash val="solid"/>
          </a:ln>
        </p:spPr>
      </p:sp>
      <p:sp>
        <p:nvSpPr>
          <p:cNvPr id="15" name="Shape 13"/>
          <p:cNvSpPr/>
          <p:nvPr/>
        </p:nvSpPr>
        <p:spPr>
          <a:xfrm>
            <a:off x="7799832" y="4123944"/>
            <a:ext cx="73152" cy="758952"/>
          </a:xfrm>
          <a:prstGeom prst="roundRect">
            <a:avLst/>
          </a:prstGeom>
          <a:solidFill>
            <a:srgbClr val="2F8F6B"/>
          </a:solidFill>
          <a:ln w="12700">
            <a:solidFill>
              <a:srgbClr val="2F8F6B"/>
            </a:solidFill>
            <a:prstDash val="solid"/>
          </a:ln>
        </p:spPr>
      </p:sp>
      <p:sp>
        <p:nvSpPr>
          <p:cNvPr id="16" name="Text 14"/>
          <p:cNvSpPr/>
          <p:nvPr/>
        </p:nvSpPr>
        <p:spPr>
          <a:xfrm>
            <a:off x="7955280" y="4142232"/>
            <a:ext cx="3383280" cy="201168"/>
          </a:xfrm>
          <a:prstGeom prst="rect">
            <a:avLst/>
          </a:prstGeom>
          <a:noFill/>
          <a:ln/>
        </p:spPr>
        <p:txBody>
          <a:bodyPr wrap="square" lIns="0" tIns="0" rIns="0" bIns="0" rtlCol="0" anchor="ctr"/>
          <a:lstStyle/>
          <a:p>
            <a:pPr indent="0" marL="0">
              <a:buNone/>
            </a:pPr>
            <a:r>
              <a:rPr lang="en-US" sz="1450" b="1" dirty="0">
                <a:solidFill>
                  <a:srgbClr val="0E5AA7"/>
                </a:solidFill>
              </a:rPr>
              <a:t>规则工具的边界</a:t>
            </a:r>
            <a:endParaRPr lang="en-US" sz="1450" dirty="0"/>
          </a:p>
        </p:txBody>
      </p:sp>
      <p:sp>
        <p:nvSpPr>
          <p:cNvPr id="17" name="Text 15"/>
          <p:cNvSpPr/>
          <p:nvPr/>
        </p:nvSpPr>
        <p:spPr>
          <a:xfrm>
            <a:off x="7955280" y="4416552"/>
            <a:ext cx="3383280" cy="52120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规则可以兜住已知模式，但面对复杂业务语义和跨上下文问题时，仍需要更强的协同分析机制。</a:t>
            </a:r>
            <a:endParaRPr lang="en-US" sz="1150" dirty="0"/>
          </a:p>
        </p:txBody>
      </p:sp>
      <p:sp>
        <p:nvSpPr>
          <p:cNvPr id="18" name="Shape 16"/>
          <p:cNvSpPr/>
          <p:nvPr/>
        </p:nvSpPr>
        <p:spPr>
          <a:xfrm>
            <a:off x="594360" y="5989320"/>
            <a:ext cx="10972800" cy="384048"/>
          </a:xfrm>
          <a:prstGeom prst="roundRect">
            <a:avLst/>
          </a:prstGeom>
          <a:solidFill>
            <a:srgbClr val="E8F1FB"/>
          </a:solidFill>
          <a:ln w="12700">
            <a:solidFill>
              <a:srgbClr val="D2E2F5"/>
            </a:solidFill>
            <a:prstDash val="solid"/>
          </a:ln>
        </p:spPr>
      </p:sp>
      <p:sp>
        <p:nvSpPr>
          <p:cNvPr id="19" name="Text 17"/>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要解决的核心不是“让某个人更辛苦地审得更快”，而是把分散在个人身上的审查能力沉淀成可复制的组织机制。</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本项目的核心优点</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从个人经验到平台能力，从一次性判断到闭环治理</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价值</a:t>
            </a:r>
            <a:endParaRPr lang="en-US" sz="1050" dirty="0"/>
          </a:p>
        </p:txBody>
      </p:sp>
      <p:sp>
        <p:nvSpPr>
          <p:cNvPr id="5" name="Shape 3"/>
          <p:cNvSpPr/>
          <p:nvPr/>
        </p:nvSpPr>
        <p:spPr>
          <a:xfrm>
            <a:off x="777240" y="1417320"/>
            <a:ext cx="2148840" cy="713232"/>
          </a:xfrm>
          <a:prstGeom prst="roundRect">
            <a:avLst/>
          </a:prstGeom>
          <a:solidFill>
            <a:srgbClr val="FFFFFF"/>
          </a:solidFill>
          <a:ln w="12700">
            <a:solidFill>
              <a:srgbClr val="BFD3EA"/>
            </a:solidFill>
            <a:prstDash val="solid"/>
          </a:ln>
        </p:spPr>
      </p:sp>
      <p:sp>
        <p:nvSpPr>
          <p:cNvPr id="6" name="Text 4"/>
          <p:cNvSpPr/>
          <p:nvPr/>
        </p:nvSpPr>
        <p:spPr>
          <a:xfrm>
            <a:off x="914400" y="1600200"/>
            <a:ext cx="1874520" cy="201168"/>
          </a:xfrm>
          <a:prstGeom prst="rect">
            <a:avLst/>
          </a:prstGeom>
          <a:noFill/>
          <a:ln/>
        </p:spPr>
        <p:txBody>
          <a:bodyPr wrap="square" rtlCol="0" anchor="ctr"/>
          <a:lstStyle/>
          <a:p>
            <a:pPr algn="ctr" indent="0" marL="0">
              <a:buNone/>
            </a:pPr>
            <a:r>
              <a:rPr lang="en-US" sz="1320" b="1" dirty="0">
                <a:solidFill>
                  <a:srgbClr val="1F2D3D"/>
                </a:solidFill>
              </a:rPr>
              <a:t>个人经验型审查</a:t>
            </a:r>
            <a:endParaRPr lang="en-US" sz="1320" dirty="0"/>
          </a:p>
        </p:txBody>
      </p:sp>
      <p:sp>
        <p:nvSpPr>
          <p:cNvPr id="7" name="Text 5"/>
          <p:cNvSpPr/>
          <p:nvPr/>
        </p:nvSpPr>
        <p:spPr>
          <a:xfrm>
            <a:off x="3044952" y="1563624"/>
            <a:ext cx="320040" cy="219456"/>
          </a:xfrm>
          <a:prstGeom prst="rect">
            <a:avLst/>
          </a:prstGeom>
          <a:noFill/>
          <a:ln/>
        </p:spPr>
        <p:txBody>
          <a:bodyPr wrap="square" rtlCol="0" anchor="ctr"/>
          <a:lstStyle/>
          <a:p>
            <a:pPr algn="ctr" indent="0" marL="0">
              <a:buNone/>
            </a:pPr>
            <a:r>
              <a:rPr lang="en-US" sz="2000" dirty="0">
                <a:solidFill>
                  <a:srgbClr val="1E74C6"/>
                </a:solidFill>
              </a:rPr>
              <a:t>→</a:t>
            </a:r>
            <a:endParaRPr lang="en-US" sz="2000" dirty="0"/>
          </a:p>
        </p:txBody>
      </p:sp>
      <p:sp>
        <p:nvSpPr>
          <p:cNvPr id="8" name="Shape 6"/>
          <p:cNvSpPr/>
          <p:nvPr/>
        </p:nvSpPr>
        <p:spPr>
          <a:xfrm>
            <a:off x="3520440" y="1417320"/>
            <a:ext cx="2148840" cy="713232"/>
          </a:xfrm>
          <a:prstGeom prst="roundRect">
            <a:avLst/>
          </a:prstGeom>
          <a:solidFill>
            <a:srgbClr val="FFFFFF"/>
          </a:solidFill>
          <a:ln w="12700">
            <a:solidFill>
              <a:srgbClr val="BFD3EA"/>
            </a:solidFill>
            <a:prstDash val="solid"/>
          </a:ln>
        </p:spPr>
      </p:sp>
      <p:sp>
        <p:nvSpPr>
          <p:cNvPr id="9" name="Text 7"/>
          <p:cNvSpPr/>
          <p:nvPr/>
        </p:nvSpPr>
        <p:spPr>
          <a:xfrm>
            <a:off x="3657600" y="1600200"/>
            <a:ext cx="1874520" cy="201168"/>
          </a:xfrm>
          <a:prstGeom prst="rect">
            <a:avLst/>
          </a:prstGeom>
          <a:noFill/>
          <a:ln/>
        </p:spPr>
        <p:txBody>
          <a:bodyPr wrap="square" rtlCol="0" anchor="ctr"/>
          <a:lstStyle/>
          <a:p>
            <a:pPr algn="ctr" indent="0" marL="0">
              <a:buNone/>
            </a:pPr>
            <a:r>
              <a:rPr lang="en-US" sz="1320" b="1" dirty="0">
                <a:solidFill>
                  <a:srgbClr val="1F2D3D"/>
                </a:solidFill>
              </a:rPr>
              <a:t>多专业协同审查</a:t>
            </a:r>
            <a:endParaRPr lang="en-US" sz="1320" dirty="0"/>
          </a:p>
        </p:txBody>
      </p:sp>
      <p:sp>
        <p:nvSpPr>
          <p:cNvPr id="10" name="Text 8"/>
          <p:cNvSpPr/>
          <p:nvPr/>
        </p:nvSpPr>
        <p:spPr>
          <a:xfrm>
            <a:off x="5788152" y="1563624"/>
            <a:ext cx="320040" cy="219456"/>
          </a:xfrm>
          <a:prstGeom prst="rect">
            <a:avLst/>
          </a:prstGeom>
          <a:noFill/>
          <a:ln/>
        </p:spPr>
        <p:txBody>
          <a:bodyPr wrap="square" rtlCol="0" anchor="ctr"/>
          <a:lstStyle/>
          <a:p>
            <a:pPr algn="ctr" indent="0" marL="0">
              <a:buNone/>
            </a:pPr>
            <a:r>
              <a:rPr lang="en-US" sz="2000" dirty="0">
                <a:solidFill>
                  <a:srgbClr val="1E74C6"/>
                </a:solidFill>
              </a:rPr>
              <a:t>→</a:t>
            </a:r>
            <a:endParaRPr lang="en-US" sz="2000" dirty="0"/>
          </a:p>
        </p:txBody>
      </p:sp>
      <p:sp>
        <p:nvSpPr>
          <p:cNvPr id="11" name="Shape 9"/>
          <p:cNvSpPr/>
          <p:nvPr/>
        </p:nvSpPr>
        <p:spPr>
          <a:xfrm>
            <a:off x="6263640" y="1417320"/>
            <a:ext cx="2148840" cy="713232"/>
          </a:xfrm>
          <a:prstGeom prst="roundRect">
            <a:avLst/>
          </a:prstGeom>
          <a:solidFill>
            <a:srgbClr val="FFFFFF"/>
          </a:solidFill>
          <a:ln w="12700">
            <a:solidFill>
              <a:srgbClr val="BFD3EA"/>
            </a:solidFill>
            <a:prstDash val="solid"/>
          </a:ln>
        </p:spPr>
      </p:sp>
      <p:sp>
        <p:nvSpPr>
          <p:cNvPr id="12" name="Text 10"/>
          <p:cNvSpPr/>
          <p:nvPr/>
        </p:nvSpPr>
        <p:spPr>
          <a:xfrm>
            <a:off x="6400800" y="1600200"/>
            <a:ext cx="1874520" cy="201168"/>
          </a:xfrm>
          <a:prstGeom prst="rect">
            <a:avLst/>
          </a:prstGeom>
          <a:noFill/>
          <a:ln/>
        </p:spPr>
        <p:txBody>
          <a:bodyPr wrap="square" rtlCol="0" anchor="ctr"/>
          <a:lstStyle/>
          <a:p>
            <a:pPr algn="ctr" indent="0" marL="0">
              <a:buNone/>
            </a:pPr>
            <a:r>
              <a:rPr lang="en-US" sz="1320" b="1" dirty="0">
                <a:solidFill>
                  <a:srgbClr val="1F2D3D"/>
                </a:solidFill>
              </a:rPr>
              <a:t>可追溯闭环治理</a:t>
            </a:r>
            <a:endParaRPr lang="en-US" sz="1320" dirty="0"/>
          </a:p>
        </p:txBody>
      </p:sp>
      <p:sp>
        <p:nvSpPr>
          <p:cNvPr id="13" name="Text 11"/>
          <p:cNvSpPr/>
          <p:nvPr/>
        </p:nvSpPr>
        <p:spPr>
          <a:xfrm>
            <a:off x="8531352" y="1563624"/>
            <a:ext cx="320040" cy="219456"/>
          </a:xfrm>
          <a:prstGeom prst="rect">
            <a:avLst/>
          </a:prstGeom>
          <a:noFill/>
          <a:ln/>
        </p:spPr>
        <p:txBody>
          <a:bodyPr wrap="square" rtlCol="0" anchor="ctr"/>
          <a:lstStyle/>
          <a:p>
            <a:pPr algn="ctr" indent="0" marL="0">
              <a:buNone/>
            </a:pPr>
            <a:r>
              <a:rPr lang="en-US" sz="2000" dirty="0">
                <a:solidFill>
                  <a:srgbClr val="1E74C6"/>
                </a:solidFill>
              </a:rPr>
              <a:t>→</a:t>
            </a:r>
            <a:endParaRPr lang="en-US" sz="2000" dirty="0"/>
          </a:p>
        </p:txBody>
      </p:sp>
      <p:sp>
        <p:nvSpPr>
          <p:cNvPr id="14" name="Shape 12"/>
          <p:cNvSpPr/>
          <p:nvPr/>
        </p:nvSpPr>
        <p:spPr>
          <a:xfrm>
            <a:off x="9006840" y="1417320"/>
            <a:ext cx="2148840" cy="713232"/>
          </a:xfrm>
          <a:prstGeom prst="roundRect">
            <a:avLst/>
          </a:prstGeom>
          <a:solidFill>
            <a:srgbClr val="DCECF9"/>
          </a:solidFill>
          <a:ln w="12700">
            <a:solidFill>
              <a:srgbClr val="BFD3EA"/>
            </a:solidFill>
            <a:prstDash val="solid"/>
          </a:ln>
        </p:spPr>
      </p:sp>
      <p:sp>
        <p:nvSpPr>
          <p:cNvPr id="15" name="Text 13"/>
          <p:cNvSpPr/>
          <p:nvPr/>
        </p:nvSpPr>
        <p:spPr>
          <a:xfrm>
            <a:off x="9144000" y="1600200"/>
            <a:ext cx="1874520" cy="201168"/>
          </a:xfrm>
          <a:prstGeom prst="rect">
            <a:avLst/>
          </a:prstGeom>
          <a:noFill/>
          <a:ln/>
        </p:spPr>
        <p:txBody>
          <a:bodyPr wrap="square" rtlCol="0" anchor="ctr"/>
          <a:lstStyle/>
          <a:p>
            <a:pPr algn="ctr" indent="0" marL="0">
              <a:buNone/>
            </a:pPr>
            <a:r>
              <a:rPr lang="en-US" sz="1320" b="1" dirty="0">
                <a:solidFill>
                  <a:srgbClr val="0E5AA7"/>
                </a:solidFill>
              </a:rPr>
              <a:t>平台化沉淀能力</a:t>
            </a:r>
            <a:endParaRPr lang="en-US" sz="1320" dirty="0"/>
          </a:p>
        </p:txBody>
      </p:sp>
      <p:sp>
        <p:nvSpPr>
          <p:cNvPr id="16" name="Text 14"/>
          <p:cNvSpPr/>
          <p:nvPr/>
        </p:nvSpPr>
        <p:spPr>
          <a:xfrm>
            <a:off x="685800" y="2423160"/>
            <a:ext cx="6903720" cy="3291840"/>
          </a:xfrm>
          <a:prstGeom prst="rect">
            <a:avLst/>
          </a:prstGeom>
          <a:noFill/>
          <a:ln/>
        </p:spPr>
        <p:txBody>
          <a:bodyPr wrap="square" rtlCol="0" anchor="ctr">
            <a:normAutofit/>
          </a:bodyPr>
          <a:lstStyle/>
          <a:p>
            <a:pPr indent="0" marL="0">
              <a:buNone/>
            </a:pPr>
            <a:r>
              <a:rPr lang="en-US" sz="1540" b="1" dirty="0">
                <a:solidFill>
                  <a:srgbClr val="1E74C6"/>
                </a:solidFill>
              </a:rPr>
              <a:t>• </a:t>
            </a:r>
            <a:pPr indent="0" marL="0">
              <a:buNone/>
            </a:pPr>
            <a:r>
              <a:rPr lang="en-US" sz="1540" dirty="0">
                <a:solidFill>
                  <a:srgbClr val="1F2D3D"/>
                </a:solidFill>
              </a:rPr>
              <a:t>系统围绕真实代码变更开展审查，不再完全依赖某几位资深工程师的个人经验。业务规则、架构约束、安全要求和测试标准可以通过专家配置与规范文档沉淀为可重复使用的审查能力。</a:t>
            </a:r>
            <a:endParaRPr lang="en-US" sz="1540" dirty="0"/>
          </a:p>
          <a:p>
            <a:pPr indent="0" marL="0">
              <a:buNone/>
            </a:pPr>
            <a:r>
              <a:rPr lang="en-US" sz="1540" b="1" dirty="0">
                <a:solidFill>
                  <a:srgbClr val="1E74C6"/>
                </a:solidFill>
              </a:rPr>
              <a:t>• </a:t>
            </a:r>
            <a:pPr indent="0" marL="0">
              <a:buNone/>
            </a:pPr>
            <a:r>
              <a:rPr lang="en-US" sz="1540" dirty="0">
                <a:solidFill>
                  <a:srgbClr val="1F2D3D"/>
                </a:solidFill>
              </a:rPr>
              <a:t>系统输出的不是一句笼统意见，而是结构化问题清单。每个问题都尽量附带证据、影响说明和修复建议，便于开发者处理，也便于团队后续复盘与统计。</a:t>
            </a:r>
            <a:endParaRPr lang="en-US" sz="1540" dirty="0"/>
          </a:p>
          <a:p>
            <a:pPr indent="0" marL="0">
              <a:buNone/>
            </a:pPr>
            <a:r>
              <a:rPr lang="en-US" sz="1540" b="1" dirty="0">
                <a:solidFill>
                  <a:srgbClr val="1E74C6"/>
                </a:solidFill>
              </a:rPr>
              <a:t>• </a:t>
            </a:r>
            <a:pPr indent="0" marL="0">
              <a:buNone/>
            </a:pPr>
            <a:r>
              <a:rPr lang="en-US" sz="1540" dirty="0">
                <a:solidFill>
                  <a:srgbClr val="1F2D3D"/>
                </a:solidFill>
              </a:rPr>
              <a:t>对管理层而言，这类能力更重要的价值在于把“偶尔有人看得很细”变成“多数改动都能被稳定审一遍”。这会直接改善问题前移、返工减少和质量口径统一。</a:t>
            </a:r>
            <a:endParaRPr lang="en-US" sz="1540" dirty="0"/>
          </a:p>
          <a:p>
            <a:pPr indent="0" marL="0">
              <a:buNone/>
            </a:pPr>
            <a:r>
              <a:rPr lang="en-US" sz="1540" b="1" dirty="0">
                <a:solidFill>
                  <a:srgbClr val="1E74C6"/>
                </a:solidFill>
              </a:rPr>
              <a:t>• </a:t>
            </a:r>
            <a:pPr indent="0" marL="0">
              <a:buNone/>
            </a:pPr>
            <a:r>
              <a:rPr lang="en-US" sz="1540" dirty="0">
                <a:solidFill>
                  <a:srgbClr val="1F2D3D"/>
                </a:solidFill>
              </a:rPr>
              <a:t>随着专家和规则逐步沉淀，系统可以从试点工具演进为平台能力，支撑更多项目和更多语言场景，而不是每个团队各自重复建设。</a:t>
            </a:r>
            <a:endParaRPr lang="en-US" sz="1540" dirty="0"/>
          </a:p>
        </p:txBody>
      </p:sp>
      <p:sp>
        <p:nvSpPr>
          <p:cNvPr id="17" name="Shape 15"/>
          <p:cNvSpPr/>
          <p:nvPr/>
        </p:nvSpPr>
        <p:spPr>
          <a:xfrm>
            <a:off x="7955280" y="2240280"/>
            <a:ext cx="3566160" cy="1024128"/>
          </a:xfrm>
          <a:prstGeom prst="roundRect">
            <a:avLst/>
          </a:prstGeom>
          <a:solidFill>
            <a:srgbClr val="FFFFFF"/>
          </a:solidFill>
          <a:ln w="12700">
            <a:solidFill>
              <a:srgbClr val="BFD3EA"/>
            </a:solidFill>
            <a:prstDash val="solid"/>
          </a:ln>
        </p:spPr>
      </p:sp>
      <p:sp>
        <p:nvSpPr>
          <p:cNvPr id="18" name="Shape 16"/>
          <p:cNvSpPr/>
          <p:nvPr/>
        </p:nvSpPr>
        <p:spPr>
          <a:xfrm>
            <a:off x="8119872" y="2386584"/>
            <a:ext cx="73152" cy="731520"/>
          </a:xfrm>
          <a:prstGeom prst="roundRect">
            <a:avLst/>
          </a:prstGeom>
          <a:solidFill>
            <a:srgbClr val="1E74C6"/>
          </a:solidFill>
          <a:ln w="12700">
            <a:solidFill>
              <a:srgbClr val="1E74C6"/>
            </a:solidFill>
            <a:prstDash val="solid"/>
          </a:ln>
        </p:spPr>
      </p:sp>
      <p:sp>
        <p:nvSpPr>
          <p:cNvPr id="19" name="Text 17"/>
          <p:cNvSpPr/>
          <p:nvPr/>
        </p:nvSpPr>
        <p:spPr>
          <a:xfrm>
            <a:off x="8275320" y="2404872"/>
            <a:ext cx="3154680" cy="201168"/>
          </a:xfrm>
          <a:prstGeom prst="rect">
            <a:avLst/>
          </a:prstGeom>
          <a:noFill/>
          <a:ln/>
        </p:spPr>
        <p:txBody>
          <a:bodyPr wrap="square" lIns="0" tIns="0" rIns="0" bIns="0" rtlCol="0" anchor="ctr"/>
          <a:lstStyle/>
          <a:p>
            <a:pPr indent="0" marL="0">
              <a:buNone/>
            </a:pPr>
            <a:r>
              <a:rPr lang="en-US" sz="1450" b="1" dirty="0">
                <a:solidFill>
                  <a:srgbClr val="0E5AA7"/>
                </a:solidFill>
              </a:rPr>
              <a:t>对研发团队的价值</a:t>
            </a:r>
            <a:endParaRPr lang="en-US" sz="1450" dirty="0"/>
          </a:p>
        </p:txBody>
      </p:sp>
      <p:sp>
        <p:nvSpPr>
          <p:cNvPr id="20" name="Text 18"/>
          <p:cNvSpPr/>
          <p:nvPr/>
        </p:nvSpPr>
        <p:spPr>
          <a:xfrm>
            <a:off x="8275320" y="2679192"/>
            <a:ext cx="3154680" cy="49377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在不改变MR/PR基本流程的前提下，提高审查覆盖度，让常见遗漏问题更早暴露。</a:t>
            </a:r>
            <a:endParaRPr lang="en-US" sz="1150" dirty="0"/>
          </a:p>
        </p:txBody>
      </p:sp>
      <p:sp>
        <p:nvSpPr>
          <p:cNvPr id="21" name="Shape 19"/>
          <p:cNvSpPr/>
          <p:nvPr/>
        </p:nvSpPr>
        <p:spPr>
          <a:xfrm>
            <a:off x="7955280" y="3474720"/>
            <a:ext cx="3566160" cy="1024128"/>
          </a:xfrm>
          <a:prstGeom prst="roundRect">
            <a:avLst/>
          </a:prstGeom>
          <a:solidFill>
            <a:srgbClr val="FFFFFF"/>
          </a:solidFill>
          <a:ln w="12700">
            <a:solidFill>
              <a:srgbClr val="BFD3EA"/>
            </a:solidFill>
            <a:prstDash val="solid"/>
          </a:ln>
        </p:spPr>
      </p:sp>
      <p:sp>
        <p:nvSpPr>
          <p:cNvPr id="22" name="Shape 20"/>
          <p:cNvSpPr/>
          <p:nvPr/>
        </p:nvSpPr>
        <p:spPr>
          <a:xfrm>
            <a:off x="8119872" y="3621024"/>
            <a:ext cx="73152" cy="731520"/>
          </a:xfrm>
          <a:prstGeom prst="roundRect">
            <a:avLst/>
          </a:prstGeom>
          <a:solidFill>
            <a:srgbClr val="2F8F6B"/>
          </a:solidFill>
          <a:ln w="12700">
            <a:solidFill>
              <a:srgbClr val="2F8F6B"/>
            </a:solidFill>
            <a:prstDash val="solid"/>
          </a:ln>
        </p:spPr>
      </p:sp>
      <p:sp>
        <p:nvSpPr>
          <p:cNvPr id="23" name="Text 21"/>
          <p:cNvSpPr/>
          <p:nvPr/>
        </p:nvSpPr>
        <p:spPr>
          <a:xfrm>
            <a:off x="8275320" y="3639312"/>
            <a:ext cx="3154680" cy="201168"/>
          </a:xfrm>
          <a:prstGeom prst="rect">
            <a:avLst/>
          </a:prstGeom>
          <a:noFill/>
          <a:ln/>
        </p:spPr>
        <p:txBody>
          <a:bodyPr wrap="square" lIns="0" tIns="0" rIns="0" bIns="0" rtlCol="0" anchor="ctr"/>
          <a:lstStyle/>
          <a:p>
            <a:pPr indent="0" marL="0">
              <a:buNone/>
            </a:pPr>
            <a:r>
              <a:rPr lang="en-US" sz="1450" b="1" dirty="0">
                <a:solidFill>
                  <a:srgbClr val="0E5AA7"/>
                </a:solidFill>
              </a:rPr>
              <a:t>对管理层的价值</a:t>
            </a:r>
            <a:endParaRPr lang="en-US" sz="1450" dirty="0"/>
          </a:p>
        </p:txBody>
      </p:sp>
      <p:sp>
        <p:nvSpPr>
          <p:cNvPr id="24" name="Text 22"/>
          <p:cNvSpPr/>
          <p:nvPr/>
        </p:nvSpPr>
        <p:spPr>
          <a:xfrm>
            <a:off x="8275320" y="3913632"/>
            <a:ext cx="3154680" cy="49377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形成可回看、可统计、可持续优化的质量数据，为试点推广和制度建设提供依据。</a:t>
            </a:r>
            <a:endParaRPr lang="en-US" sz="1150" dirty="0"/>
          </a:p>
        </p:txBody>
      </p:sp>
      <p:sp>
        <p:nvSpPr>
          <p:cNvPr id="25" name="Shape 23"/>
          <p:cNvSpPr/>
          <p:nvPr/>
        </p:nvSpPr>
        <p:spPr>
          <a:xfrm>
            <a:off x="7955280" y="4709160"/>
            <a:ext cx="3566160" cy="1024128"/>
          </a:xfrm>
          <a:prstGeom prst="roundRect">
            <a:avLst/>
          </a:prstGeom>
          <a:solidFill>
            <a:srgbClr val="FFFFFF"/>
          </a:solidFill>
          <a:ln w="12700">
            <a:solidFill>
              <a:srgbClr val="BFD3EA"/>
            </a:solidFill>
            <a:prstDash val="solid"/>
          </a:ln>
        </p:spPr>
      </p:sp>
      <p:sp>
        <p:nvSpPr>
          <p:cNvPr id="26" name="Shape 24"/>
          <p:cNvSpPr/>
          <p:nvPr/>
        </p:nvSpPr>
        <p:spPr>
          <a:xfrm>
            <a:off x="8119872" y="4855464"/>
            <a:ext cx="73152" cy="731520"/>
          </a:xfrm>
          <a:prstGeom prst="roundRect">
            <a:avLst/>
          </a:prstGeom>
          <a:solidFill>
            <a:srgbClr val="D98B1D"/>
          </a:solidFill>
          <a:ln w="12700">
            <a:solidFill>
              <a:srgbClr val="D98B1D"/>
            </a:solidFill>
            <a:prstDash val="solid"/>
          </a:ln>
        </p:spPr>
      </p:sp>
      <p:sp>
        <p:nvSpPr>
          <p:cNvPr id="27" name="Text 25"/>
          <p:cNvSpPr/>
          <p:nvPr/>
        </p:nvSpPr>
        <p:spPr>
          <a:xfrm>
            <a:off x="8275320" y="4873752"/>
            <a:ext cx="3154680" cy="201168"/>
          </a:xfrm>
          <a:prstGeom prst="rect">
            <a:avLst/>
          </a:prstGeom>
          <a:noFill/>
          <a:ln/>
        </p:spPr>
        <p:txBody>
          <a:bodyPr wrap="square" lIns="0" tIns="0" rIns="0" bIns="0" rtlCol="0" anchor="ctr"/>
          <a:lstStyle/>
          <a:p>
            <a:pPr indent="0" marL="0">
              <a:buNone/>
            </a:pPr>
            <a:r>
              <a:rPr lang="en-US" sz="1450" b="1" dirty="0">
                <a:solidFill>
                  <a:srgbClr val="0E5AA7"/>
                </a:solidFill>
              </a:rPr>
              <a:t>对平台建设的价值</a:t>
            </a:r>
            <a:endParaRPr lang="en-US" sz="1450" dirty="0"/>
          </a:p>
        </p:txBody>
      </p:sp>
      <p:sp>
        <p:nvSpPr>
          <p:cNvPr id="28" name="Text 26"/>
          <p:cNvSpPr/>
          <p:nvPr/>
        </p:nvSpPr>
        <p:spPr>
          <a:xfrm>
            <a:off x="8275320" y="5148072"/>
            <a:ext cx="3154680" cy="49377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把零散规范、最佳实践和专项工具接进统一流程，逐步形成组织级质量基础设施。</a:t>
            </a:r>
            <a:endParaRPr lang="en-US" sz="1150" dirty="0"/>
          </a:p>
        </p:txBody>
      </p:sp>
      <p:sp>
        <p:nvSpPr>
          <p:cNvPr id="29" name="Shape 27"/>
          <p:cNvSpPr/>
          <p:nvPr/>
        </p:nvSpPr>
        <p:spPr>
          <a:xfrm>
            <a:off x="594360" y="5989320"/>
            <a:ext cx="10972800" cy="384048"/>
          </a:xfrm>
          <a:prstGeom prst="roundRect">
            <a:avLst/>
          </a:prstGeom>
          <a:solidFill>
            <a:srgbClr val="E8F1FB"/>
          </a:solidFill>
          <a:ln w="12700">
            <a:solidFill>
              <a:srgbClr val="D2E2F5"/>
            </a:solidFill>
            <a:prstDash val="solid"/>
          </a:ln>
        </p:spPr>
      </p:sp>
      <p:sp>
        <p:nvSpPr>
          <p:cNvPr id="30" name="Text 28"/>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本项目的优点不在于“会说很多话”，而在于把原本分散、偶发、难复用的审查能力沉淀成稳定的平台能力。</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为什么重点采用多Agent机制</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单Agent像一个全能审查员，多Agent更像一个专业评审委员会</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机制</a:t>
            </a:r>
            <a:endParaRPr lang="en-US" sz="1050" dirty="0"/>
          </a:p>
        </p:txBody>
      </p:sp>
      <p:sp>
        <p:nvSpPr>
          <p:cNvPr id="5" name="Shape 3"/>
          <p:cNvSpPr/>
          <p:nvPr/>
        </p:nvSpPr>
        <p:spPr>
          <a:xfrm>
            <a:off x="713232" y="1325880"/>
            <a:ext cx="3200400" cy="1993392"/>
          </a:xfrm>
          <a:prstGeom prst="roundRect">
            <a:avLst/>
          </a:prstGeom>
          <a:solidFill>
            <a:srgbClr val="FFFFFF"/>
          </a:solidFill>
          <a:ln w="12700">
            <a:solidFill>
              <a:srgbClr val="BFD3EA"/>
            </a:solidFill>
            <a:prstDash val="solid"/>
          </a:ln>
        </p:spPr>
      </p:sp>
      <p:sp>
        <p:nvSpPr>
          <p:cNvPr id="6" name="Text 4"/>
          <p:cNvSpPr/>
          <p:nvPr/>
        </p:nvSpPr>
        <p:spPr>
          <a:xfrm>
            <a:off x="1508760" y="1481328"/>
            <a:ext cx="1554480" cy="201168"/>
          </a:xfrm>
          <a:prstGeom prst="rect">
            <a:avLst/>
          </a:prstGeom>
          <a:noFill/>
          <a:ln/>
        </p:spPr>
        <p:txBody>
          <a:bodyPr wrap="square" rtlCol="0" anchor="ctr"/>
          <a:lstStyle/>
          <a:p>
            <a:pPr algn="ctr" indent="0" marL="0">
              <a:buNone/>
            </a:pPr>
            <a:r>
              <a:rPr lang="en-US" sz="1600" b="1" dirty="0">
                <a:solidFill>
                  <a:srgbClr val="0E5AA7"/>
                </a:solidFill>
              </a:rPr>
              <a:t>单 Agent 审查</a:t>
            </a:r>
            <a:endParaRPr lang="en-US" sz="16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73352" y="1755648"/>
            <a:ext cx="1280160" cy="960120"/>
          </a:xfrm>
          <a:prstGeom prst="rect">
            <a:avLst/>
          </a:prstGeom>
        </p:spPr>
      </p:pic>
      <p:sp>
        <p:nvSpPr>
          <p:cNvPr id="8" name="Text 5"/>
          <p:cNvSpPr/>
          <p:nvPr/>
        </p:nvSpPr>
        <p:spPr>
          <a:xfrm>
            <a:off x="914400" y="2770632"/>
            <a:ext cx="2743200" cy="384048"/>
          </a:xfrm>
          <a:prstGeom prst="rect">
            <a:avLst/>
          </a:prstGeom>
          <a:noFill/>
          <a:ln/>
        </p:spPr>
        <p:txBody>
          <a:bodyPr wrap="square" rtlCol="0" anchor="ctr">
            <a:normAutofit/>
          </a:bodyPr>
          <a:lstStyle/>
          <a:p>
            <a:pPr algn="ctr" indent="0" marL="0">
              <a:buNone/>
            </a:pPr>
            <a:r>
              <a:rPr lang="en-US" sz="1150" dirty="0">
                <a:solidFill>
                  <a:srgbClr val="1F2D3D"/>
                </a:solidFill>
              </a:rPr>
              <a:t>优点是接入简单；不足是结论通常集中在一个综合判断上，复杂场景下容易顾此失彼。</a:t>
            </a:r>
            <a:endParaRPr lang="en-US" sz="1150" dirty="0"/>
          </a:p>
        </p:txBody>
      </p:sp>
      <p:sp>
        <p:nvSpPr>
          <p:cNvPr id="9" name="Text 6"/>
          <p:cNvSpPr/>
          <p:nvPr/>
        </p:nvSpPr>
        <p:spPr>
          <a:xfrm>
            <a:off x="4069080" y="2048256"/>
            <a:ext cx="457200" cy="320040"/>
          </a:xfrm>
          <a:prstGeom prst="rect">
            <a:avLst/>
          </a:prstGeom>
          <a:noFill/>
          <a:ln/>
        </p:spPr>
        <p:txBody>
          <a:bodyPr wrap="square" rtlCol="0" anchor="ctr"/>
          <a:lstStyle/>
          <a:p>
            <a:pPr algn="ctr" indent="0" marL="0">
              <a:buNone/>
            </a:pPr>
            <a:r>
              <a:rPr lang="en-US" sz="2400" b="1" dirty="0">
                <a:solidFill>
                  <a:srgbClr val="1E74C6"/>
                </a:solidFill>
              </a:rPr>
              <a:t>VS</a:t>
            </a:r>
            <a:endParaRPr lang="en-US" sz="2400" dirty="0"/>
          </a:p>
        </p:txBody>
      </p:sp>
      <p:sp>
        <p:nvSpPr>
          <p:cNvPr id="10" name="Shape 7"/>
          <p:cNvSpPr/>
          <p:nvPr/>
        </p:nvSpPr>
        <p:spPr>
          <a:xfrm>
            <a:off x="4663440" y="1325880"/>
            <a:ext cx="6812280" cy="1993392"/>
          </a:xfrm>
          <a:prstGeom prst="roundRect">
            <a:avLst/>
          </a:prstGeom>
          <a:solidFill>
            <a:srgbClr val="FFFFFF"/>
          </a:solidFill>
          <a:ln w="12700">
            <a:solidFill>
              <a:srgbClr val="BFD3EA"/>
            </a:solidFill>
            <a:prstDash val="solid"/>
          </a:ln>
        </p:spPr>
      </p:sp>
      <p:sp>
        <p:nvSpPr>
          <p:cNvPr id="11" name="Text 8"/>
          <p:cNvSpPr/>
          <p:nvPr/>
        </p:nvSpPr>
        <p:spPr>
          <a:xfrm>
            <a:off x="6812280" y="1481328"/>
            <a:ext cx="2560320" cy="201168"/>
          </a:xfrm>
          <a:prstGeom prst="rect">
            <a:avLst/>
          </a:prstGeom>
          <a:noFill/>
          <a:ln/>
        </p:spPr>
        <p:txBody>
          <a:bodyPr wrap="square" rtlCol="0" anchor="ctr"/>
          <a:lstStyle/>
          <a:p>
            <a:pPr algn="ctr" indent="0" marL="0">
              <a:buNone/>
            </a:pPr>
            <a:r>
              <a:rPr lang="en-US" sz="1600" b="1" dirty="0">
                <a:solidFill>
                  <a:srgbClr val="0E5AA7"/>
                </a:solidFill>
              </a:rPr>
              <a:t>多专家评审委员会</a:t>
            </a:r>
            <a:endParaRPr lang="en-US" sz="1600" dirty="0"/>
          </a:p>
        </p:txBody>
      </p:sp>
      <p:sp>
        <p:nvSpPr>
          <p:cNvPr id="12" name="Shape 9"/>
          <p:cNvSpPr/>
          <p:nvPr/>
        </p:nvSpPr>
        <p:spPr>
          <a:xfrm>
            <a:off x="5074920" y="1856232"/>
            <a:ext cx="914400" cy="438912"/>
          </a:xfrm>
          <a:prstGeom prst="roundRect">
            <a:avLst/>
          </a:prstGeom>
          <a:solidFill>
            <a:srgbClr val="2F8F6B"/>
          </a:solidFill>
          <a:ln w="12700">
            <a:solidFill>
              <a:srgbClr val="2F8F6B"/>
            </a:solidFill>
            <a:prstDash val="solid"/>
          </a:ln>
        </p:spPr>
      </p:sp>
      <p:sp>
        <p:nvSpPr>
          <p:cNvPr id="13" name="Text 10"/>
          <p:cNvSpPr/>
          <p:nvPr/>
        </p:nvSpPr>
        <p:spPr>
          <a:xfrm>
            <a:off x="5074920" y="1975104"/>
            <a:ext cx="914400" cy="128016"/>
          </a:xfrm>
          <a:prstGeom prst="rect">
            <a:avLst/>
          </a:prstGeom>
          <a:noFill/>
          <a:ln/>
        </p:spPr>
        <p:txBody>
          <a:bodyPr wrap="square" rtlCol="0" anchor="ctr"/>
          <a:lstStyle/>
          <a:p>
            <a:pPr algn="ctr" indent="0" marL="0">
              <a:buNone/>
            </a:pPr>
            <a:r>
              <a:rPr lang="en-US" sz="1100" b="1" dirty="0">
                <a:solidFill>
                  <a:srgbClr val="FFFFFF"/>
                </a:solidFill>
              </a:rPr>
              <a:t>业务</a:t>
            </a:r>
            <a:endParaRPr lang="en-US" sz="1100" dirty="0"/>
          </a:p>
        </p:txBody>
      </p:sp>
      <p:sp>
        <p:nvSpPr>
          <p:cNvPr id="14" name="Text 11"/>
          <p:cNvSpPr/>
          <p:nvPr/>
        </p:nvSpPr>
        <p:spPr>
          <a:xfrm>
            <a:off x="5394960" y="2304288"/>
            <a:ext cx="274320" cy="164592"/>
          </a:xfrm>
          <a:prstGeom prst="rect">
            <a:avLst/>
          </a:prstGeom>
          <a:noFill/>
          <a:ln/>
        </p:spPr>
        <p:txBody>
          <a:bodyPr wrap="square" rtlCol="0" anchor="ctr"/>
          <a:lstStyle/>
          <a:p>
            <a:pPr algn="ctr" indent="0" marL="0">
              <a:buNone/>
            </a:pPr>
            <a:r>
              <a:rPr lang="en-US" sz="1600" dirty="0">
                <a:solidFill>
                  <a:srgbClr val="1E74C6"/>
                </a:solidFill>
              </a:rPr>
              <a:t>↓</a:t>
            </a:r>
            <a:endParaRPr lang="en-US" sz="1600" dirty="0"/>
          </a:p>
        </p:txBody>
      </p:sp>
      <p:sp>
        <p:nvSpPr>
          <p:cNvPr id="15" name="Shape 12"/>
          <p:cNvSpPr/>
          <p:nvPr/>
        </p:nvSpPr>
        <p:spPr>
          <a:xfrm>
            <a:off x="6336792" y="1856232"/>
            <a:ext cx="914400" cy="438912"/>
          </a:xfrm>
          <a:prstGeom prst="roundRect">
            <a:avLst/>
          </a:prstGeom>
          <a:solidFill>
            <a:srgbClr val="C94F4F"/>
          </a:solidFill>
          <a:ln w="12700">
            <a:solidFill>
              <a:srgbClr val="C94F4F"/>
            </a:solidFill>
            <a:prstDash val="solid"/>
          </a:ln>
        </p:spPr>
      </p:sp>
      <p:sp>
        <p:nvSpPr>
          <p:cNvPr id="16" name="Text 13"/>
          <p:cNvSpPr/>
          <p:nvPr/>
        </p:nvSpPr>
        <p:spPr>
          <a:xfrm>
            <a:off x="6336792" y="1975104"/>
            <a:ext cx="914400" cy="128016"/>
          </a:xfrm>
          <a:prstGeom prst="rect">
            <a:avLst/>
          </a:prstGeom>
          <a:noFill/>
          <a:ln/>
        </p:spPr>
        <p:txBody>
          <a:bodyPr wrap="square" rtlCol="0" anchor="ctr"/>
          <a:lstStyle/>
          <a:p>
            <a:pPr algn="ctr" indent="0" marL="0">
              <a:buNone/>
            </a:pPr>
            <a:r>
              <a:rPr lang="en-US" sz="1100" b="1" dirty="0">
                <a:solidFill>
                  <a:srgbClr val="FFFFFF"/>
                </a:solidFill>
              </a:rPr>
              <a:t>安全</a:t>
            </a:r>
            <a:endParaRPr lang="en-US" sz="1100" dirty="0"/>
          </a:p>
        </p:txBody>
      </p:sp>
      <p:sp>
        <p:nvSpPr>
          <p:cNvPr id="17" name="Text 14"/>
          <p:cNvSpPr/>
          <p:nvPr/>
        </p:nvSpPr>
        <p:spPr>
          <a:xfrm>
            <a:off x="6656832" y="2304288"/>
            <a:ext cx="274320" cy="164592"/>
          </a:xfrm>
          <a:prstGeom prst="rect">
            <a:avLst/>
          </a:prstGeom>
          <a:noFill/>
          <a:ln/>
        </p:spPr>
        <p:txBody>
          <a:bodyPr wrap="square" rtlCol="0" anchor="ctr"/>
          <a:lstStyle/>
          <a:p>
            <a:pPr algn="ctr" indent="0" marL="0">
              <a:buNone/>
            </a:pPr>
            <a:r>
              <a:rPr lang="en-US" sz="1600" dirty="0">
                <a:solidFill>
                  <a:srgbClr val="1E74C6"/>
                </a:solidFill>
              </a:rPr>
              <a:t>↓</a:t>
            </a:r>
            <a:endParaRPr lang="en-US" sz="1600" dirty="0"/>
          </a:p>
        </p:txBody>
      </p:sp>
      <p:sp>
        <p:nvSpPr>
          <p:cNvPr id="18" name="Shape 15"/>
          <p:cNvSpPr/>
          <p:nvPr/>
        </p:nvSpPr>
        <p:spPr>
          <a:xfrm>
            <a:off x="7598664" y="1856232"/>
            <a:ext cx="914400" cy="438912"/>
          </a:xfrm>
          <a:prstGeom prst="roundRect">
            <a:avLst/>
          </a:prstGeom>
          <a:solidFill>
            <a:srgbClr val="D98B1D"/>
          </a:solidFill>
          <a:ln w="12700">
            <a:solidFill>
              <a:srgbClr val="D98B1D"/>
            </a:solidFill>
            <a:prstDash val="solid"/>
          </a:ln>
        </p:spPr>
      </p:sp>
      <p:sp>
        <p:nvSpPr>
          <p:cNvPr id="19" name="Text 16"/>
          <p:cNvSpPr/>
          <p:nvPr/>
        </p:nvSpPr>
        <p:spPr>
          <a:xfrm>
            <a:off x="7598664" y="1975104"/>
            <a:ext cx="914400" cy="128016"/>
          </a:xfrm>
          <a:prstGeom prst="rect">
            <a:avLst/>
          </a:prstGeom>
          <a:noFill/>
          <a:ln/>
        </p:spPr>
        <p:txBody>
          <a:bodyPr wrap="square" rtlCol="0" anchor="ctr"/>
          <a:lstStyle/>
          <a:p>
            <a:pPr algn="ctr" indent="0" marL="0">
              <a:buNone/>
            </a:pPr>
            <a:r>
              <a:rPr lang="en-US" sz="1100" b="1" dirty="0">
                <a:solidFill>
                  <a:srgbClr val="FFFFFF"/>
                </a:solidFill>
              </a:rPr>
              <a:t>性能</a:t>
            </a:r>
            <a:endParaRPr lang="en-US" sz="1100" dirty="0"/>
          </a:p>
        </p:txBody>
      </p:sp>
      <p:sp>
        <p:nvSpPr>
          <p:cNvPr id="20" name="Text 17"/>
          <p:cNvSpPr/>
          <p:nvPr/>
        </p:nvSpPr>
        <p:spPr>
          <a:xfrm>
            <a:off x="7918704" y="2304288"/>
            <a:ext cx="274320" cy="164592"/>
          </a:xfrm>
          <a:prstGeom prst="rect">
            <a:avLst/>
          </a:prstGeom>
          <a:noFill/>
          <a:ln/>
        </p:spPr>
        <p:txBody>
          <a:bodyPr wrap="square" rtlCol="0" anchor="ctr"/>
          <a:lstStyle/>
          <a:p>
            <a:pPr algn="ctr" indent="0" marL="0">
              <a:buNone/>
            </a:pPr>
            <a:r>
              <a:rPr lang="en-US" sz="1600" dirty="0">
                <a:solidFill>
                  <a:srgbClr val="1E74C6"/>
                </a:solidFill>
              </a:rPr>
              <a:t>↓</a:t>
            </a:r>
            <a:endParaRPr lang="en-US" sz="1600" dirty="0"/>
          </a:p>
        </p:txBody>
      </p:sp>
      <p:sp>
        <p:nvSpPr>
          <p:cNvPr id="21" name="Shape 18"/>
          <p:cNvSpPr/>
          <p:nvPr/>
        </p:nvSpPr>
        <p:spPr>
          <a:xfrm>
            <a:off x="8860536" y="1856232"/>
            <a:ext cx="914400" cy="438912"/>
          </a:xfrm>
          <a:prstGeom prst="roundRect">
            <a:avLst/>
          </a:prstGeom>
          <a:solidFill>
            <a:srgbClr val="1E74C6"/>
          </a:solidFill>
          <a:ln w="12700">
            <a:solidFill>
              <a:srgbClr val="1E74C6"/>
            </a:solidFill>
            <a:prstDash val="solid"/>
          </a:ln>
        </p:spPr>
      </p:sp>
      <p:sp>
        <p:nvSpPr>
          <p:cNvPr id="22" name="Text 19"/>
          <p:cNvSpPr/>
          <p:nvPr/>
        </p:nvSpPr>
        <p:spPr>
          <a:xfrm>
            <a:off x="8860536" y="1975104"/>
            <a:ext cx="914400" cy="128016"/>
          </a:xfrm>
          <a:prstGeom prst="rect">
            <a:avLst/>
          </a:prstGeom>
          <a:noFill/>
          <a:ln/>
        </p:spPr>
        <p:txBody>
          <a:bodyPr wrap="square" rtlCol="0" anchor="ctr"/>
          <a:lstStyle/>
          <a:p>
            <a:pPr algn="ctr" indent="0" marL="0">
              <a:buNone/>
            </a:pPr>
            <a:r>
              <a:rPr lang="en-US" sz="1100" b="1" dirty="0">
                <a:solidFill>
                  <a:srgbClr val="FFFFFF"/>
                </a:solidFill>
              </a:rPr>
              <a:t>架构</a:t>
            </a:r>
            <a:endParaRPr lang="en-US" sz="1100" dirty="0"/>
          </a:p>
        </p:txBody>
      </p:sp>
      <p:sp>
        <p:nvSpPr>
          <p:cNvPr id="23" name="Text 20"/>
          <p:cNvSpPr/>
          <p:nvPr/>
        </p:nvSpPr>
        <p:spPr>
          <a:xfrm>
            <a:off x="9180576" y="2304288"/>
            <a:ext cx="274320" cy="164592"/>
          </a:xfrm>
          <a:prstGeom prst="rect">
            <a:avLst/>
          </a:prstGeom>
          <a:noFill/>
          <a:ln/>
        </p:spPr>
        <p:txBody>
          <a:bodyPr wrap="square" rtlCol="0" anchor="ctr"/>
          <a:lstStyle/>
          <a:p>
            <a:pPr algn="ctr" indent="0" marL="0">
              <a:buNone/>
            </a:pPr>
            <a:r>
              <a:rPr lang="en-US" sz="1600" dirty="0">
                <a:solidFill>
                  <a:srgbClr val="1E74C6"/>
                </a:solidFill>
              </a:rPr>
              <a:t>↓</a:t>
            </a:r>
            <a:endParaRPr lang="en-US" sz="1600" dirty="0"/>
          </a:p>
        </p:txBody>
      </p:sp>
      <p:sp>
        <p:nvSpPr>
          <p:cNvPr id="24" name="Shape 21"/>
          <p:cNvSpPr/>
          <p:nvPr/>
        </p:nvSpPr>
        <p:spPr>
          <a:xfrm>
            <a:off x="10122408" y="1856232"/>
            <a:ext cx="914400" cy="438912"/>
          </a:xfrm>
          <a:prstGeom prst="roundRect">
            <a:avLst/>
          </a:prstGeom>
          <a:solidFill>
            <a:srgbClr val="5D7BD8"/>
          </a:solidFill>
          <a:ln w="12700">
            <a:solidFill>
              <a:srgbClr val="5D7BD8"/>
            </a:solidFill>
            <a:prstDash val="solid"/>
          </a:ln>
        </p:spPr>
      </p:sp>
      <p:sp>
        <p:nvSpPr>
          <p:cNvPr id="25" name="Text 22"/>
          <p:cNvSpPr/>
          <p:nvPr/>
        </p:nvSpPr>
        <p:spPr>
          <a:xfrm>
            <a:off x="10122408" y="1975104"/>
            <a:ext cx="914400" cy="128016"/>
          </a:xfrm>
          <a:prstGeom prst="rect">
            <a:avLst/>
          </a:prstGeom>
          <a:noFill/>
          <a:ln/>
        </p:spPr>
        <p:txBody>
          <a:bodyPr wrap="square" rtlCol="0" anchor="ctr"/>
          <a:lstStyle/>
          <a:p>
            <a:pPr algn="ctr" indent="0" marL="0">
              <a:buNone/>
            </a:pPr>
            <a:r>
              <a:rPr lang="en-US" sz="1100" b="1" dirty="0">
                <a:solidFill>
                  <a:srgbClr val="FFFFFF"/>
                </a:solidFill>
              </a:rPr>
              <a:t>测试</a:t>
            </a:r>
            <a:endParaRPr lang="en-US" sz="1100" dirty="0"/>
          </a:p>
        </p:txBody>
      </p:sp>
      <p:sp>
        <p:nvSpPr>
          <p:cNvPr id="26" name="Text 23"/>
          <p:cNvSpPr/>
          <p:nvPr/>
        </p:nvSpPr>
        <p:spPr>
          <a:xfrm>
            <a:off x="10442448" y="2304288"/>
            <a:ext cx="274320" cy="164592"/>
          </a:xfrm>
          <a:prstGeom prst="rect">
            <a:avLst/>
          </a:prstGeom>
          <a:noFill/>
          <a:ln/>
        </p:spPr>
        <p:txBody>
          <a:bodyPr wrap="square" rtlCol="0" anchor="ctr"/>
          <a:lstStyle/>
          <a:p>
            <a:pPr algn="ctr" indent="0" marL="0">
              <a:buNone/>
            </a:pPr>
            <a:r>
              <a:rPr lang="en-US" sz="1600" dirty="0">
                <a:solidFill>
                  <a:srgbClr val="1E74C6"/>
                </a:solidFill>
              </a:rPr>
              <a:t>↓</a:t>
            </a:r>
            <a:endParaRPr lang="en-US" sz="1600" dirty="0"/>
          </a:p>
        </p:txBody>
      </p:sp>
      <p:sp>
        <p:nvSpPr>
          <p:cNvPr id="27" name="Shape 24"/>
          <p:cNvSpPr/>
          <p:nvPr/>
        </p:nvSpPr>
        <p:spPr>
          <a:xfrm>
            <a:off x="6876288" y="2633472"/>
            <a:ext cx="2286000" cy="457200"/>
          </a:xfrm>
          <a:prstGeom prst="roundRect">
            <a:avLst/>
          </a:prstGeom>
          <a:solidFill>
            <a:srgbClr val="EAF2FB"/>
          </a:solidFill>
          <a:ln w="12700">
            <a:solidFill>
              <a:srgbClr val="BFD3EA"/>
            </a:solidFill>
            <a:prstDash val="solid"/>
          </a:ln>
        </p:spPr>
      </p:sp>
      <p:sp>
        <p:nvSpPr>
          <p:cNvPr id="28" name="Text 25"/>
          <p:cNvSpPr/>
          <p:nvPr/>
        </p:nvSpPr>
        <p:spPr>
          <a:xfrm>
            <a:off x="7040880" y="2761488"/>
            <a:ext cx="1965960" cy="146304"/>
          </a:xfrm>
          <a:prstGeom prst="rect">
            <a:avLst/>
          </a:prstGeom>
          <a:noFill/>
          <a:ln/>
        </p:spPr>
        <p:txBody>
          <a:bodyPr wrap="square" rtlCol="0" anchor="ctr"/>
          <a:lstStyle/>
          <a:p>
            <a:pPr algn="ctr" indent="0" marL="0">
              <a:buNone/>
            </a:pPr>
            <a:r>
              <a:rPr lang="en-US" sz="1200" b="1" dirty="0">
                <a:solidFill>
                  <a:srgbClr val="0E5AA7"/>
                </a:solidFill>
              </a:rPr>
              <a:t>同一段代码变更</a:t>
            </a:r>
            <a:endParaRPr lang="en-US" sz="1200" dirty="0"/>
          </a:p>
        </p:txBody>
      </p:sp>
      <p:sp>
        <p:nvSpPr>
          <p:cNvPr id="29" name="Text 26"/>
          <p:cNvSpPr/>
          <p:nvPr/>
        </p:nvSpPr>
        <p:spPr>
          <a:xfrm>
            <a:off x="731520" y="3611880"/>
            <a:ext cx="10835640" cy="2011680"/>
          </a:xfrm>
          <a:prstGeom prst="rect">
            <a:avLst/>
          </a:prstGeom>
          <a:noFill/>
          <a:ln/>
        </p:spPr>
        <p:txBody>
          <a:bodyPr wrap="square" rtlCol="0" anchor="ctr">
            <a:normAutofit/>
          </a:bodyPr>
          <a:lstStyle/>
          <a:p>
            <a:pPr indent="0" marL="0">
              <a:buNone/>
            </a:pPr>
            <a:r>
              <a:rPr lang="en-US" sz="1520" b="1" dirty="0">
                <a:solidFill>
                  <a:srgbClr val="1E74C6"/>
                </a:solidFill>
              </a:rPr>
              <a:t>• </a:t>
            </a:r>
            <a:pPr indent="0" marL="0">
              <a:buNone/>
            </a:pPr>
            <a:r>
              <a:rPr lang="en-US" sz="1520" dirty="0">
                <a:solidFill>
                  <a:srgbClr val="1F2D3D"/>
                </a:solidFill>
              </a:rPr>
              <a:t>第一，覆盖面更广。把同一段改动同时交给业务、安全、性能、架构、测试等不同专家审查，比单一Agent给出一个综合判断，更容易把问题看全。</a:t>
            </a:r>
            <a:endParaRPr lang="en-US" sz="1520" dirty="0"/>
          </a:p>
          <a:p>
            <a:pPr indent="0" marL="0">
              <a:buNone/>
            </a:pPr>
            <a:r>
              <a:rPr lang="en-US" sz="1520" b="1" dirty="0">
                <a:solidFill>
                  <a:srgbClr val="1E74C6"/>
                </a:solidFill>
              </a:rPr>
              <a:t>• </a:t>
            </a:r>
            <a:pPr indent="0" marL="0">
              <a:buNone/>
            </a:pPr>
            <a:r>
              <a:rPr lang="en-US" sz="1520" dirty="0">
                <a:solidFill>
                  <a:srgbClr val="1F2D3D"/>
                </a:solidFill>
              </a:rPr>
              <a:t>第二，职责边界更清晰。每个专家都有明确的关注点和规范边界，后续补充规则、做专项治理统计时，责任归因和能力演进都更明确。</a:t>
            </a:r>
            <a:endParaRPr lang="en-US" sz="1520" dirty="0"/>
          </a:p>
          <a:p>
            <a:pPr indent="0" marL="0">
              <a:buNone/>
            </a:pPr>
            <a:r>
              <a:rPr lang="en-US" sz="1520" b="1" dirty="0">
                <a:solidFill>
                  <a:srgbClr val="1E74C6"/>
                </a:solidFill>
              </a:rPr>
              <a:t>• </a:t>
            </a:r>
            <a:pPr indent="0" marL="0">
              <a:buNone/>
            </a:pPr>
            <a:r>
              <a:rPr lang="en-US" sz="1520" dirty="0">
                <a:solidFill>
                  <a:srgbClr val="1F2D3D"/>
                </a:solidFill>
              </a:rPr>
              <a:t>第三，扩展更容易。当某类问题开始频繁出现时，不必整体重写审查逻辑，只要增加一个新专家或新Skill，就可以把专项能力接入现有流程。</a:t>
            </a:r>
            <a:endParaRPr lang="en-US" sz="1520" dirty="0"/>
          </a:p>
          <a:p>
            <a:pPr indent="0" marL="0">
              <a:buNone/>
            </a:pPr>
            <a:r>
              <a:rPr lang="en-US" sz="1520" b="1" dirty="0">
                <a:solidFill>
                  <a:srgbClr val="1E74C6"/>
                </a:solidFill>
              </a:rPr>
              <a:t>• </a:t>
            </a:r>
            <a:pPr indent="0" marL="0">
              <a:buNone/>
            </a:pPr>
            <a:r>
              <a:rPr lang="en-US" sz="1520" dirty="0">
                <a:solidFill>
                  <a:srgbClr val="1F2D3D"/>
                </a:solidFill>
              </a:rPr>
              <a:t>第四，更符合企业真实评审方式。研发团队本来就会用业务、架构、安全等多角色共同把关，多Agent只是把这种组织分工工程化、系统化。</a:t>
            </a:r>
            <a:endParaRPr lang="en-US" sz="1520" dirty="0"/>
          </a:p>
        </p:txBody>
      </p:sp>
      <p:sp>
        <p:nvSpPr>
          <p:cNvPr id="30" name="Shape 27"/>
          <p:cNvSpPr/>
          <p:nvPr/>
        </p:nvSpPr>
        <p:spPr>
          <a:xfrm>
            <a:off x="594360" y="5989320"/>
            <a:ext cx="10972800" cy="384048"/>
          </a:xfrm>
          <a:prstGeom prst="roundRect">
            <a:avLst/>
          </a:prstGeom>
          <a:solidFill>
            <a:srgbClr val="E8F1FB"/>
          </a:solidFill>
          <a:ln w="12700">
            <a:solidFill>
              <a:srgbClr val="D2E2F5"/>
            </a:solidFill>
            <a:prstDash val="solid"/>
          </a:ln>
        </p:spPr>
      </p:sp>
      <p:sp>
        <p:nvSpPr>
          <p:cNvPr id="31" name="Text 28"/>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多Agent的核心不是“多模型并发”，而是把多专业分工固化进系统，让同一段代码能从多个质量维度被稳定审视。</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多Agent 是如何实现的</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用可控流程把代码变更、专家路由和结果聚合串成一条工程链路</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实现</a:t>
            </a:r>
            <a:endParaRPr lang="en-US" sz="1050" dirty="0"/>
          </a:p>
        </p:txBody>
      </p:sp>
      <p:sp>
        <p:nvSpPr>
          <p:cNvPr id="5" name="Shape 3"/>
          <p:cNvSpPr/>
          <p:nvPr/>
        </p:nvSpPr>
        <p:spPr>
          <a:xfrm>
            <a:off x="1755648" y="1737360"/>
            <a:ext cx="347472" cy="0"/>
          </a:xfrm>
          <a:prstGeom prst="line">
            <a:avLst/>
          </a:prstGeom>
          <a:noFill/>
          <a:ln w="12700">
            <a:solidFill>
              <a:srgbClr val="93B8DF"/>
            </a:solidFill>
            <a:prstDash val="solid"/>
            <a:headEnd type="none"/>
            <a:tailEnd type="triangle"/>
          </a:ln>
        </p:spPr>
      </p:sp>
      <p:sp>
        <p:nvSpPr>
          <p:cNvPr id="6" name="Shape 4"/>
          <p:cNvSpPr/>
          <p:nvPr/>
        </p:nvSpPr>
        <p:spPr>
          <a:xfrm>
            <a:off x="3246120" y="1737360"/>
            <a:ext cx="347472" cy="0"/>
          </a:xfrm>
          <a:prstGeom prst="line">
            <a:avLst/>
          </a:prstGeom>
          <a:noFill/>
          <a:ln w="12700">
            <a:solidFill>
              <a:srgbClr val="93B8DF"/>
            </a:solidFill>
            <a:prstDash val="solid"/>
            <a:headEnd type="none"/>
            <a:tailEnd type="triangle"/>
          </a:ln>
        </p:spPr>
      </p:sp>
      <p:sp>
        <p:nvSpPr>
          <p:cNvPr id="7" name="Shape 5"/>
          <p:cNvSpPr/>
          <p:nvPr/>
        </p:nvSpPr>
        <p:spPr>
          <a:xfrm>
            <a:off x="4736592" y="1737360"/>
            <a:ext cx="347472" cy="0"/>
          </a:xfrm>
          <a:prstGeom prst="line">
            <a:avLst/>
          </a:prstGeom>
          <a:noFill/>
          <a:ln w="12700">
            <a:solidFill>
              <a:srgbClr val="93B8DF"/>
            </a:solidFill>
            <a:prstDash val="solid"/>
            <a:headEnd type="none"/>
            <a:tailEnd type="triangle"/>
          </a:ln>
        </p:spPr>
      </p:sp>
      <p:sp>
        <p:nvSpPr>
          <p:cNvPr id="8" name="Shape 6"/>
          <p:cNvSpPr/>
          <p:nvPr/>
        </p:nvSpPr>
        <p:spPr>
          <a:xfrm>
            <a:off x="6227064" y="1737360"/>
            <a:ext cx="347472" cy="0"/>
          </a:xfrm>
          <a:prstGeom prst="line">
            <a:avLst/>
          </a:prstGeom>
          <a:noFill/>
          <a:ln w="12700">
            <a:solidFill>
              <a:srgbClr val="93B8DF"/>
            </a:solidFill>
            <a:prstDash val="solid"/>
            <a:headEnd type="none"/>
            <a:tailEnd type="triangle"/>
          </a:ln>
        </p:spPr>
      </p:sp>
      <p:sp>
        <p:nvSpPr>
          <p:cNvPr id="9" name="Shape 7"/>
          <p:cNvSpPr/>
          <p:nvPr/>
        </p:nvSpPr>
        <p:spPr>
          <a:xfrm>
            <a:off x="7717536" y="1737360"/>
            <a:ext cx="347472" cy="0"/>
          </a:xfrm>
          <a:prstGeom prst="line">
            <a:avLst/>
          </a:prstGeom>
          <a:noFill/>
          <a:ln w="12700">
            <a:solidFill>
              <a:srgbClr val="93B8DF"/>
            </a:solidFill>
            <a:prstDash val="solid"/>
            <a:headEnd type="none"/>
            <a:tailEnd type="triangle"/>
          </a:ln>
        </p:spPr>
      </p:sp>
      <p:sp>
        <p:nvSpPr>
          <p:cNvPr id="10" name="Shape 8"/>
          <p:cNvSpPr/>
          <p:nvPr/>
        </p:nvSpPr>
        <p:spPr>
          <a:xfrm>
            <a:off x="9208008" y="1737360"/>
            <a:ext cx="347472" cy="0"/>
          </a:xfrm>
          <a:prstGeom prst="line">
            <a:avLst/>
          </a:prstGeom>
          <a:noFill/>
          <a:ln w="12700">
            <a:solidFill>
              <a:srgbClr val="93B8DF"/>
            </a:solidFill>
            <a:prstDash val="solid"/>
            <a:headEnd type="none"/>
            <a:tailEnd type="triangle"/>
          </a:ln>
        </p:spPr>
      </p:sp>
      <p:sp>
        <p:nvSpPr>
          <p:cNvPr id="11" name="Shape 9"/>
          <p:cNvSpPr/>
          <p:nvPr/>
        </p:nvSpPr>
        <p:spPr>
          <a:xfrm>
            <a:off x="658368" y="1417320"/>
            <a:ext cx="1097280" cy="658368"/>
          </a:xfrm>
          <a:prstGeom prst="roundRect">
            <a:avLst/>
          </a:prstGeom>
          <a:solidFill>
            <a:srgbClr val="FFFFFF"/>
          </a:solidFill>
          <a:ln w="12700">
            <a:solidFill>
              <a:srgbClr val="BFD3EA"/>
            </a:solidFill>
            <a:prstDash val="solid"/>
          </a:ln>
        </p:spPr>
      </p:sp>
      <p:sp>
        <p:nvSpPr>
          <p:cNvPr id="12" name="Text 10"/>
          <p:cNvSpPr/>
          <p:nvPr/>
        </p:nvSpPr>
        <p:spPr>
          <a:xfrm>
            <a:off x="704088"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代码变更输入</a:t>
            </a:r>
            <a:endParaRPr lang="en-US" sz="1080" dirty="0"/>
          </a:p>
        </p:txBody>
      </p:sp>
      <p:sp>
        <p:nvSpPr>
          <p:cNvPr id="13" name="Shape 11"/>
          <p:cNvSpPr/>
          <p:nvPr/>
        </p:nvSpPr>
        <p:spPr>
          <a:xfrm>
            <a:off x="2148840" y="1417320"/>
            <a:ext cx="1097280" cy="658368"/>
          </a:xfrm>
          <a:prstGeom prst="roundRect">
            <a:avLst/>
          </a:prstGeom>
          <a:solidFill>
            <a:srgbClr val="F3F8FD"/>
          </a:solidFill>
          <a:ln w="12700">
            <a:solidFill>
              <a:srgbClr val="BFD3EA"/>
            </a:solidFill>
            <a:prstDash val="solid"/>
          </a:ln>
        </p:spPr>
      </p:sp>
      <p:sp>
        <p:nvSpPr>
          <p:cNvPr id="14" name="Text 12"/>
          <p:cNvSpPr/>
          <p:nvPr/>
        </p:nvSpPr>
        <p:spPr>
          <a:xfrm>
            <a:off x="2194560"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Diff解析</a:t>
            </a:r>
            <a:endParaRPr lang="en-US" sz="1080" dirty="0"/>
          </a:p>
        </p:txBody>
      </p:sp>
      <p:sp>
        <p:nvSpPr>
          <p:cNvPr id="15" name="Shape 13"/>
          <p:cNvSpPr/>
          <p:nvPr/>
        </p:nvSpPr>
        <p:spPr>
          <a:xfrm>
            <a:off x="3639312" y="1417320"/>
            <a:ext cx="1097280" cy="658368"/>
          </a:xfrm>
          <a:prstGeom prst="roundRect">
            <a:avLst/>
          </a:prstGeom>
          <a:solidFill>
            <a:srgbClr val="FFFFFF"/>
          </a:solidFill>
          <a:ln w="12700">
            <a:solidFill>
              <a:srgbClr val="BFD3EA"/>
            </a:solidFill>
            <a:prstDash val="solid"/>
          </a:ln>
        </p:spPr>
      </p:sp>
      <p:sp>
        <p:nvSpPr>
          <p:cNvPr id="16" name="Text 14"/>
          <p:cNvSpPr/>
          <p:nvPr/>
        </p:nvSpPr>
        <p:spPr>
          <a:xfrm>
            <a:off x="3685032"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风险识别</a:t>
            </a:r>
            <a:endParaRPr lang="en-US" sz="1080" dirty="0"/>
          </a:p>
        </p:txBody>
      </p:sp>
      <p:sp>
        <p:nvSpPr>
          <p:cNvPr id="17" name="Shape 15"/>
          <p:cNvSpPr/>
          <p:nvPr/>
        </p:nvSpPr>
        <p:spPr>
          <a:xfrm>
            <a:off x="5129784" y="1417320"/>
            <a:ext cx="1097280" cy="658368"/>
          </a:xfrm>
          <a:prstGeom prst="roundRect">
            <a:avLst/>
          </a:prstGeom>
          <a:solidFill>
            <a:srgbClr val="F3F8FD"/>
          </a:solidFill>
          <a:ln w="12700">
            <a:solidFill>
              <a:srgbClr val="BFD3EA"/>
            </a:solidFill>
            <a:prstDash val="solid"/>
          </a:ln>
        </p:spPr>
      </p:sp>
      <p:sp>
        <p:nvSpPr>
          <p:cNvPr id="18" name="Text 16"/>
          <p:cNvSpPr/>
          <p:nvPr/>
        </p:nvSpPr>
        <p:spPr>
          <a:xfrm>
            <a:off x="5175504"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专家路由</a:t>
            </a:r>
            <a:endParaRPr lang="en-US" sz="1080" dirty="0"/>
          </a:p>
        </p:txBody>
      </p:sp>
      <p:sp>
        <p:nvSpPr>
          <p:cNvPr id="19" name="Shape 17"/>
          <p:cNvSpPr/>
          <p:nvPr/>
        </p:nvSpPr>
        <p:spPr>
          <a:xfrm>
            <a:off x="6620256" y="1417320"/>
            <a:ext cx="1097280" cy="658368"/>
          </a:xfrm>
          <a:prstGeom prst="roundRect">
            <a:avLst/>
          </a:prstGeom>
          <a:solidFill>
            <a:srgbClr val="FFFFFF"/>
          </a:solidFill>
          <a:ln w="12700">
            <a:solidFill>
              <a:srgbClr val="BFD3EA"/>
            </a:solidFill>
            <a:prstDash val="solid"/>
          </a:ln>
        </p:spPr>
      </p:sp>
      <p:sp>
        <p:nvSpPr>
          <p:cNvPr id="20" name="Text 18"/>
          <p:cNvSpPr/>
          <p:nvPr/>
        </p:nvSpPr>
        <p:spPr>
          <a:xfrm>
            <a:off x="6665976"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并行审查</a:t>
            </a:r>
            <a:endParaRPr lang="en-US" sz="1080" dirty="0"/>
          </a:p>
        </p:txBody>
      </p:sp>
      <p:sp>
        <p:nvSpPr>
          <p:cNvPr id="21" name="Shape 19"/>
          <p:cNvSpPr/>
          <p:nvPr/>
        </p:nvSpPr>
        <p:spPr>
          <a:xfrm>
            <a:off x="8110728" y="1417320"/>
            <a:ext cx="1097280" cy="658368"/>
          </a:xfrm>
          <a:prstGeom prst="roundRect">
            <a:avLst/>
          </a:prstGeom>
          <a:solidFill>
            <a:srgbClr val="F3F8FD"/>
          </a:solidFill>
          <a:ln w="12700">
            <a:solidFill>
              <a:srgbClr val="BFD3EA"/>
            </a:solidFill>
            <a:prstDash val="solid"/>
          </a:ln>
        </p:spPr>
      </p:sp>
      <p:sp>
        <p:nvSpPr>
          <p:cNvPr id="22" name="Text 20"/>
          <p:cNvSpPr/>
          <p:nvPr/>
        </p:nvSpPr>
        <p:spPr>
          <a:xfrm>
            <a:off x="8156448"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结果聚合</a:t>
            </a:r>
            <a:endParaRPr lang="en-US" sz="1080" dirty="0"/>
          </a:p>
        </p:txBody>
      </p:sp>
      <p:sp>
        <p:nvSpPr>
          <p:cNvPr id="23" name="Shape 21"/>
          <p:cNvSpPr/>
          <p:nvPr/>
        </p:nvSpPr>
        <p:spPr>
          <a:xfrm>
            <a:off x="9601200" y="1417320"/>
            <a:ext cx="1097280" cy="658368"/>
          </a:xfrm>
          <a:prstGeom prst="roundRect">
            <a:avLst/>
          </a:prstGeom>
          <a:solidFill>
            <a:srgbClr val="FFFFFF"/>
          </a:solidFill>
          <a:ln w="12700">
            <a:solidFill>
              <a:srgbClr val="BFD3EA"/>
            </a:solidFill>
            <a:prstDash val="solid"/>
          </a:ln>
        </p:spPr>
      </p:sp>
      <p:sp>
        <p:nvSpPr>
          <p:cNvPr id="24" name="Text 22"/>
          <p:cNvSpPr/>
          <p:nvPr/>
        </p:nvSpPr>
        <p:spPr>
          <a:xfrm>
            <a:off x="9646920" y="1636776"/>
            <a:ext cx="1005840" cy="164592"/>
          </a:xfrm>
          <a:prstGeom prst="rect">
            <a:avLst/>
          </a:prstGeom>
          <a:noFill/>
          <a:ln/>
        </p:spPr>
        <p:txBody>
          <a:bodyPr wrap="square" rtlCol="0" anchor="ctr">
            <a:normAutofit/>
          </a:bodyPr>
          <a:lstStyle/>
          <a:p>
            <a:pPr algn="ctr" indent="0" marL="0">
              <a:buNone/>
            </a:pPr>
            <a:r>
              <a:rPr lang="en-US" sz="1080" b="1" dirty="0">
                <a:solidFill>
                  <a:srgbClr val="0E5AA7"/>
                </a:solidFill>
              </a:rPr>
              <a:t>报告输出</a:t>
            </a:r>
            <a:endParaRPr lang="en-US" sz="1080" dirty="0"/>
          </a:p>
        </p:txBody>
      </p:sp>
      <p:sp>
        <p:nvSpPr>
          <p:cNvPr id="25" name="Shape 23"/>
          <p:cNvSpPr/>
          <p:nvPr/>
        </p:nvSpPr>
        <p:spPr>
          <a:xfrm>
            <a:off x="749808" y="2514600"/>
            <a:ext cx="5074920" cy="841248"/>
          </a:xfrm>
          <a:prstGeom prst="roundRect">
            <a:avLst/>
          </a:prstGeom>
          <a:solidFill>
            <a:srgbClr val="FFFFFF"/>
          </a:solidFill>
          <a:ln w="12700">
            <a:solidFill>
              <a:srgbClr val="BFD3EA"/>
            </a:solidFill>
            <a:prstDash val="solid"/>
          </a:ln>
        </p:spPr>
      </p:sp>
      <p:sp>
        <p:nvSpPr>
          <p:cNvPr id="26" name="Shape 24"/>
          <p:cNvSpPr/>
          <p:nvPr/>
        </p:nvSpPr>
        <p:spPr>
          <a:xfrm>
            <a:off x="914400" y="2660904"/>
            <a:ext cx="73152" cy="548640"/>
          </a:xfrm>
          <a:prstGeom prst="roundRect">
            <a:avLst/>
          </a:prstGeom>
          <a:solidFill>
            <a:srgbClr val="1E74C6"/>
          </a:solidFill>
          <a:ln w="12700">
            <a:solidFill>
              <a:srgbClr val="1E74C6"/>
            </a:solidFill>
            <a:prstDash val="solid"/>
          </a:ln>
        </p:spPr>
      </p:sp>
      <p:sp>
        <p:nvSpPr>
          <p:cNvPr id="27" name="Text 25"/>
          <p:cNvSpPr/>
          <p:nvPr/>
        </p:nvSpPr>
        <p:spPr>
          <a:xfrm>
            <a:off x="1069848" y="2679192"/>
            <a:ext cx="4663440" cy="201168"/>
          </a:xfrm>
          <a:prstGeom prst="rect">
            <a:avLst/>
          </a:prstGeom>
          <a:noFill/>
          <a:ln/>
        </p:spPr>
        <p:txBody>
          <a:bodyPr wrap="square" lIns="0" tIns="0" rIns="0" bIns="0" rtlCol="0" anchor="ctr"/>
          <a:lstStyle/>
          <a:p>
            <a:pPr indent="0" marL="0">
              <a:buNone/>
            </a:pPr>
            <a:r>
              <a:rPr lang="en-US" sz="1450" b="1" dirty="0">
                <a:solidFill>
                  <a:srgbClr val="0E5AA7"/>
                </a:solidFill>
              </a:rPr>
              <a:t>输入是什么</a:t>
            </a:r>
            <a:endParaRPr lang="en-US" sz="1450" dirty="0"/>
          </a:p>
        </p:txBody>
      </p:sp>
      <p:sp>
        <p:nvSpPr>
          <p:cNvPr id="28" name="Text 26"/>
          <p:cNvSpPr/>
          <p:nvPr/>
        </p:nvSpPr>
        <p:spPr>
          <a:xfrm>
            <a:off x="1069848" y="2953512"/>
            <a:ext cx="4663440" cy="31089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系统接收 MR/PR 的变更文件、代码片段、提交说明等信息，审查对象不再是“整仓库泛泛而谈”，而是与本次提交直接相关的真实改动。</a:t>
            </a:r>
            <a:endParaRPr lang="en-US" sz="1150" dirty="0"/>
          </a:p>
        </p:txBody>
      </p:sp>
      <p:sp>
        <p:nvSpPr>
          <p:cNvPr id="29" name="Shape 27"/>
          <p:cNvSpPr/>
          <p:nvPr/>
        </p:nvSpPr>
        <p:spPr>
          <a:xfrm>
            <a:off x="6327648" y="2514600"/>
            <a:ext cx="5074920" cy="841248"/>
          </a:xfrm>
          <a:prstGeom prst="roundRect">
            <a:avLst/>
          </a:prstGeom>
          <a:solidFill>
            <a:srgbClr val="FFFFFF"/>
          </a:solidFill>
          <a:ln w="12700">
            <a:solidFill>
              <a:srgbClr val="BFD3EA"/>
            </a:solidFill>
            <a:prstDash val="solid"/>
          </a:ln>
        </p:spPr>
      </p:sp>
      <p:sp>
        <p:nvSpPr>
          <p:cNvPr id="30" name="Shape 28"/>
          <p:cNvSpPr/>
          <p:nvPr/>
        </p:nvSpPr>
        <p:spPr>
          <a:xfrm>
            <a:off x="6492240" y="2660904"/>
            <a:ext cx="73152" cy="548640"/>
          </a:xfrm>
          <a:prstGeom prst="roundRect">
            <a:avLst/>
          </a:prstGeom>
          <a:solidFill>
            <a:srgbClr val="1E74C6"/>
          </a:solidFill>
          <a:ln w="12700">
            <a:solidFill>
              <a:srgbClr val="1E74C6"/>
            </a:solidFill>
            <a:prstDash val="solid"/>
          </a:ln>
        </p:spPr>
      </p:sp>
      <p:sp>
        <p:nvSpPr>
          <p:cNvPr id="31" name="Text 29"/>
          <p:cNvSpPr/>
          <p:nvPr/>
        </p:nvSpPr>
        <p:spPr>
          <a:xfrm>
            <a:off x="6647688" y="2679192"/>
            <a:ext cx="4663440" cy="201168"/>
          </a:xfrm>
          <a:prstGeom prst="rect">
            <a:avLst/>
          </a:prstGeom>
          <a:noFill/>
          <a:ln/>
        </p:spPr>
        <p:txBody>
          <a:bodyPr wrap="square" lIns="0" tIns="0" rIns="0" bIns="0" rtlCol="0" anchor="ctr"/>
          <a:lstStyle/>
          <a:p>
            <a:pPr indent="0" marL="0">
              <a:buNone/>
            </a:pPr>
            <a:r>
              <a:rPr lang="en-US" sz="1450" b="1" dirty="0">
                <a:solidFill>
                  <a:srgbClr val="0E5AA7"/>
                </a:solidFill>
              </a:rPr>
              <a:t>路由依据是什么</a:t>
            </a:r>
            <a:endParaRPr lang="en-US" sz="1450" dirty="0"/>
          </a:p>
        </p:txBody>
      </p:sp>
      <p:sp>
        <p:nvSpPr>
          <p:cNvPr id="32" name="Text 30"/>
          <p:cNvSpPr/>
          <p:nvPr/>
        </p:nvSpPr>
        <p:spPr>
          <a:xfrm>
            <a:off x="6647688" y="2953512"/>
            <a:ext cx="4663440" cy="31089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先看文件类型、改动范围、风险信号和用户是否手动指定专家，再决定哪些专家参与。这样既能减少无效审查，也能把有限算力用在高风险位置。</a:t>
            </a:r>
            <a:endParaRPr lang="en-US" sz="1150" dirty="0"/>
          </a:p>
        </p:txBody>
      </p:sp>
      <p:sp>
        <p:nvSpPr>
          <p:cNvPr id="33" name="Shape 31"/>
          <p:cNvSpPr/>
          <p:nvPr/>
        </p:nvSpPr>
        <p:spPr>
          <a:xfrm>
            <a:off x="749808" y="3593592"/>
            <a:ext cx="5074920" cy="841248"/>
          </a:xfrm>
          <a:prstGeom prst="roundRect">
            <a:avLst/>
          </a:prstGeom>
          <a:solidFill>
            <a:srgbClr val="FFFFFF"/>
          </a:solidFill>
          <a:ln w="12700">
            <a:solidFill>
              <a:srgbClr val="BFD3EA"/>
            </a:solidFill>
            <a:prstDash val="solid"/>
          </a:ln>
        </p:spPr>
      </p:sp>
      <p:sp>
        <p:nvSpPr>
          <p:cNvPr id="34" name="Shape 32"/>
          <p:cNvSpPr/>
          <p:nvPr/>
        </p:nvSpPr>
        <p:spPr>
          <a:xfrm>
            <a:off x="914400" y="3739896"/>
            <a:ext cx="73152" cy="548640"/>
          </a:xfrm>
          <a:prstGeom prst="roundRect">
            <a:avLst/>
          </a:prstGeom>
          <a:solidFill>
            <a:srgbClr val="1E74C6"/>
          </a:solidFill>
          <a:ln w="12700">
            <a:solidFill>
              <a:srgbClr val="1E74C6"/>
            </a:solidFill>
            <a:prstDash val="solid"/>
          </a:ln>
        </p:spPr>
      </p:sp>
      <p:sp>
        <p:nvSpPr>
          <p:cNvPr id="35" name="Text 33"/>
          <p:cNvSpPr/>
          <p:nvPr/>
        </p:nvSpPr>
        <p:spPr>
          <a:xfrm>
            <a:off x="1069848" y="3758184"/>
            <a:ext cx="4663440" cy="201168"/>
          </a:xfrm>
          <a:prstGeom prst="rect">
            <a:avLst/>
          </a:prstGeom>
          <a:noFill/>
          <a:ln/>
        </p:spPr>
        <p:txBody>
          <a:bodyPr wrap="square" lIns="0" tIns="0" rIns="0" bIns="0" rtlCol="0" anchor="ctr"/>
          <a:lstStyle/>
          <a:p>
            <a:pPr indent="0" marL="0">
              <a:buNone/>
            </a:pPr>
            <a:r>
              <a:rPr lang="en-US" sz="1450" b="1" dirty="0">
                <a:solidFill>
                  <a:srgbClr val="0E5AA7"/>
                </a:solidFill>
              </a:rPr>
              <a:t>每个专家拿到什么</a:t>
            </a:r>
            <a:endParaRPr lang="en-US" sz="1450" dirty="0"/>
          </a:p>
        </p:txBody>
      </p:sp>
      <p:sp>
        <p:nvSpPr>
          <p:cNvPr id="36" name="Text 34"/>
          <p:cNvSpPr/>
          <p:nvPr/>
        </p:nvSpPr>
        <p:spPr>
          <a:xfrm>
            <a:off x="1069848" y="4032504"/>
            <a:ext cx="4663440" cy="31089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不是只给一段 diff，而是同时注入变更代码、关联源码上下文、规范文档、通用编码规则，以及必要的工具分析结果，尽量减少“脱离上下文判断”。</a:t>
            </a:r>
            <a:endParaRPr lang="en-US" sz="1150" dirty="0"/>
          </a:p>
        </p:txBody>
      </p:sp>
      <p:sp>
        <p:nvSpPr>
          <p:cNvPr id="37" name="Shape 35"/>
          <p:cNvSpPr/>
          <p:nvPr/>
        </p:nvSpPr>
        <p:spPr>
          <a:xfrm>
            <a:off x="6327648" y="3593592"/>
            <a:ext cx="5074920" cy="841248"/>
          </a:xfrm>
          <a:prstGeom prst="roundRect">
            <a:avLst/>
          </a:prstGeom>
          <a:solidFill>
            <a:srgbClr val="FFFFFF"/>
          </a:solidFill>
          <a:ln w="12700">
            <a:solidFill>
              <a:srgbClr val="BFD3EA"/>
            </a:solidFill>
            <a:prstDash val="solid"/>
          </a:ln>
        </p:spPr>
      </p:sp>
      <p:sp>
        <p:nvSpPr>
          <p:cNvPr id="38" name="Shape 36"/>
          <p:cNvSpPr/>
          <p:nvPr/>
        </p:nvSpPr>
        <p:spPr>
          <a:xfrm>
            <a:off x="6492240" y="3739896"/>
            <a:ext cx="73152" cy="548640"/>
          </a:xfrm>
          <a:prstGeom prst="roundRect">
            <a:avLst/>
          </a:prstGeom>
          <a:solidFill>
            <a:srgbClr val="1E74C6"/>
          </a:solidFill>
          <a:ln w="12700">
            <a:solidFill>
              <a:srgbClr val="1E74C6"/>
            </a:solidFill>
            <a:prstDash val="solid"/>
          </a:ln>
        </p:spPr>
      </p:sp>
      <p:sp>
        <p:nvSpPr>
          <p:cNvPr id="39" name="Text 37"/>
          <p:cNvSpPr/>
          <p:nvPr/>
        </p:nvSpPr>
        <p:spPr>
          <a:xfrm>
            <a:off x="6647688" y="3758184"/>
            <a:ext cx="4663440" cy="201168"/>
          </a:xfrm>
          <a:prstGeom prst="rect">
            <a:avLst/>
          </a:prstGeom>
          <a:noFill/>
          <a:ln/>
        </p:spPr>
        <p:txBody>
          <a:bodyPr wrap="square" lIns="0" tIns="0" rIns="0" bIns="0" rtlCol="0" anchor="ctr"/>
          <a:lstStyle/>
          <a:p>
            <a:pPr indent="0" marL="0">
              <a:buNone/>
            </a:pPr>
            <a:r>
              <a:rPr lang="en-US" sz="1450" b="1" dirty="0">
                <a:solidFill>
                  <a:srgbClr val="0E5AA7"/>
                </a:solidFill>
              </a:rPr>
              <a:t>聚合阶段做什么</a:t>
            </a:r>
            <a:endParaRPr lang="en-US" sz="1450" dirty="0"/>
          </a:p>
        </p:txBody>
      </p:sp>
      <p:sp>
        <p:nvSpPr>
          <p:cNvPr id="40" name="Text 38"/>
          <p:cNvSpPr/>
          <p:nvPr/>
        </p:nvSpPr>
        <p:spPr>
          <a:xfrm>
            <a:off x="6647688" y="4032504"/>
            <a:ext cx="4663440" cy="31089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系统会对专家产出的 findings 做去重、归并、分级和证据整理，尽量把相近问题合并表达，避免开发者面对重复、分散的意见。</a:t>
            </a:r>
            <a:endParaRPr lang="en-US" sz="1150" dirty="0"/>
          </a:p>
        </p:txBody>
      </p:sp>
      <p:sp>
        <p:nvSpPr>
          <p:cNvPr id="41" name="Shape 39"/>
          <p:cNvSpPr/>
          <p:nvPr/>
        </p:nvSpPr>
        <p:spPr>
          <a:xfrm>
            <a:off x="749808" y="4672584"/>
            <a:ext cx="5074920" cy="841248"/>
          </a:xfrm>
          <a:prstGeom prst="roundRect">
            <a:avLst/>
          </a:prstGeom>
          <a:solidFill>
            <a:srgbClr val="FFFFFF"/>
          </a:solidFill>
          <a:ln w="12700">
            <a:solidFill>
              <a:srgbClr val="BFD3EA"/>
            </a:solidFill>
            <a:prstDash val="solid"/>
          </a:ln>
        </p:spPr>
      </p:sp>
      <p:sp>
        <p:nvSpPr>
          <p:cNvPr id="42" name="Shape 40"/>
          <p:cNvSpPr/>
          <p:nvPr/>
        </p:nvSpPr>
        <p:spPr>
          <a:xfrm>
            <a:off x="914400" y="4818888"/>
            <a:ext cx="73152" cy="548640"/>
          </a:xfrm>
          <a:prstGeom prst="roundRect">
            <a:avLst/>
          </a:prstGeom>
          <a:solidFill>
            <a:srgbClr val="2F8F6B"/>
          </a:solidFill>
          <a:ln w="12700">
            <a:solidFill>
              <a:srgbClr val="2F8F6B"/>
            </a:solidFill>
            <a:prstDash val="solid"/>
          </a:ln>
        </p:spPr>
      </p:sp>
      <p:sp>
        <p:nvSpPr>
          <p:cNvPr id="43" name="Text 41"/>
          <p:cNvSpPr/>
          <p:nvPr/>
        </p:nvSpPr>
        <p:spPr>
          <a:xfrm>
            <a:off x="1069848" y="4837176"/>
            <a:ext cx="4663440" cy="201168"/>
          </a:xfrm>
          <a:prstGeom prst="rect">
            <a:avLst/>
          </a:prstGeom>
          <a:noFill/>
          <a:ln/>
        </p:spPr>
        <p:txBody>
          <a:bodyPr wrap="square" lIns="0" tIns="0" rIns="0" bIns="0" rtlCol="0" anchor="ctr"/>
          <a:lstStyle/>
          <a:p>
            <a:pPr indent="0" marL="0">
              <a:buNone/>
            </a:pPr>
            <a:r>
              <a:rPr lang="en-US" sz="1450" b="1" dirty="0">
                <a:solidFill>
                  <a:srgbClr val="0E5AA7"/>
                </a:solidFill>
              </a:rPr>
              <a:t>为什么能工程化落地</a:t>
            </a:r>
            <a:endParaRPr lang="en-US" sz="1450" dirty="0"/>
          </a:p>
        </p:txBody>
      </p:sp>
      <p:sp>
        <p:nvSpPr>
          <p:cNvPr id="44" name="Text 42"/>
          <p:cNvSpPr/>
          <p:nvPr/>
        </p:nvSpPr>
        <p:spPr>
          <a:xfrm>
            <a:off x="1069848" y="5111496"/>
            <a:ext cx="4663440" cy="31089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整条链路是可拆分、可监控、可扩展的：前面是输入和路由，中间是并行审查，后面是统一聚合和人工裁决，便于接入现有研发流程。</a:t>
            </a:r>
            <a:endParaRPr lang="en-US" sz="1150" dirty="0"/>
          </a:p>
        </p:txBody>
      </p:sp>
      <p:sp>
        <p:nvSpPr>
          <p:cNvPr id="45" name="Shape 43"/>
          <p:cNvSpPr/>
          <p:nvPr/>
        </p:nvSpPr>
        <p:spPr>
          <a:xfrm>
            <a:off x="594360" y="5989320"/>
            <a:ext cx="10972800" cy="384048"/>
          </a:xfrm>
          <a:prstGeom prst="roundRect">
            <a:avLst/>
          </a:prstGeom>
          <a:solidFill>
            <a:srgbClr val="E8F1FB"/>
          </a:solidFill>
          <a:ln w="12700">
            <a:solidFill>
              <a:srgbClr val="D2E2F5"/>
            </a:solidFill>
            <a:prstDash val="solid"/>
          </a:ln>
        </p:spPr>
      </p:sp>
      <p:sp>
        <p:nvSpPr>
          <p:cNvPr id="46" name="Text 44"/>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多Agent落地不是把代码直接丢给大模型“问一遍”，而是把输入、路由、审查、聚合、人工裁决做成一条可控的工程流程。</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多Agent 实现的关键设计</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把专家分工、上下文注入和治理输出设计成可持续演进的机制</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设计</a:t>
            </a:r>
            <a:endParaRPr lang="en-US" sz="1050" dirty="0"/>
          </a:p>
        </p:txBody>
      </p:sp>
      <p:sp>
        <p:nvSpPr>
          <p:cNvPr id="5" name="Shape 3"/>
          <p:cNvSpPr/>
          <p:nvPr/>
        </p:nvSpPr>
        <p:spPr>
          <a:xfrm>
            <a:off x="7406640" y="1280160"/>
            <a:ext cx="4023360" cy="4114800"/>
          </a:xfrm>
          <a:prstGeom prst="roundRect">
            <a:avLst/>
          </a:prstGeom>
          <a:solidFill>
            <a:srgbClr val="FFFFFF"/>
          </a:solidFill>
          <a:ln w="12700">
            <a:solidFill>
              <a:srgbClr val="BFD3EA"/>
            </a:solidFill>
            <a:prstDash val="solid"/>
          </a:ln>
        </p:spPr>
      </p:sp>
      <p:sp>
        <p:nvSpPr>
          <p:cNvPr id="6" name="Shape 4"/>
          <p:cNvSpPr/>
          <p:nvPr/>
        </p:nvSpPr>
        <p:spPr>
          <a:xfrm>
            <a:off x="7726680" y="1554480"/>
            <a:ext cx="3383280" cy="566928"/>
          </a:xfrm>
          <a:prstGeom prst="roundRect">
            <a:avLst/>
          </a:prstGeom>
          <a:solidFill>
            <a:srgbClr val="EAF2FB"/>
          </a:solidFill>
          <a:ln w="12700">
            <a:solidFill>
              <a:srgbClr val="BFD3EA"/>
            </a:solidFill>
            <a:prstDash val="solid"/>
          </a:ln>
        </p:spPr>
      </p:sp>
      <p:sp>
        <p:nvSpPr>
          <p:cNvPr id="7" name="Text 5"/>
          <p:cNvSpPr/>
          <p:nvPr/>
        </p:nvSpPr>
        <p:spPr>
          <a:xfrm>
            <a:off x="7845552" y="1636776"/>
            <a:ext cx="822960" cy="128016"/>
          </a:xfrm>
          <a:prstGeom prst="rect">
            <a:avLst/>
          </a:prstGeom>
          <a:noFill/>
          <a:ln/>
        </p:spPr>
        <p:txBody>
          <a:bodyPr wrap="square" rtlCol="0" anchor="ctr"/>
          <a:lstStyle/>
          <a:p>
            <a:pPr indent="0" marL="0">
              <a:buNone/>
            </a:pPr>
            <a:r>
              <a:rPr lang="en-US" sz="1130" b="1" dirty="0">
                <a:solidFill>
                  <a:srgbClr val="0E5AA7"/>
                </a:solidFill>
              </a:rPr>
              <a:t>输入层</a:t>
            </a:r>
            <a:endParaRPr lang="en-US" sz="1130" dirty="0"/>
          </a:p>
        </p:txBody>
      </p:sp>
      <p:sp>
        <p:nvSpPr>
          <p:cNvPr id="8" name="Text 6"/>
          <p:cNvSpPr/>
          <p:nvPr/>
        </p:nvSpPr>
        <p:spPr>
          <a:xfrm>
            <a:off x="8778240" y="1627632"/>
            <a:ext cx="1828800" cy="292608"/>
          </a:xfrm>
          <a:prstGeom prst="rect">
            <a:avLst/>
          </a:prstGeom>
          <a:noFill/>
          <a:ln/>
        </p:spPr>
        <p:txBody>
          <a:bodyPr wrap="square" rtlCol="0" anchor="ctr">
            <a:normAutofit/>
          </a:bodyPr>
          <a:lstStyle/>
          <a:p>
            <a:pPr indent="0" marL="0">
              <a:buNone/>
            </a:pPr>
            <a:r>
              <a:rPr lang="en-US" sz="960" dirty="0">
                <a:solidFill>
                  <a:srgbClr val="1F2D3D"/>
                </a:solidFill>
              </a:rPr>
              <a:t>代码变更、源码上下文、规范文档、工具结果</a:t>
            </a:r>
            <a:endParaRPr lang="en-US" sz="960" dirty="0"/>
          </a:p>
        </p:txBody>
      </p:sp>
      <p:sp>
        <p:nvSpPr>
          <p:cNvPr id="9" name="Text 7"/>
          <p:cNvSpPr/>
          <p:nvPr/>
        </p:nvSpPr>
        <p:spPr>
          <a:xfrm>
            <a:off x="9235440" y="2221992"/>
            <a:ext cx="274320" cy="128016"/>
          </a:xfrm>
          <a:prstGeom prst="rect">
            <a:avLst/>
          </a:prstGeom>
          <a:noFill/>
          <a:ln/>
        </p:spPr>
        <p:txBody>
          <a:bodyPr wrap="square" rtlCol="0" anchor="ctr"/>
          <a:lstStyle/>
          <a:p>
            <a:pPr algn="ctr" indent="0" marL="0">
              <a:buNone/>
            </a:pPr>
            <a:r>
              <a:rPr lang="en-US" sz="1300" dirty="0">
                <a:solidFill>
                  <a:srgbClr val="1E74C6"/>
                </a:solidFill>
              </a:rPr>
              <a:t>↓</a:t>
            </a:r>
            <a:endParaRPr lang="en-US" sz="1300" dirty="0"/>
          </a:p>
        </p:txBody>
      </p:sp>
      <p:sp>
        <p:nvSpPr>
          <p:cNvPr id="10" name="Shape 8"/>
          <p:cNvSpPr/>
          <p:nvPr/>
        </p:nvSpPr>
        <p:spPr>
          <a:xfrm>
            <a:off x="7726680" y="2468880"/>
            <a:ext cx="3383280" cy="566928"/>
          </a:xfrm>
          <a:prstGeom prst="roundRect">
            <a:avLst/>
          </a:prstGeom>
          <a:solidFill>
            <a:srgbClr val="F7FAFE"/>
          </a:solidFill>
          <a:ln w="12700">
            <a:solidFill>
              <a:srgbClr val="BFD3EA"/>
            </a:solidFill>
            <a:prstDash val="solid"/>
          </a:ln>
        </p:spPr>
      </p:sp>
      <p:sp>
        <p:nvSpPr>
          <p:cNvPr id="11" name="Text 9"/>
          <p:cNvSpPr/>
          <p:nvPr/>
        </p:nvSpPr>
        <p:spPr>
          <a:xfrm>
            <a:off x="7845552" y="2551176"/>
            <a:ext cx="822960" cy="128016"/>
          </a:xfrm>
          <a:prstGeom prst="rect">
            <a:avLst/>
          </a:prstGeom>
          <a:noFill/>
          <a:ln/>
        </p:spPr>
        <p:txBody>
          <a:bodyPr wrap="square" rtlCol="0" anchor="ctr"/>
          <a:lstStyle/>
          <a:p>
            <a:pPr indent="0" marL="0">
              <a:buNone/>
            </a:pPr>
            <a:r>
              <a:rPr lang="en-US" sz="1130" b="1" dirty="0">
                <a:solidFill>
                  <a:srgbClr val="0E5AA7"/>
                </a:solidFill>
              </a:rPr>
              <a:t>专家层</a:t>
            </a:r>
            <a:endParaRPr lang="en-US" sz="1130" dirty="0"/>
          </a:p>
        </p:txBody>
      </p:sp>
      <p:sp>
        <p:nvSpPr>
          <p:cNvPr id="12" name="Text 10"/>
          <p:cNvSpPr/>
          <p:nvPr/>
        </p:nvSpPr>
        <p:spPr>
          <a:xfrm>
            <a:off x="8778240" y="2542032"/>
            <a:ext cx="1828800" cy="292608"/>
          </a:xfrm>
          <a:prstGeom prst="rect">
            <a:avLst/>
          </a:prstGeom>
          <a:noFill/>
          <a:ln/>
        </p:spPr>
        <p:txBody>
          <a:bodyPr wrap="square" rtlCol="0" anchor="ctr">
            <a:normAutofit/>
          </a:bodyPr>
          <a:lstStyle/>
          <a:p>
            <a:pPr indent="0" marL="0">
              <a:buNone/>
            </a:pPr>
            <a:r>
              <a:rPr lang="en-US" sz="960" dirty="0">
                <a:solidFill>
                  <a:srgbClr val="1F2D3D"/>
                </a:solidFill>
              </a:rPr>
              <a:t>业务 / 架构 / 安全 / 性能 / 测试等专家</a:t>
            </a:r>
            <a:endParaRPr lang="en-US" sz="960" dirty="0"/>
          </a:p>
        </p:txBody>
      </p:sp>
      <p:sp>
        <p:nvSpPr>
          <p:cNvPr id="13" name="Text 11"/>
          <p:cNvSpPr/>
          <p:nvPr/>
        </p:nvSpPr>
        <p:spPr>
          <a:xfrm>
            <a:off x="9235440" y="3136392"/>
            <a:ext cx="274320" cy="128016"/>
          </a:xfrm>
          <a:prstGeom prst="rect">
            <a:avLst/>
          </a:prstGeom>
          <a:noFill/>
          <a:ln/>
        </p:spPr>
        <p:txBody>
          <a:bodyPr wrap="square" rtlCol="0" anchor="ctr"/>
          <a:lstStyle/>
          <a:p>
            <a:pPr algn="ctr" indent="0" marL="0">
              <a:buNone/>
            </a:pPr>
            <a:r>
              <a:rPr lang="en-US" sz="1300" dirty="0">
                <a:solidFill>
                  <a:srgbClr val="1E74C6"/>
                </a:solidFill>
              </a:rPr>
              <a:t>↓</a:t>
            </a:r>
            <a:endParaRPr lang="en-US" sz="1300" dirty="0"/>
          </a:p>
        </p:txBody>
      </p:sp>
      <p:sp>
        <p:nvSpPr>
          <p:cNvPr id="14" name="Shape 12"/>
          <p:cNvSpPr/>
          <p:nvPr/>
        </p:nvSpPr>
        <p:spPr>
          <a:xfrm>
            <a:off x="7726680" y="3383280"/>
            <a:ext cx="3383280" cy="566928"/>
          </a:xfrm>
          <a:prstGeom prst="roundRect">
            <a:avLst/>
          </a:prstGeom>
          <a:solidFill>
            <a:srgbClr val="EAF2FB"/>
          </a:solidFill>
          <a:ln w="12700">
            <a:solidFill>
              <a:srgbClr val="BFD3EA"/>
            </a:solidFill>
            <a:prstDash val="solid"/>
          </a:ln>
        </p:spPr>
      </p:sp>
      <p:sp>
        <p:nvSpPr>
          <p:cNvPr id="15" name="Text 13"/>
          <p:cNvSpPr/>
          <p:nvPr/>
        </p:nvSpPr>
        <p:spPr>
          <a:xfrm>
            <a:off x="7845552" y="3465576"/>
            <a:ext cx="822960" cy="128016"/>
          </a:xfrm>
          <a:prstGeom prst="rect">
            <a:avLst/>
          </a:prstGeom>
          <a:noFill/>
          <a:ln/>
        </p:spPr>
        <p:txBody>
          <a:bodyPr wrap="square" rtlCol="0" anchor="ctr"/>
          <a:lstStyle/>
          <a:p>
            <a:pPr indent="0" marL="0">
              <a:buNone/>
            </a:pPr>
            <a:r>
              <a:rPr lang="en-US" sz="1130" b="1" dirty="0">
                <a:solidFill>
                  <a:srgbClr val="0E5AA7"/>
                </a:solidFill>
              </a:rPr>
              <a:t>扩展层</a:t>
            </a:r>
            <a:endParaRPr lang="en-US" sz="1130" dirty="0"/>
          </a:p>
        </p:txBody>
      </p:sp>
      <p:sp>
        <p:nvSpPr>
          <p:cNvPr id="16" name="Text 14"/>
          <p:cNvSpPr/>
          <p:nvPr/>
        </p:nvSpPr>
        <p:spPr>
          <a:xfrm>
            <a:off x="8778240" y="3456432"/>
            <a:ext cx="1828800" cy="292608"/>
          </a:xfrm>
          <a:prstGeom prst="rect">
            <a:avLst/>
          </a:prstGeom>
          <a:noFill/>
          <a:ln/>
        </p:spPr>
        <p:txBody>
          <a:bodyPr wrap="square" rtlCol="0" anchor="ctr">
            <a:normAutofit/>
          </a:bodyPr>
          <a:lstStyle/>
          <a:p>
            <a:pPr indent="0" marL="0">
              <a:buNone/>
            </a:pPr>
            <a:r>
              <a:rPr lang="en-US" sz="960" dirty="0">
                <a:solidFill>
                  <a:srgbClr val="1F2D3D"/>
                </a:solidFill>
              </a:rPr>
              <a:t>Skill、专项规则、数据库/缓存/消息队列工具</a:t>
            </a:r>
            <a:endParaRPr lang="en-US" sz="960" dirty="0"/>
          </a:p>
        </p:txBody>
      </p:sp>
      <p:sp>
        <p:nvSpPr>
          <p:cNvPr id="17" name="Text 15"/>
          <p:cNvSpPr/>
          <p:nvPr/>
        </p:nvSpPr>
        <p:spPr>
          <a:xfrm>
            <a:off x="9235440" y="4050792"/>
            <a:ext cx="274320" cy="128016"/>
          </a:xfrm>
          <a:prstGeom prst="rect">
            <a:avLst/>
          </a:prstGeom>
          <a:noFill/>
          <a:ln/>
        </p:spPr>
        <p:txBody>
          <a:bodyPr wrap="square" rtlCol="0" anchor="ctr"/>
          <a:lstStyle/>
          <a:p>
            <a:pPr algn="ctr" indent="0" marL="0">
              <a:buNone/>
            </a:pPr>
            <a:r>
              <a:rPr lang="en-US" sz="1300" dirty="0">
                <a:solidFill>
                  <a:srgbClr val="1E74C6"/>
                </a:solidFill>
              </a:rPr>
              <a:t>↓</a:t>
            </a:r>
            <a:endParaRPr lang="en-US" sz="1300" dirty="0"/>
          </a:p>
        </p:txBody>
      </p:sp>
      <p:sp>
        <p:nvSpPr>
          <p:cNvPr id="18" name="Shape 16"/>
          <p:cNvSpPr/>
          <p:nvPr/>
        </p:nvSpPr>
        <p:spPr>
          <a:xfrm>
            <a:off x="7726680" y="4297680"/>
            <a:ext cx="3383280" cy="566928"/>
          </a:xfrm>
          <a:prstGeom prst="roundRect">
            <a:avLst/>
          </a:prstGeom>
          <a:solidFill>
            <a:srgbClr val="F7FAFE"/>
          </a:solidFill>
          <a:ln w="12700">
            <a:solidFill>
              <a:srgbClr val="BFD3EA"/>
            </a:solidFill>
            <a:prstDash val="solid"/>
          </a:ln>
        </p:spPr>
      </p:sp>
      <p:sp>
        <p:nvSpPr>
          <p:cNvPr id="19" name="Text 17"/>
          <p:cNvSpPr/>
          <p:nvPr/>
        </p:nvSpPr>
        <p:spPr>
          <a:xfrm>
            <a:off x="7845552" y="4379976"/>
            <a:ext cx="822960" cy="128016"/>
          </a:xfrm>
          <a:prstGeom prst="rect">
            <a:avLst/>
          </a:prstGeom>
          <a:noFill/>
          <a:ln/>
        </p:spPr>
        <p:txBody>
          <a:bodyPr wrap="square" rtlCol="0" anchor="ctr"/>
          <a:lstStyle/>
          <a:p>
            <a:pPr indent="0" marL="0">
              <a:buNone/>
            </a:pPr>
            <a:r>
              <a:rPr lang="en-US" sz="1130" b="1" dirty="0">
                <a:solidFill>
                  <a:srgbClr val="0E5AA7"/>
                </a:solidFill>
              </a:rPr>
              <a:t>输出层</a:t>
            </a:r>
            <a:endParaRPr lang="en-US" sz="1130" dirty="0"/>
          </a:p>
        </p:txBody>
      </p:sp>
      <p:sp>
        <p:nvSpPr>
          <p:cNvPr id="20" name="Text 18"/>
          <p:cNvSpPr/>
          <p:nvPr/>
        </p:nvSpPr>
        <p:spPr>
          <a:xfrm>
            <a:off x="8778240" y="4370832"/>
            <a:ext cx="1828800" cy="292608"/>
          </a:xfrm>
          <a:prstGeom prst="rect">
            <a:avLst/>
          </a:prstGeom>
          <a:noFill/>
          <a:ln/>
        </p:spPr>
        <p:txBody>
          <a:bodyPr wrap="square" rtlCol="0" anchor="ctr">
            <a:normAutofit/>
          </a:bodyPr>
          <a:lstStyle/>
          <a:p>
            <a:pPr indent="0" marL="0">
              <a:buNone/>
            </a:pPr>
            <a:r>
              <a:rPr lang="en-US" sz="960" dirty="0">
                <a:solidFill>
                  <a:srgbClr val="1F2D3D"/>
                </a:solidFill>
              </a:rPr>
              <a:t>问题分级、证据链、修复建议、人工确认</a:t>
            </a:r>
            <a:endParaRPr lang="en-US" sz="960" dirty="0"/>
          </a:p>
        </p:txBody>
      </p:sp>
      <p:sp>
        <p:nvSpPr>
          <p:cNvPr id="21" name="Text 19"/>
          <p:cNvSpPr/>
          <p:nvPr/>
        </p:nvSpPr>
        <p:spPr>
          <a:xfrm>
            <a:off x="731520" y="1325880"/>
            <a:ext cx="6263640" cy="4526280"/>
          </a:xfrm>
          <a:prstGeom prst="rect">
            <a:avLst/>
          </a:prstGeom>
          <a:noFill/>
          <a:ln/>
        </p:spPr>
        <p:txBody>
          <a:bodyPr wrap="square" rtlCol="0" anchor="ctr">
            <a:normAutofit/>
          </a:bodyPr>
          <a:lstStyle/>
          <a:p>
            <a:pPr indent="0" marL="0">
              <a:buNone/>
            </a:pPr>
            <a:r>
              <a:rPr lang="en-US" sz="1520" b="1" dirty="0">
                <a:solidFill>
                  <a:srgbClr val="1E74C6"/>
                </a:solidFill>
              </a:rPr>
              <a:t>• </a:t>
            </a:r>
            <a:pPr indent="0" marL="0">
              <a:buNone/>
            </a:pPr>
            <a:r>
              <a:rPr lang="en-US" sz="1520" dirty="0">
                <a:solidFill>
                  <a:srgbClr val="1F2D3D"/>
                </a:solidFill>
              </a:rPr>
              <a:t>专家角色定义要清楚。每个Agent都应有明确职责、规范边界和输出格式，避免多个专家重复说同一件事，或者所有专家都停留在泛泛建议上。</a:t>
            </a:r>
            <a:endParaRPr lang="en-US" sz="1520" dirty="0"/>
          </a:p>
          <a:p>
            <a:pPr indent="0" marL="0">
              <a:buNone/>
            </a:pPr>
            <a:r>
              <a:rPr lang="en-US" sz="1520" b="1" dirty="0">
                <a:solidFill>
                  <a:srgbClr val="1E74C6"/>
                </a:solidFill>
              </a:rPr>
              <a:t>• </a:t>
            </a:r>
            <a:pPr indent="0" marL="0">
              <a:buNone/>
            </a:pPr>
            <a:r>
              <a:rPr lang="en-US" sz="1520" dirty="0">
                <a:solidFill>
                  <a:srgbClr val="1F2D3D"/>
                </a:solidFill>
              </a:rPr>
              <a:t>上下文注入要完整。真正影响审查质量的，往往不是模型本身，而是是否把必要的源码上下文、规范要求和工具分析结果一并提供给专家。</a:t>
            </a:r>
            <a:endParaRPr lang="en-US" sz="1520" dirty="0"/>
          </a:p>
          <a:p>
            <a:pPr indent="0" marL="0">
              <a:buNone/>
            </a:pPr>
            <a:r>
              <a:rPr lang="en-US" sz="1520" b="1" dirty="0">
                <a:solidFill>
                  <a:srgbClr val="1E74C6"/>
                </a:solidFill>
              </a:rPr>
              <a:t>• </a:t>
            </a:r>
            <a:pPr indent="0" marL="0">
              <a:buNone/>
            </a:pPr>
            <a:r>
              <a:rPr lang="en-US" sz="1520" dirty="0">
                <a:solidFill>
                  <a:srgbClr val="1F2D3D"/>
                </a:solidFill>
              </a:rPr>
              <a:t>路由机制要可控。既支持用户手动指定专家，也支持系统根据改动类型和风险信号自动选择，兼顾灵活性与效率。</a:t>
            </a:r>
            <a:endParaRPr lang="en-US" sz="1520" dirty="0"/>
          </a:p>
          <a:p>
            <a:pPr indent="0" marL="0">
              <a:buNone/>
            </a:pPr>
            <a:r>
              <a:rPr lang="en-US" sz="1520" b="1" dirty="0">
                <a:solidFill>
                  <a:srgbClr val="1E74C6"/>
                </a:solidFill>
              </a:rPr>
              <a:t>• </a:t>
            </a:r>
            <a:pPr indent="0" marL="0">
              <a:buNone/>
            </a:pPr>
            <a:r>
              <a:rPr lang="en-US" sz="1520" dirty="0">
                <a:solidFill>
                  <a:srgbClr val="1F2D3D"/>
                </a:solidFill>
              </a:rPr>
              <a:t>协同方式以并行审查、统一聚合为主，不建议让专家长时间无序对话。这样更容易控制耗时、稳定性和输出结构。</a:t>
            </a:r>
            <a:endParaRPr lang="en-US" sz="1520" dirty="0"/>
          </a:p>
          <a:p>
            <a:pPr indent="0" marL="0">
              <a:buNone/>
            </a:pPr>
            <a:r>
              <a:rPr lang="en-US" sz="1520" b="1" dirty="0">
                <a:solidFill>
                  <a:srgbClr val="1E74C6"/>
                </a:solidFill>
              </a:rPr>
              <a:t>• </a:t>
            </a:r>
            <a:pPr indent="0" marL="0">
              <a:buNone/>
            </a:pPr>
            <a:r>
              <a:rPr lang="en-US" sz="1520" dirty="0">
                <a:solidFill>
                  <a:srgbClr val="1F2D3D"/>
                </a:solidFill>
              </a:rPr>
              <a:t>Skill 和 Tool 扩展负责补专项能力，例如数据库、缓存、消息、DDD 等场景。输出阶段则负责把问题按严重度、证据和建议统一整理。</a:t>
            </a:r>
            <a:endParaRPr lang="en-US" sz="1520" dirty="0"/>
          </a:p>
        </p:txBody>
      </p:sp>
      <p:sp>
        <p:nvSpPr>
          <p:cNvPr id="22" name="Shape 20"/>
          <p:cNvSpPr/>
          <p:nvPr/>
        </p:nvSpPr>
        <p:spPr>
          <a:xfrm>
            <a:off x="594360" y="5989320"/>
            <a:ext cx="10972800" cy="384048"/>
          </a:xfrm>
          <a:prstGeom prst="roundRect">
            <a:avLst/>
          </a:prstGeom>
          <a:solidFill>
            <a:srgbClr val="E8F1FB"/>
          </a:solidFill>
          <a:ln w="12700">
            <a:solidFill>
              <a:srgbClr val="D2E2F5"/>
            </a:solidFill>
            <a:prstDash val="solid"/>
          </a:ln>
        </p:spPr>
      </p:sp>
      <p:sp>
        <p:nvSpPr>
          <p:cNvPr id="23" name="Text 21"/>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关键设计的重点是“可控”和“可演进”：专家分工清楚、上下文充分、路由可解释、扩展可配置、输出可治理。</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多Agent 框架选型参考</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框架选择不只看能不能跑起来，更要看流程可控性、集成能力和后续演进空间</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选型</a:t>
            </a:r>
            <a:endParaRPr lang="en-US" sz="1050" dirty="0"/>
          </a:p>
        </p:txBody>
      </p:sp>
      <p:sp>
        <p:nvSpPr>
          <p:cNvPr id="5" name="Shape 3"/>
          <p:cNvSpPr/>
          <p:nvPr/>
        </p:nvSpPr>
        <p:spPr>
          <a:xfrm>
            <a:off x="502920" y="1353312"/>
            <a:ext cx="1280160" cy="420624"/>
          </a:xfrm>
          <a:prstGeom prst="rect">
            <a:avLst/>
          </a:prstGeom>
          <a:solidFill>
            <a:srgbClr val="0E5AA7"/>
          </a:solidFill>
          <a:ln w="12700">
            <a:solidFill>
              <a:srgbClr val="BFD3EA"/>
            </a:solidFill>
            <a:prstDash val="solid"/>
          </a:ln>
        </p:spPr>
      </p:sp>
      <p:sp>
        <p:nvSpPr>
          <p:cNvPr id="6" name="Text 4"/>
          <p:cNvSpPr/>
          <p:nvPr/>
        </p:nvSpPr>
        <p:spPr>
          <a:xfrm>
            <a:off x="539496" y="1490472"/>
            <a:ext cx="1207008" cy="109728"/>
          </a:xfrm>
          <a:prstGeom prst="rect">
            <a:avLst/>
          </a:prstGeom>
          <a:noFill/>
          <a:ln/>
        </p:spPr>
        <p:txBody>
          <a:bodyPr wrap="square" rtlCol="0" anchor="ctr"/>
          <a:lstStyle/>
          <a:p>
            <a:pPr algn="ctr" indent="0" marL="0">
              <a:buNone/>
            </a:pPr>
            <a:r>
              <a:rPr lang="en-US" sz="1040" b="1" dirty="0">
                <a:solidFill>
                  <a:srgbClr val="FFFFFF"/>
                </a:solidFill>
              </a:rPr>
              <a:t>框架</a:t>
            </a:r>
            <a:endParaRPr lang="en-US" sz="1040" dirty="0"/>
          </a:p>
        </p:txBody>
      </p:sp>
      <p:sp>
        <p:nvSpPr>
          <p:cNvPr id="7" name="Shape 5"/>
          <p:cNvSpPr/>
          <p:nvPr/>
        </p:nvSpPr>
        <p:spPr>
          <a:xfrm>
            <a:off x="1783080" y="1353312"/>
            <a:ext cx="1947672" cy="420624"/>
          </a:xfrm>
          <a:prstGeom prst="rect">
            <a:avLst/>
          </a:prstGeom>
          <a:solidFill>
            <a:srgbClr val="0E5AA7"/>
          </a:solidFill>
          <a:ln w="12700">
            <a:solidFill>
              <a:srgbClr val="BFD3EA"/>
            </a:solidFill>
            <a:prstDash val="solid"/>
          </a:ln>
        </p:spPr>
      </p:sp>
      <p:sp>
        <p:nvSpPr>
          <p:cNvPr id="8" name="Text 6"/>
          <p:cNvSpPr/>
          <p:nvPr/>
        </p:nvSpPr>
        <p:spPr>
          <a:xfrm>
            <a:off x="1819656" y="1490472"/>
            <a:ext cx="1874520" cy="109728"/>
          </a:xfrm>
          <a:prstGeom prst="rect">
            <a:avLst/>
          </a:prstGeom>
          <a:noFill/>
          <a:ln/>
        </p:spPr>
        <p:txBody>
          <a:bodyPr wrap="square" rtlCol="0" anchor="ctr"/>
          <a:lstStyle/>
          <a:p>
            <a:pPr algn="ctr" indent="0" marL="0">
              <a:buNone/>
            </a:pPr>
            <a:r>
              <a:rPr lang="en-US" sz="1040" b="1" dirty="0">
                <a:solidFill>
                  <a:srgbClr val="FFFFFF"/>
                </a:solidFill>
              </a:rPr>
              <a:t>定位/特点</a:t>
            </a:r>
            <a:endParaRPr lang="en-US" sz="1040" dirty="0"/>
          </a:p>
        </p:txBody>
      </p:sp>
      <p:sp>
        <p:nvSpPr>
          <p:cNvPr id="9" name="Shape 7"/>
          <p:cNvSpPr/>
          <p:nvPr/>
        </p:nvSpPr>
        <p:spPr>
          <a:xfrm>
            <a:off x="3730752" y="1353312"/>
            <a:ext cx="2176272" cy="420624"/>
          </a:xfrm>
          <a:prstGeom prst="rect">
            <a:avLst/>
          </a:prstGeom>
          <a:solidFill>
            <a:srgbClr val="0E5AA7"/>
          </a:solidFill>
          <a:ln w="12700">
            <a:solidFill>
              <a:srgbClr val="BFD3EA"/>
            </a:solidFill>
            <a:prstDash val="solid"/>
          </a:ln>
        </p:spPr>
      </p:sp>
      <p:sp>
        <p:nvSpPr>
          <p:cNvPr id="10" name="Text 8"/>
          <p:cNvSpPr/>
          <p:nvPr/>
        </p:nvSpPr>
        <p:spPr>
          <a:xfrm>
            <a:off x="3767328" y="1490472"/>
            <a:ext cx="2103120" cy="109728"/>
          </a:xfrm>
          <a:prstGeom prst="rect">
            <a:avLst/>
          </a:prstGeom>
          <a:noFill/>
          <a:ln/>
        </p:spPr>
        <p:txBody>
          <a:bodyPr wrap="square" rtlCol="0" anchor="ctr"/>
          <a:lstStyle/>
          <a:p>
            <a:pPr algn="ctr" indent="0" marL="0">
              <a:buNone/>
            </a:pPr>
            <a:r>
              <a:rPr lang="en-US" sz="1040" b="1" dirty="0">
                <a:solidFill>
                  <a:srgbClr val="FFFFFF"/>
                </a:solidFill>
              </a:rPr>
              <a:t>主要优点</a:t>
            </a:r>
            <a:endParaRPr lang="en-US" sz="1040" dirty="0"/>
          </a:p>
        </p:txBody>
      </p:sp>
      <p:sp>
        <p:nvSpPr>
          <p:cNvPr id="11" name="Shape 9"/>
          <p:cNvSpPr/>
          <p:nvPr/>
        </p:nvSpPr>
        <p:spPr>
          <a:xfrm>
            <a:off x="5907024" y="1353312"/>
            <a:ext cx="2048256" cy="420624"/>
          </a:xfrm>
          <a:prstGeom prst="rect">
            <a:avLst/>
          </a:prstGeom>
          <a:solidFill>
            <a:srgbClr val="0E5AA7"/>
          </a:solidFill>
          <a:ln w="12700">
            <a:solidFill>
              <a:srgbClr val="BFD3EA"/>
            </a:solidFill>
            <a:prstDash val="solid"/>
          </a:ln>
        </p:spPr>
      </p:sp>
      <p:sp>
        <p:nvSpPr>
          <p:cNvPr id="12" name="Text 10"/>
          <p:cNvSpPr/>
          <p:nvPr/>
        </p:nvSpPr>
        <p:spPr>
          <a:xfrm>
            <a:off x="5943600" y="1490472"/>
            <a:ext cx="1975104" cy="109728"/>
          </a:xfrm>
          <a:prstGeom prst="rect">
            <a:avLst/>
          </a:prstGeom>
          <a:noFill/>
          <a:ln/>
        </p:spPr>
        <p:txBody>
          <a:bodyPr wrap="square" rtlCol="0" anchor="ctr"/>
          <a:lstStyle/>
          <a:p>
            <a:pPr algn="ctr" indent="0" marL="0">
              <a:buNone/>
            </a:pPr>
            <a:r>
              <a:rPr lang="en-US" sz="1040" b="1" dirty="0">
                <a:solidFill>
                  <a:srgbClr val="FFFFFF"/>
                </a:solidFill>
              </a:rPr>
              <a:t>主要局限</a:t>
            </a:r>
            <a:endParaRPr lang="en-US" sz="1040" dirty="0"/>
          </a:p>
        </p:txBody>
      </p:sp>
      <p:sp>
        <p:nvSpPr>
          <p:cNvPr id="13" name="Shape 11"/>
          <p:cNvSpPr/>
          <p:nvPr/>
        </p:nvSpPr>
        <p:spPr>
          <a:xfrm>
            <a:off x="7955280" y="1353312"/>
            <a:ext cx="3730752" cy="420624"/>
          </a:xfrm>
          <a:prstGeom prst="rect">
            <a:avLst/>
          </a:prstGeom>
          <a:solidFill>
            <a:srgbClr val="0E5AA7"/>
          </a:solidFill>
          <a:ln w="12700">
            <a:solidFill>
              <a:srgbClr val="BFD3EA"/>
            </a:solidFill>
            <a:prstDash val="solid"/>
          </a:ln>
        </p:spPr>
      </p:sp>
      <p:sp>
        <p:nvSpPr>
          <p:cNvPr id="14" name="Text 12"/>
          <p:cNvSpPr/>
          <p:nvPr/>
        </p:nvSpPr>
        <p:spPr>
          <a:xfrm>
            <a:off x="7991856" y="1490472"/>
            <a:ext cx="3657600" cy="109728"/>
          </a:xfrm>
          <a:prstGeom prst="rect">
            <a:avLst/>
          </a:prstGeom>
          <a:noFill/>
          <a:ln/>
        </p:spPr>
        <p:txBody>
          <a:bodyPr wrap="square" rtlCol="0" anchor="ctr"/>
          <a:lstStyle/>
          <a:p>
            <a:pPr algn="ctr" indent="0" marL="0">
              <a:buNone/>
            </a:pPr>
            <a:r>
              <a:rPr lang="en-US" sz="1040" b="1" dirty="0">
                <a:solidFill>
                  <a:srgbClr val="FFFFFF"/>
                </a:solidFill>
              </a:rPr>
              <a:t>适配判断</a:t>
            </a:r>
            <a:endParaRPr lang="en-US" sz="1040" dirty="0"/>
          </a:p>
        </p:txBody>
      </p:sp>
      <p:sp>
        <p:nvSpPr>
          <p:cNvPr id="15" name="Shape 13"/>
          <p:cNvSpPr/>
          <p:nvPr/>
        </p:nvSpPr>
        <p:spPr>
          <a:xfrm>
            <a:off x="502920" y="1773936"/>
            <a:ext cx="1280160" cy="713232"/>
          </a:xfrm>
          <a:prstGeom prst="rect">
            <a:avLst/>
          </a:prstGeom>
          <a:solidFill>
            <a:srgbClr val="FFFFFF"/>
          </a:solidFill>
          <a:ln w="12700">
            <a:solidFill>
              <a:srgbClr val="D7E6F5"/>
            </a:solidFill>
            <a:prstDash val="solid"/>
          </a:ln>
        </p:spPr>
      </p:sp>
      <p:sp>
        <p:nvSpPr>
          <p:cNvPr id="16" name="Text 14"/>
          <p:cNvSpPr/>
          <p:nvPr/>
        </p:nvSpPr>
        <p:spPr>
          <a:xfrm>
            <a:off x="548640" y="1837944"/>
            <a:ext cx="1188720" cy="566928"/>
          </a:xfrm>
          <a:prstGeom prst="rect">
            <a:avLst/>
          </a:prstGeom>
          <a:noFill/>
          <a:ln/>
        </p:spPr>
        <p:txBody>
          <a:bodyPr wrap="square" lIns="254" tIns="254" rIns="254" bIns="254" rtlCol="0" anchor="ctr">
            <a:normAutofit/>
          </a:bodyPr>
          <a:lstStyle/>
          <a:p>
            <a:pPr algn="ctr" indent="0" marL="0">
              <a:buNone/>
            </a:pPr>
            <a:r>
              <a:rPr lang="en-US" sz="940" b="1" dirty="0">
                <a:solidFill>
                  <a:srgbClr val="1F2D3D"/>
                </a:solidFill>
              </a:rPr>
              <a:t>LangGraph</a:t>
            </a:r>
            <a:endParaRPr lang="en-US" sz="940" dirty="0"/>
          </a:p>
        </p:txBody>
      </p:sp>
      <p:sp>
        <p:nvSpPr>
          <p:cNvPr id="17" name="Shape 15"/>
          <p:cNvSpPr/>
          <p:nvPr/>
        </p:nvSpPr>
        <p:spPr>
          <a:xfrm>
            <a:off x="1783080" y="1773936"/>
            <a:ext cx="1947672" cy="713232"/>
          </a:xfrm>
          <a:prstGeom prst="rect">
            <a:avLst/>
          </a:prstGeom>
          <a:solidFill>
            <a:srgbClr val="FFFFFF"/>
          </a:solidFill>
          <a:ln w="12700">
            <a:solidFill>
              <a:srgbClr val="D7E6F5"/>
            </a:solidFill>
            <a:prstDash val="solid"/>
          </a:ln>
        </p:spPr>
      </p:sp>
      <p:sp>
        <p:nvSpPr>
          <p:cNvPr id="18" name="Text 16"/>
          <p:cNvSpPr/>
          <p:nvPr/>
        </p:nvSpPr>
        <p:spPr>
          <a:xfrm>
            <a:off x="1828800" y="1837944"/>
            <a:ext cx="18562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图式编排、状态流清晰，偏底层 orchestration。</a:t>
            </a:r>
            <a:endParaRPr lang="en-US" sz="940" dirty="0"/>
          </a:p>
        </p:txBody>
      </p:sp>
      <p:sp>
        <p:nvSpPr>
          <p:cNvPr id="19" name="Shape 17"/>
          <p:cNvSpPr/>
          <p:nvPr/>
        </p:nvSpPr>
        <p:spPr>
          <a:xfrm>
            <a:off x="3730752" y="1773936"/>
            <a:ext cx="2176272" cy="713232"/>
          </a:xfrm>
          <a:prstGeom prst="rect">
            <a:avLst/>
          </a:prstGeom>
          <a:solidFill>
            <a:srgbClr val="FFFFFF"/>
          </a:solidFill>
          <a:ln w="12700">
            <a:solidFill>
              <a:srgbClr val="D7E6F5"/>
            </a:solidFill>
            <a:prstDash val="solid"/>
          </a:ln>
        </p:spPr>
      </p:sp>
      <p:sp>
        <p:nvSpPr>
          <p:cNvPr id="20" name="Text 18"/>
          <p:cNvSpPr/>
          <p:nvPr/>
        </p:nvSpPr>
        <p:spPr>
          <a:xfrm>
            <a:off x="3776472" y="1837944"/>
            <a:ext cx="20848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适合生产级可控流程；支持状态、持久化、人机介入与调试。</a:t>
            </a:r>
            <a:endParaRPr lang="en-US" sz="940" dirty="0"/>
          </a:p>
        </p:txBody>
      </p:sp>
      <p:sp>
        <p:nvSpPr>
          <p:cNvPr id="21" name="Shape 19"/>
          <p:cNvSpPr/>
          <p:nvPr/>
        </p:nvSpPr>
        <p:spPr>
          <a:xfrm>
            <a:off x="5907024" y="1773936"/>
            <a:ext cx="2048256" cy="713232"/>
          </a:xfrm>
          <a:prstGeom prst="rect">
            <a:avLst/>
          </a:prstGeom>
          <a:solidFill>
            <a:srgbClr val="FFFFFF"/>
          </a:solidFill>
          <a:ln w="12700">
            <a:solidFill>
              <a:srgbClr val="D7E6F5"/>
            </a:solidFill>
            <a:prstDash val="solid"/>
          </a:ln>
        </p:spPr>
      </p:sp>
      <p:sp>
        <p:nvSpPr>
          <p:cNvPr id="22" name="Text 20"/>
          <p:cNvSpPr/>
          <p:nvPr/>
        </p:nvSpPr>
        <p:spPr>
          <a:xfrm>
            <a:off x="5952744" y="1837944"/>
            <a:ext cx="1956816"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抽象层较低，前期设计成本高于快速原型框架。</a:t>
            </a:r>
            <a:endParaRPr lang="en-US" sz="940" dirty="0"/>
          </a:p>
        </p:txBody>
      </p:sp>
      <p:sp>
        <p:nvSpPr>
          <p:cNvPr id="23" name="Shape 21"/>
          <p:cNvSpPr/>
          <p:nvPr/>
        </p:nvSpPr>
        <p:spPr>
          <a:xfrm>
            <a:off x="7955280" y="1773936"/>
            <a:ext cx="3730752" cy="713232"/>
          </a:xfrm>
          <a:prstGeom prst="rect">
            <a:avLst/>
          </a:prstGeom>
          <a:solidFill>
            <a:srgbClr val="FFFFFF"/>
          </a:solidFill>
          <a:ln w="12700">
            <a:solidFill>
              <a:srgbClr val="D7E6F5"/>
            </a:solidFill>
            <a:prstDash val="solid"/>
          </a:ln>
        </p:spPr>
      </p:sp>
      <p:sp>
        <p:nvSpPr>
          <p:cNvPr id="24" name="Text 22"/>
          <p:cNvSpPr/>
          <p:nvPr/>
        </p:nvSpPr>
        <p:spPr>
          <a:xfrm>
            <a:off x="8001000" y="1837944"/>
            <a:ext cx="3639312" cy="566928"/>
          </a:xfrm>
          <a:prstGeom prst="rect">
            <a:avLst/>
          </a:prstGeom>
          <a:noFill/>
          <a:ln/>
        </p:spPr>
        <p:txBody>
          <a:bodyPr wrap="square" lIns="254" tIns="254" rIns="254" bIns="254" rtlCol="0" anchor="ctr">
            <a:normAutofit/>
          </a:bodyPr>
          <a:lstStyle/>
          <a:p>
            <a:pPr algn="l" indent="0" marL="0">
              <a:buNone/>
            </a:pPr>
            <a:r>
              <a:rPr lang="en-US" sz="910" dirty="0">
                <a:solidFill>
                  <a:srgbClr val="1F2D3D"/>
                </a:solidFill>
              </a:rPr>
              <a:t>强调稳定流程、可追踪执行和后续治理时，适配度高。</a:t>
            </a:r>
            <a:endParaRPr lang="en-US" sz="910" dirty="0"/>
          </a:p>
        </p:txBody>
      </p:sp>
      <p:sp>
        <p:nvSpPr>
          <p:cNvPr id="25" name="Shape 23"/>
          <p:cNvSpPr/>
          <p:nvPr/>
        </p:nvSpPr>
        <p:spPr>
          <a:xfrm>
            <a:off x="502920" y="2487168"/>
            <a:ext cx="1280160" cy="713232"/>
          </a:xfrm>
          <a:prstGeom prst="rect">
            <a:avLst/>
          </a:prstGeom>
          <a:solidFill>
            <a:srgbClr val="F7FAFE"/>
          </a:solidFill>
          <a:ln w="12700">
            <a:solidFill>
              <a:srgbClr val="D7E6F5"/>
            </a:solidFill>
            <a:prstDash val="solid"/>
          </a:ln>
        </p:spPr>
      </p:sp>
      <p:sp>
        <p:nvSpPr>
          <p:cNvPr id="26" name="Text 24"/>
          <p:cNvSpPr/>
          <p:nvPr/>
        </p:nvSpPr>
        <p:spPr>
          <a:xfrm>
            <a:off x="548640" y="2551176"/>
            <a:ext cx="1188720" cy="566928"/>
          </a:xfrm>
          <a:prstGeom prst="rect">
            <a:avLst/>
          </a:prstGeom>
          <a:noFill/>
          <a:ln/>
        </p:spPr>
        <p:txBody>
          <a:bodyPr wrap="square" lIns="254" tIns="254" rIns="254" bIns="254" rtlCol="0" anchor="ctr">
            <a:normAutofit/>
          </a:bodyPr>
          <a:lstStyle/>
          <a:p>
            <a:pPr algn="ctr" indent="0" marL="0">
              <a:buNone/>
            </a:pPr>
            <a:r>
              <a:rPr lang="en-US" sz="940" b="1" dirty="0">
                <a:solidFill>
                  <a:srgbClr val="1F2D3D"/>
                </a:solidFill>
              </a:rPr>
              <a:t>AutoGen</a:t>
            </a:r>
            <a:endParaRPr lang="en-US" sz="940" dirty="0"/>
          </a:p>
        </p:txBody>
      </p:sp>
      <p:sp>
        <p:nvSpPr>
          <p:cNvPr id="27" name="Shape 25"/>
          <p:cNvSpPr/>
          <p:nvPr/>
        </p:nvSpPr>
        <p:spPr>
          <a:xfrm>
            <a:off x="1783080" y="2487168"/>
            <a:ext cx="1947672" cy="713232"/>
          </a:xfrm>
          <a:prstGeom prst="rect">
            <a:avLst/>
          </a:prstGeom>
          <a:solidFill>
            <a:srgbClr val="F7FAFE"/>
          </a:solidFill>
          <a:ln w="12700">
            <a:solidFill>
              <a:srgbClr val="D7E6F5"/>
            </a:solidFill>
            <a:prstDash val="solid"/>
          </a:ln>
        </p:spPr>
      </p:sp>
      <p:sp>
        <p:nvSpPr>
          <p:cNvPr id="28" name="Text 26"/>
          <p:cNvSpPr/>
          <p:nvPr/>
        </p:nvSpPr>
        <p:spPr>
          <a:xfrm>
            <a:off x="1828800" y="2551176"/>
            <a:ext cx="18562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多Agent协作表达能力强，支持 Teams、Group Chat、GraphFlow。</a:t>
            </a:r>
            <a:endParaRPr lang="en-US" sz="940" dirty="0"/>
          </a:p>
        </p:txBody>
      </p:sp>
      <p:sp>
        <p:nvSpPr>
          <p:cNvPr id="29" name="Shape 27"/>
          <p:cNvSpPr/>
          <p:nvPr/>
        </p:nvSpPr>
        <p:spPr>
          <a:xfrm>
            <a:off x="3730752" y="2487168"/>
            <a:ext cx="2176272" cy="713232"/>
          </a:xfrm>
          <a:prstGeom prst="rect">
            <a:avLst/>
          </a:prstGeom>
          <a:solidFill>
            <a:srgbClr val="F7FAFE"/>
          </a:solidFill>
          <a:ln w="12700">
            <a:solidFill>
              <a:srgbClr val="D7E6F5"/>
            </a:solidFill>
            <a:prstDash val="solid"/>
          </a:ln>
        </p:spPr>
      </p:sp>
      <p:sp>
        <p:nvSpPr>
          <p:cNvPr id="30" name="Text 28"/>
          <p:cNvSpPr/>
          <p:nvPr/>
        </p:nvSpPr>
        <p:spPr>
          <a:xfrm>
            <a:off x="3776472" y="2551176"/>
            <a:ext cx="20848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适合探索型任务、复杂协作模式和多种交互实验。</a:t>
            </a:r>
            <a:endParaRPr lang="en-US" sz="940" dirty="0"/>
          </a:p>
        </p:txBody>
      </p:sp>
      <p:sp>
        <p:nvSpPr>
          <p:cNvPr id="31" name="Shape 29"/>
          <p:cNvSpPr/>
          <p:nvPr/>
        </p:nvSpPr>
        <p:spPr>
          <a:xfrm>
            <a:off x="5907024" y="2487168"/>
            <a:ext cx="2048256" cy="713232"/>
          </a:xfrm>
          <a:prstGeom prst="rect">
            <a:avLst/>
          </a:prstGeom>
          <a:solidFill>
            <a:srgbClr val="F7FAFE"/>
          </a:solidFill>
          <a:ln w="12700">
            <a:solidFill>
              <a:srgbClr val="D7E6F5"/>
            </a:solidFill>
            <a:prstDash val="solid"/>
          </a:ln>
        </p:spPr>
      </p:sp>
      <p:sp>
        <p:nvSpPr>
          <p:cNvPr id="32" name="Text 30"/>
          <p:cNvSpPr/>
          <p:nvPr/>
        </p:nvSpPr>
        <p:spPr>
          <a:xfrm>
            <a:off x="5952744" y="2551176"/>
            <a:ext cx="1956816"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生产流程约束和收敛控制，需要额外工程规范补齐。</a:t>
            </a:r>
            <a:endParaRPr lang="en-US" sz="940" dirty="0"/>
          </a:p>
        </p:txBody>
      </p:sp>
      <p:sp>
        <p:nvSpPr>
          <p:cNvPr id="33" name="Shape 31"/>
          <p:cNvSpPr/>
          <p:nvPr/>
        </p:nvSpPr>
        <p:spPr>
          <a:xfrm>
            <a:off x="7955280" y="2487168"/>
            <a:ext cx="3730752" cy="713232"/>
          </a:xfrm>
          <a:prstGeom prst="rect">
            <a:avLst/>
          </a:prstGeom>
          <a:solidFill>
            <a:srgbClr val="F7FAFE"/>
          </a:solidFill>
          <a:ln w="12700">
            <a:solidFill>
              <a:srgbClr val="D7E6F5"/>
            </a:solidFill>
            <a:prstDash val="solid"/>
          </a:ln>
        </p:spPr>
      </p:sp>
      <p:sp>
        <p:nvSpPr>
          <p:cNvPr id="34" name="Text 32"/>
          <p:cNvSpPr/>
          <p:nvPr/>
        </p:nvSpPr>
        <p:spPr>
          <a:xfrm>
            <a:off x="8001000" y="2551176"/>
            <a:ext cx="3639312" cy="566928"/>
          </a:xfrm>
          <a:prstGeom prst="rect">
            <a:avLst/>
          </a:prstGeom>
          <a:noFill/>
          <a:ln/>
        </p:spPr>
        <p:txBody>
          <a:bodyPr wrap="square" lIns="254" tIns="254" rIns="254" bIns="254" rtlCol="0" anchor="ctr">
            <a:normAutofit/>
          </a:bodyPr>
          <a:lstStyle/>
          <a:p>
            <a:pPr algn="l" indent="0" marL="0">
              <a:buNone/>
            </a:pPr>
            <a:r>
              <a:rPr lang="en-US" sz="910" dirty="0">
                <a:solidFill>
                  <a:srgbClr val="1F2D3D"/>
                </a:solidFill>
              </a:rPr>
              <a:t>适合做机制探索与复杂协作验证，生产化需加强约束。</a:t>
            </a:r>
            <a:endParaRPr lang="en-US" sz="910" dirty="0"/>
          </a:p>
        </p:txBody>
      </p:sp>
      <p:sp>
        <p:nvSpPr>
          <p:cNvPr id="35" name="Shape 33"/>
          <p:cNvSpPr/>
          <p:nvPr/>
        </p:nvSpPr>
        <p:spPr>
          <a:xfrm>
            <a:off x="502920" y="3200400"/>
            <a:ext cx="1280160" cy="713232"/>
          </a:xfrm>
          <a:prstGeom prst="rect">
            <a:avLst/>
          </a:prstGeom>
          <a:solidFill>
            <a:srgbClr val="FFFFFF"/>
          </a:solidFill>
          <a:ln w="12700">
            <a:solidFill>
              <a:srgbClr val="D7E6F5"/>
            </a:solidFill>
            <a:prstDash val="solid"/>
          </a:ln>
        </p:spPr>
      </p:sp>
      <p:sp>
        <p:nvSpPr>
          <p:cNvPr id="36" name="Text 34"/>
          <p:cNvSpPr/>
          <p:nvPr/>
        </p:nvSpPr>
        <p:spPr>
          <a:xfrm>
            <a:off x="548640" y="3264408"/>
            <a:ext cx="1188720" cy="566928"/>
          </a:xfrm>
          <a:prstGeom prst="rect">
            <a:avLst/>
          </a:prstGeom>
          <a:noFill/>
          <a:ln/>
        </p:spPr>
        <p:txBody>
          <a:bodyPr wrap="square" lIns="254" tIns="254" rIns="254" bIns="254" rtlCol="0" anchor="ctr">
            <a:normAutofit/>
          </a:bodyPr>
          <a:lstStyle/>
          <a:p>
            <a:pPr algn="ctr" indent="0" marL="0">
              <a:buNone/>
            </a:pPr>
            <a:r>
              <a:rPr lang="en-US" sz="940" b="1" dirty="0">
                <a:solidFill>
                  <a:srgbClr val="1F2D3D"/>
                </a:solidFill>
              </a:rPr>
              <a:t>CrewAI</a:t>
            </a:r>
            <a:endParaRPr lang="en-US" sz="940" dirty="0"/>
          </a:p>
        </p:txBody>
      </p:sp>
      <p:sp>
        <p:nvSpPr>
          <p:cNvPr id="37" name="Shape 35"/>
          <p:cNvSpPr/>
          <p:nvPr/>
        </p:nvSpPr>
        <p:spPr>
          <a:xfrm>
            <a:off x="1783080" y="3200400"/>
            <a:ext cx="1947672" cy="713232"/>
          </a:xfrm>
          <a:prstGeom prst="rect">
            <a:avLst/>
          </a:prstGeom>
          <a:solidFill>
            <a:srgbClr val="FFFFFF"/>
          </a:solidFill>
          <a:ln w="12700">
            <a:solidFill>
              <a:srgbClr val="D7E6F5"/>
            </a:solidFill>
            <a:prstDash val="solid"/>
          </a:ln>
        </p:spPr>
      </p:sp>
      <p:sp>
        <p:nvSpPr>
          <p:cNvPr id="38" name="Text 36"/>
          <p:cNvSpPr/>
          <p:nvPr/>
        </p:nvSpPr>
        <p:spPr>
          <a:xfrm>
            <a:off x="1828800" y="3264408"/>
            <a:ext cx="18562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角色化清晰，上手快，强调 agents、crews 和 flows。</a:t>
            </a:r>
            <a:endParaRPr lang="en-US" sz="940" dirty="0"/>
          </a:p>
        </p:txBody>
      </p:sp>
      <p:sp>
        <p:nvSpPr>
          <p:cNvPr id="39" name="Shape 37"/>
          <p:cNvSpPr/>
          <p:nvPr/>
        </p:nvSpPr>
        <p:spPr>
          <a:xfrm>
            <a:off x="3730752" y="3200400"/>
            <a:ext cx="2176272" cy="713232"/>
          </a:xfrm>
          <a:prstGeom prst="rect">
            <a:avLst/>
          </a:prstGeom>
          <a:solidFill>
            <a:srgbClr val="FFFFFF"/>
          </a:solidFill>
          <a:ln w="12700">
            <a:solidFill>
              <a:srgbClr val="D7E6F5"/>
            </a:solidFill>
            <a:prstDash val="solid"/>
          </a:ln>
        </p:spPr>
      </p:sp>
      <p:sp>
        <p:nvSpPr>
          <p:cNvPr id="40" name="Text 38"/>
          <p:cNvSpPr/>
          <p:nvPr/>
        </p:nvSpPr>
        <p:spPr>
          <a:xfrm>
            <a:off x="3776472" y="3264408"/>
            <a:ext cx="20848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适合快速验证多角色协作；流程、知识、工具接入较直观。</a:t>
            </a:r>
            <a:endParaRPr lang="en-US" sz="940" dirty="0"/>
          </a:p>
        </p:txBody>
      </p:sp>
      <p:sp>
        <p:nvSpPr>
          <p:cNvPr id="41" name="Shape 39"/>
          <p:cNvSpPr/>
          <p:nvPr/>
        </p:nvSpPr>
        <p:spPr>
          <a:xfrm>
            <a:off x="5907024" y="3200400"/>
            <a:ext cx="2048256" cy="713232"/>
          </a:xfrm>
          <a:prstGeom prst="rect">
            <a:avLst/>
          </a:prstGeom>
          <a:solidFill>
            <a:srgbClr val="FFFFFF"/>
          </a:solidFill>
          <a:ln w="12700">
            <a:solidFill>
              <a:srgbClr val="D7E6F5"/>
            </a:solidFill>
            <a:prstDash val="solid"/>
          </a:ln>
        </p:spPr>
      </p:sp>
      <p:sp>
        <p:nvSpPr>
          <p:cNvPr id="42" name="Text 40"/>
          <p:cNvSpPr/>
          <p:nvPr/>
        </p:nvSpPr>
        <p:spPr>
          <a:xfrm>
            <a:off x="5952744" y="3264408"/>
            <a:ext cx="1956816"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复杂生产场景下，底层控制和定制度仍需进一步评估。</a:t>
            </a:r>
            <a:endParaRPr lang="en-US" sz="940" dirty="0"/>
          </a:p>
        </p:txBody>
      </p:sp>
      <p:sp>
        <p:nvSpPr>
          <p:cNvPr id="43" name="Shape 41"/>
          <p:cNvSpPr/>
          <p:nvPr/>
        </p:nvSpPr>
        <p:spPr>
          <a:xfrm>
            <a:off x="7955280" y="3200400"/>
            <a:ext cx="3730752" cy="713232"/>
          </a:xfrm>
          <a:prstGeom prst="rect">
            <a:avLst/>
          </a:prstGeom>
          <a:solidFill>
            <a:srgbClr val="FFFFFF"/>
          </a:solidFill>
          <a:ln w="12700">
            <a:solidFill>
              <a:srgbClr val="D7E6F5"/>
            </a:solidFill>
            <a:prstDash val="solid"/>
          </a:ln>
        </p:spPr>
      </p:sp>
      <p:sp>
        <p:nvSpPr>
          <p:cNvPr id="44" name="Text 42"/>
          <p:cNvSpPr/>
          <p:nvPr/>
        </p:nvSpPr>
        <p:spPr>
          <a:xfrm>
            <a:off x="8001000" y="3264408"/>
            <a:ext cx="3639312" cy="566928"/>
          </a:xfrm>
          <a:prstGeom prst="rect">
            <a:avLst/>
          </a:prstGeom>
          <a:noFill/>
          <a:ln/>
        </p:spPr>
        <p:txBody>
          <a:bodyPr wrap="square" lIns="254" tIns="254" rIns="254" bIns="254" rtlCol="0" anchor="ctr">
            <a:normAutofit/>
          </a:bodyPr>
          <a:lstStyle/>
          <a:p>
            <a:pPr algn="l" indent="0" marL="0">
              <a:buNone/>
            </a:pPr>
            <a:r>
              <a:rPr lang="en-US" sz="910" dirty="0">
                <a:solidFill>
                  <a:srgbClr val="1F2D3D"/>
                </a:solidFill>
              </a:rPr>
              <a:t>适合试点验证和业务团队较快落地。</a:t>
            </a:r>
            <a:endParaRPr lang="en-US" sz="910" dirty="0"/>
          </a:p>
        </p:txBody>
      </p:sp>
      <p:sp>
        <p:nvSpPr>
          <p:cNvPr id="45" name="Shape 43"/>
          <p:cNvSpPr/>
          <p:nvPr/>
        </p:nvSpPr>
        <p:spPr>
          <a:xfrm>
            <a:off x="502920" y="3913632"/>
            <a:ext cx="1280160" cy="713232"/>
          </a:xfrm>
          <a:prstGeom prst="rect">
            <a:avLst/>
          </a:prstGeom>
          <a:solidFill>
            <a:srgbClr val="F7FAFE"/>
          </a:solidFill>
          <a:ln w="12700">
            <a:solidFill>
              <a:srgbClr val="D7E6F5"/>
            </a:solidFill>
            <a:prstDash val="solid"/>
          </a:ln>
        </p:spPr>
      </p:sp>
      <p:sp>
        <p:nvSpPr>
          <p:cNvPr id="46" name="Text 44"/>
          <p:cNvSpPr/>
          <p:nvPr/>
        </p:nvSpPr>
        <p:spPr>
          <a:xfrm>
            <a:off x="548640" y="3977640"/>
            <a:ext cx="1188720" cy="566928"/>
          </a:xfrm>
          <a:prstGeom prst="rect">
            <a:avLst/>
          </a:prstGeom>
          <a:noFill/>
          <a:ln/>
        </p:spPr>
        <p:txBody>
          <a:bodyPr wrap="square" lIns="254" tIns="254" rIns="254" bIns="254" rtlCol="0" anchor="ctr">
            <a:normAutofit/>
          </a:bodyPr>
          <a:lstStyle/>
          <a:p>
            <a:pPr algn="ctr" indent="0" marL="0">
              <a:buNone/>
            </a:pPr>
            <a:r>
              <a:rPr lang="en-US" sz="940" b="1" dirty="0">
                <a:solidFill>
                  <a:srgbClr val="1F2D3D"/>
                </a:solidFill>
              </a:rPr>
              <a:t>Semantic Kernel</a:t>
            </a:r>
            <a:endParaRPr lang="en-US" sz="940" dirty="0"/>
          </a:p>
        </p:txBody>
      </p:sp>
      <p:sp>
        <p:nvSpPr>
          <p:cNvPr id="47" name="Shape 45"/>
          <p:cNvSpPr/>
          <p:nvPr/>
        </p:nvSpPr>
        <p:spPr>
          <a:xfrm>
            <a:off x="1783080" y="3913632"/>
            <a:ext cx="1947672" cy="713232"/>
          </a:xfrm>
          <a:prstGeom prst="rect">
            <a:avLst/>
          </a:prstGeom>
          <a:solidFill>
            <a:srgbClr val="F7FAFE"/>
          </a:solidFill>
          <a:ln w="12700">
            <a:solidFill>
              <a:srgbClr val="D7E6F5"/>
            </a:solidFill>
            <a:prstDash val="solid"/>
          </a:ln>
        </p:spPr>
      </p:sp>
      <p:sp>
        <p:nvSpPr>
          <p:cNvPr id="48" name="Text 46"/>
          <p:cNvSpPr/>
          <p:nvPr/>
        </p:nvSpPr>
        <p:spPr>
          <a:xfrm>
            <a:off x="1828800" y="3977640"/>
            <a:ext cx="18562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企业集成导向明显，插件、过滤器、观测与编排能力较强。</a:t>
            </a:r>
            <a:endParaRPr lang="en-US" sz="940" dirty="0"/>
          </a:p>
        </p:txBody>
      </p:sp>
      <p:sp>
        <p:nvSpPr>
          <p:cNvPr id="49" name="Shape 47"/>
          <p:cNvSpPr/>
          <p:nvPr/>
        </p:nvSpPr>
        <p:spPr>
          <a:xfrm>
            <a:off x="3730752" y="3913632"/>
            <a:ext cx="2176272" cy="713232"/>
          </a:xfrm>
          <a:prstGeom prst="rect">
            <a:avLst/>
          </a:prstGeom>
          <a:solidFill>
            <a:srgbClr val="F7FAFE"/>
          </a:solidFill>
          <a:ln w="12700">
            <a:solidFill>
              <a:srgbClr val="D7E6F5"/>
            </a:solidFill>
            <a:prstDash val="solid"/>
          </a:ln>
        </p:spPr>
      </p:sp>
      <p:sp>
        <p:nvSpPr>
          <p:cNvPr id="50" name="Text 48"/>
          <p:cNvSpPr/>
          <p:nvPr/>
        </p:nvSpPr>
        <p:spPr>
          <a:xfrm>
            <a:off x="3776472" y="3977640"/>
            <a:ext cx="20848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适合与现有系统和企业中台结合，利于治理、合规和工程接入。</a:t>
            </a:r>
            <a:endParaRPr lang="en-US" sz="940" dirty="0"/>
          </a:p>
        </p:txBody>
      </p:sp>
      <p:sp>
        <p:nvSpPr>
          <p:cNvPr id="51" name="Shape 49"/>
          <p:cNvSpPr/>
          <p:nvPr/>
        </p:nvSpPr>
        <p:spPr>
          <a:xfrm>
            <a:off x="5907024" y="3913632"/>
            <a:ext cx="2048256" cy="713232"/>
          </a:xfrm>
          <a:prstGeom prst="rect">
            <a:avLst/>
          </a:prstGeom>
          <a:solidFill>
            <a:srgbClr val="F7FAFE"/>
          </a:solidFill>
          <a:ln w="12700">
            <a:solidFill>
              <a:srgbClr val="D7E6F5"/>
            </a:solidFill>
            <a:prstDash val="solid"/>
          </a:ln>
        </p:spPr>
      </p:sp>
      <p:sp>
        <p:nvSpPr>
          <p:cNvPr id="52" name="Text 50"/>
          <p:cNvSpPr/>
          <p:nvPr/>
        </p:nvSpPr>
        <p:spPr>
          <a:xfrm>
            <a:off x="5952744" y="3977640"/>
            <a:ext cx="1956816"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部分 Agent Orchestration 能力仍在持续演进中。</a:t>
            </a:r>
            <a:endParaRPr lang="en-US" sz="940" dirty="0"/>
          </a:p>
        </p:txBody>
      </p:sp>
      <p:sp>
        <p:nvSpPr>
          <p:cNvPr id="53" name="Shape 51"/>
          <p:cNvSpPr/>
          <p:nvPr/>
        </p:nvSpPr>
        <p:spPr>
          <a:xfrm>
            <a:off x="7955280" y="3913632"/>
            <a:ext cx="3730752" cy="713232"/>
          </a:xfrm>
          <a:prstGeom prst="rect">
            <a:avLst/>
          </a:prstGeom>
          <a:solidFill>
            <a:srgbClr val="F7FAFE"/>
          </a:solidFill>
          <a:ln w="12700">
            <a:solidFill>
              <a:srgbClr val="D7E6F5"/>
            </a:solidFill>
            <a:prstDash val="solid"/>
          </a:ln>
        </p:spPr>
      </p:sp>
      <p:sp>
        <p:nvSpPr>
          <p:cNvPr id="54" name="Text 52"/>
          <p:cNvSpPr/>
          <p:nvPr/>
        </p:nvSpPr>
        <p:spPr>
          <a:xfrm>
            <a:off x="8001000" y="3977640"/>
            <a:ext cx="3639312" cy="566928"/>
          </a:xfrm>
          <a:prstGeom prst="rect">
            <a:avLst/>
          </a:prstGeom>
          <a:noFill/>
          <a:ln/>
        </p:spPr>
        <p:txBody>
          <a:bodyPr wrap="square" lIns="254" tIns="254" rIns="254" bIns="254" rtlCol="0" anchor="ctr">
            <a:normAutofit/>
          </a:bodyPr>
          <a:lstStyle/>
          <a:p>
            <a:pPr algn="l" indent="0" marL="0">
              <a:buNone/>
            </a:pPr>
            <a:r>
              <a:rPr lang="en-US" sz="910" dirty="0">
                <a:solidFill>
                  <a:srgbClr val="1F2D3D"/>
                </a:solidFill>
              </a:rPr>
              <a:t>若组织已使用微软技术栈或更重视企业集成，值得优先评估。</a:t>
            </a:r>
            <a:endParaRPr lang="en-US" sz="910" dirty="0"/>
          </a:p>
        </p:txBody>
      </p:sp>
      <p:sp>
        <p:nvSpPr>
          <p:cNvPr id="55" name="Shape 53"/>
          <p:cNvSpPr/>
          <p:nvPr/>
        </p:nvSpPr>
        <p:spPr>
          <a:xfrm>
            <a:off x="502920" y="4626864"/>
            <a:ext cx="1280160" cy="713232"/>
          </a:xfrm>
          <a:prstGeom prst="rect">
            <a:avLst/>
          </a:prstGeom>
          <a:solidFill>
            <a:srgbClr val="FFFFFF"/>
          </a:solidFill>
          <a:ln w="12700">
            <a:solidFill>
              <a:srgbClr val="D7E6F5"/>
            </a:solidFill>
            <a:prstDash val="solid"/>
          </a:ln>
        </p:spPr>
      </p:sp>
      <p:sp>
        <p:nvSpPr>
          <p:cNvPr id="56" name="Text 54"/>
          <p:cNvSpPr/>
          <p:nvPr/>
        </p:nvSpPr>
        <p:spPr>
          <a:xfrm>
            <a:off x="548640" y="4690872"/>
            <a:ext cx="1188720" cy="566928"/>
          </a:xfrm>
          <a:prstGeom prst="rect">
            <a:avLst/>
          </a:prstGeom>
          <a:noFill/>
          <a:ln/>
        </p:spPr>
        <p:txBody>
          <a:bodyPr wrap="square" lIns="254" tIns="254" rIns="254" bIns="254" rtlCol="0" anchor="ctr">
            <a:normAutofit/>
          </a:bodyPr>
          <a:lstStyle/>
          <a:p>
            <a:pPr algn="ctr" indent="0" marL="0">
              <a:buNone/>
            </a:pPr>
            <a:r>
              <a:rPr lang="en-US" sz="940" b="1" dirty="0">
                <a:solidFill>
                  <a:srgbClr val="1F2D3D"/>
                </a:solidFill>
              </a:rPr>
              <a:t>自研轻量编排</a:t>
            </a:r>
            <a:endParaRPr lang="en-US" sz="940" dirty="0"/>
          </a:p>
        </p:txBody>
      </p:sp>
      <p:sp>
        <p:nvSpPr>
          <p:cNvPr id="57" name="Shape 55"/>
          <p:cNvSpPr/>
          <p:nvPr/>
        </p:nvSpPr>
        <p:spPr>
          <a:xfrm>
            <a:off x="1783080" y="4626864"/>
            <a:ext cx="1947672" cy="713232"/>
          </a:xfrm>
          <a:prstGeom prst="rect">
            <a:avLst/>
          </a:prstGeom>
          <a:solidFill>
            <a:srgbClr val="FFFFFF"/>
          </a:solidFill>
          <a:ln w="12700">
            <a:solidFill>
              <a:srgbClr val="D7E6F5"/>
            </a:solidFill>
            <a:prstDash val="solid"/>
          </a:ln>
        </p:spPr>
      </p:sp>
      <p:sp>
        <p:nvSpPr>
          <p:cNvPr id="58" name="Text 56"/>
          <p:cNvSpPr/>
          <p:nvPr/>
        </p:nvSpPr>
        <p:spPr>
          <a:xfrm>
            <a:off x="1828800" y="4690872"/>
            <a:ext cx="18562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围绕现有 MR/PR 审查流程做定制编排。</a:t>
            </a:r>
            <a:endParaRPr lang="en-US" sz="940" dirty="0"/>
          </a:p>
        </p:txBody>
      </p:sp>
      <p:sp>
        <p:nvSpPr>
          <p:cNvPr id="59" name="Shape 57"/>
          <p:cNvSpPr/>
          <p:nvPr/>
        </p:nvSpPr>
        <p:spPr>
          <a:xfrm>
            <a:off x="3730752" y="4626864"/>
            <a:ext cx="2176272" cy="713232"/>
          </a:xfrm>
          <a:prstGeom prst="rect">
            <a:avLst/>
          </a:prstGeom>
          <a:solidFill>
            <a:srgbClr val="FFFFFF"/>
          </a:solidFill>
          <a:ln w="12700">
            <a:solidFill>
              <a:srgbClr val="D7E6F5"/>
            </a:solidFill>
            <a:prstDash val="solid"/>
          </a:ln>
        </p:spPr>
      </p:sp>
      <p:sp>
        <p:nvSpPr>
          <p:cNvPr id="60" name="Text 58"/>
          <p:cNvSpPr/>
          <p:nvPr/>
        </p:nvSpPr>
        <p:spPr>
          <a:xfrm>
            <a:off x="3776472" y="4690872"/>
            <a:ext cx="2084832"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可控性最高，能深度贴合业务与流程，不受外部框架抽象限制。</a:t>
            </a:r>
            <a:endParaRPr lang="en-US" sz="940" dirty="0"/>
          </a:p>
        </p:txBody>
      </p:sp>
      <p:sp>
        <p:nvSpPr>
          <p:cNvPr id="61" name="Shape 59"/>
          <p:cNvSpPr/>
          <p:nvPr/>
        </p:nvSpPr>
        <p:spPr>
          <a:xfrm>
            <a:off x="5907024" y="4626864"/>
            <a:ext cx="2048256" cy="713232"/>
          </a:xfrm>
          <a:prstGeom prst="rect">
            <a:avLst/>
          </a:prstGeom>
          <a:solidFill>
            <a:srgbClr val="FFFFFF"/>
          </a:solidFill>
          <a:ln w="12700">
            <a:solidFill>
              <a:srgbClr val="D7E6F5"/>
            </a:solidFill>
            <a:prstDash val="solid"/>
          </a:ln>
        </p:spPr>
      </p:sp>
      <p:sp>
        <p:nvSpPr>
          <p:cNvPr id="62" name="Text 60"/>
          <p:cNvSpPr/>
          <p:nvPr/>
        </p:nvSpPr>
        <p:spPr>
          <a:xfrm>
            <a:off x="5952744" y="4690872"/>
            <a:ext cx="1956816" cy="566928"/>
          </a:xfrm>
          <a:prstGeom prst="rect">
            <a:avLst/>
          </a:prstGeom>
          <a:noFill/>
          <a:ln/>
        </p:spPr>
        <p:txBody>
          <a:bodyPr wrap="square" lIns="254" tIns="254" rIns="254" bIns="254" rtlCol="0" anchor="ctr">
            <a:normAutofit/>
          </a:bodyPr>
          <a:lstStyle/>
          <a:p>
            <a:pPr algn="l" indent="0" marL="0">
              <a:buNone/>
            </a:pPr>
            <a:r>
              <a:rPr lang="en-US" sz="940" dirty="0">
                <a:solidFill>
                  <a:srgbClr val="1F2D3D"/>
                </a:solidFill>
              </a:rPr>
              <a:t>研发和维护成本较高，通用能力需要自行补齐。</a:t>
            </a:r>
            <a:endParaRPr lang="en-US" sz="940" dirty="0"/>
          </a:p>
        </p:txBody>
      </p:sp>
      <p:sp>
        <p:nvSpPr>
          <p:cNvPr id="63" name="Shape 61"/>
          <p:cNvSpPr/>
          <p:nvPr/>
        </p:nvSpPr>
        <p:spPr>
          <a:xfrm>
            <a:off x="7955280" y="4626864"/>
            <a:ext cx="3730752" cy="713232"/>
          </a:xfrm>
          <a:prstGeom prst="rect">
            <a:avLst/>
          </a:prstGeom>
          <a:solidFill>
            <a:srgbClr val="FFFFFF"/>
          </a:solidFill>
          <a:ln w="12700">
            <a:solidFill>
              <a:srgbClr val="D7E6F5"/>
            </a:solidFill>
            <a:prstDash val="solid"/>
          </a:ln>
        </p:spPr>
      </p:sp>
      <p:sp>
        <p:nvSpPr>
          <p:cNvPr id="64" name="Text 62"/>
          <p:cNvSpPr/>
          <p:nvPr/>
        </p:nvSpPr>
        <p:spPr>
          <a:xfrm>
            <a:off x="8001000" y="4690872"/>
            <a:ext cx="3639312" cy="566928"/>
          </a:xfrm>
          <a:prstGeom prst="rect">
            <a:avLst/>
          </a:prstGeom>
          <a:noFill/>
          <a:ln/>
        </p:spPr>
        <p:txBody>
          <a:bodyPr wrap="square" lIns="254" tIns="254" rIns="254" bIns="254" rtlCol="0" anchor="ctr">
            <a:normAutofit/>
          </a:bodyPr>
          <a:lstStyle/>
          <a:p>
            <a:pPr algn="l" indent="0" marL="0">
              <a:buNone/>
            </a:pPr>
            <a:r>
              <a:rPr lang="en-US" sz="910" dirty="0">
                <a:solidFill>
                  <a:srgbClr val="1F2D3D"/>
                </a:solidFill>
              </a:rPr>
              <a:t>适合需求明确、流程稳定、希望长期沉淀平台能力的团队。</a:t>
            </a:r>
            <a:endParaRPr lang="en-US" sz="910" dirty="0"/>
          </a:p>
        </p:txBody>
      </p:sp>
      <p:sp>
        <p:nvSpPr>
          <p:cNvPr id="65" name="Shape 63"/>
          <p:cNvSpPr/>
          <p:nvPr/>
        </p:nvSpPr>
        <p:spPr>
          <a:xfrm>
            <a:off x="594360" y="5989320"/>
            <a:ext cx="10972800" cy="384048"/>
          </a:xfrm>
          <a:prstGeom prst="roundRect">
            <a:avLst/>
          </a:prstGeom>
          <a:solidFill>
            <a:srgbClr val="E8F1FB"/>
          </a:solidFill>
          <a:ln w="12700">
            <a:solidFill>
              <a:srgbClr val="D2E2F5"/>
            </a:solidFill>
            <a:prstDash val="solid"/>
          </a:ln>
        </p:spPr>
      </p:sp>
      <p:sp>
        <p:nvSpPr>
          <p:cNvPr id="66" name="Text 64"/>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若目标是尽快验证多角色协作，CrewAI 或 AutoGen 更轻；若目标是生产级可控流程与长期平台化，LangGraph 或自研轻量编排更契合。</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专家体系与扩展机制</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专家回答“谁来审”，Skill回答“遇到什么场景时，带什么规则和工具去审”</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扩展</a:t>
            </a:r>
            <a:endParaRPr lang="en-US" sz="1050" dirty="0"/>
          </a:p>
        </p:txBody>
      </p:sp>
      <p:sp>
        <p:nvSpPr>
          <p:cNvPr id="5" name="Shape 3"/>
          <p:cNvSpPr/>
          <p:nvPr/>
        </p:nvSpPr>
        <p:spPr>
          <a:xfrm>
            <a:off x="7360920" y="1417320"/>
            <a:ext cx="4206240" cy="3977640"/>
          </a:xfrm>
          <a:prstGeom prst="roundRect">
            <a:avLst/>
          </a:prstGeom>
          <a:solidFill>
            <a:srgbClr val="FFFFFF"/>
          </a:solidFill>
          <a:ln w="12700">
            <a:solidFill>
              <a:srgbClr val="BFD3EA"/>
            </a:solidFill>
            <a:prstDash val="solid"/>
          </a:ln>
        </p:spPr>
      </p:sp>
      <p:sp>
        <p:nvSpPr>
          <p:cNvPr id="6" name="Shape 4"/>
          <p:cNvSpPr/>
          <p:nvPr/>
        </p:nvSpPr>
        <p:spPr>
          <a:xfrm>
            <a:off x="7726680" y="1737360"/>
            <a:ext cx="3474720" cy="548640"/>
          </a:xfrm>
          <a:prstGeom prst="roundRect">
            <a:avLst/>
          </a:prstGeom>
          <a:solidFill>
            <a:srgbClr val="EAF2FB"/>
          </a:solidFill>
          <a:ln w="12700">
            <a:solidFill>
              <a:srgbClr val="BFD3EA"/>
            </a:solidFill>
            <a:prstDash val="solid"/>
          </a:ln>
        </p:spPr>
      </p:sp>
      <p:sp>
        <p:nvSpPr>
          <p:cNvPr id="7" name="Text 5"/>
          <p:cNvSpPr/>
          <p:nvPr/>
        </p:nvSpPr>
        <p:spPr>
          <a:xfrm>
            <a:off x="8001000" y="1920240"/>
            <a:ext cx="2834640" cy="146304"/>
          </a:xfrm>
          <a:prstGeom prst="rect">
            <a:avLst/>
          </a:prstGeom>
          <a:noFill/>
          <a:ln/>
        </p:spPr>
        <p:txBody>
          <a:bodyPr wrap="square" rtlCol="0" anchor="ctr"/>
          <a:lstStyle/>
          <a:p>
            <a:pPr algn="ctr" indent="0" marL="0">
              <a:buNone/>
            </a:pPr>
            <a:r>
              <a:rPr lang="en-US" sz="1250" b="1" dirty="0">
                <a:solidFill>
                  <a:srgbClr val="0E5AA7"/>
                </a:solidFill>
              </a:rPr>
              <a:t>专家角色层：决定谁来审</a:t>
            </a:r>
            <a:endParaRPr lang="en-US" sz="1250" dirty="0"/>
          </a:p>
        </p:txBody>
      </p:sp>
      <p:sp>
        <p:nvSpPr>
          <p:cNvPr id="8" name="Shape 6"/>
          <p:cNvSpPr/>
          <p:nvPr/>
        </p:nvSpPr>
        <p:spPr>
          <a:xfrm>
            <a:off x="7754112" y="2542032"/>
            <a:ext cx="987552" cy="274320"/>
          </a:xfrm>
          <a:prstGeom prst="roundRect">
            <a:avLst/>
          </a:prstGeom>
          <a:solidFill>
            <a:srgbClr val="FFFFFF"/>
          </a:solidFill>
          <a:ln w="12700">
            <a:solidFill>
              <a:srgbClr val="BFD3EA"/>
            </a:solidFill>
            <a:prstDash val="solid"/>
          </a:ln>
        </p:spPr>
      </p:sp>
      <p:sp>
        <p:nvSpPr>
          <p:cNvPr id="9" name="Text 7"/>
          <p:cNvSpPr/>
          <p:nvPr/>
        </p:nvSpPr>
        <p:spPr>
          <a:xfrm>
            <a:off x="7781544" y="2624328"/>
            <a:ext cx="932688" cy="91440"/>
          </a:xfrm>
          <a:prstGeom prst="rect">
            <a:avLst/>
          </a:prstGeom>
          <a:noFill/>
          <a:ln/>
        </p:spPr>
        <p:txBody>
          <a:bodyPr wrap="square" rtlCol="0" anchor="ctr">
            <a:normAutofit/>
          </a:bodyPr>
          <a:lstStyle/>
          <a:p>
            <a:pPr algn="ctr" indent="0" marL="0">
              <a:buNone/>
            </a:pPr>
            <a:r>
              <a:rPr lang="en-US" sz="890" dirty="0">
                <a:solidFill>
                  <a:srgbClr val="1F2D3D"/>
                </a:solidFill>
              </a:rPr>
              <a:t>业务正确性</a:t>
            </a:r>
            <a:endParaRPr lang="en-US" sz="890" dirty="0"/>
          </a:p>
        </p:txBody>
      </p:sp>
      <p:sp>
        <p:nvSpPr>
          <p:cNvPr id="10" name="Shape 8"/>
          <p:cNvSpPr/>
          <p:nvPr/>
        </p:nvSpPr>
        <p:spPr>
          <a:xfrm>
            <a:off x="8887968" y="2542032"/>
            <a:ext cx="987552" cy="274320"/>
          </a:xfrm>
          <a:prstGeom prst="roundRect">
            <a:avLst/>
          </a:prstGeom>
          <a:solidFill>
            <a:srgbClr val="FFFFFF"/>
          </a:solidFill>
          <a:ln w="12700">
            <a:solidFill>
              <a:srgbClr val="BFD3EA"/>
            </a:solidFill>
            <a:prstDash val="solid"/>
          </a:ln>
        </p:spPr>
      </p:sp>
      <p:sp>
        <p:nvSpPr>
          <p:cNvPr id="11" name="Text 9"/>
          <p:cNvSpPr/>
          <p:nvPr/>
        </p:nvSpPr>
        <p:spPr>
          <a:xfrm>
            <a:off x="8915400" y="2624328"/>
            <a:ext cx="932688" cy="91440"/>
          </a:xfrm>
          <a:prstGeom prst="rect">
            <a:avLst/>
          </a:prstGeom>
          <a:noFill/>
          <a:ln/>
        </p:spPr>
        <p:txBody>
          <a:bodyPr wrap="square" rtlCol="0" anchor="ctr">
            <a:normAutofit/>
          </a:bodyPr>
          <a:lstStyle/>
          <a:p>
            <a:pPr algn="ctr" indent="0" marL="0">
              <a:buNone/>
            </a:pPr>
            <a:r>
              <a:rPr lang="en-US" sz="890" dirty="0">
                <a:solidFill>
                  <a:srgbClr val="1F2D3D"/>
                </a:solidFill>
              </a:rPr>
              <a:t>架构设计</a:t>
            </a:r>
            <a:endParaRPr lang="en-US" sz="890" dirty="0"/>
          </a:p>
        </p:txBody>
      </p:sp>
      <p:sp>
        <p:nvSpPr>
          <p:cNvPr id="12" name="Shape 10"/>
          <p:cNvSpPr/>
          <p:nvPr/>
        </p:nvSpPr>
        <p:spPr>
          <a:xfrm>
            <a:off x="10021824" y="2542032"/>
            <a:ext cx="987552" cy="274320"/>
          </a:xfrm>
          <a:prstGeom prst="roundRect">
            <a:avLst/>
          </a:prstGeom>
          <a:solidFill>
            <a:srgbClr val="FFFFFF"/>
          </a:solidFill>
          <a:ln w="12700">
            <a:solidFill>
              <a:srgbClr val="BFD3EA"/>
            </a:solidFill>
            <a:prstDash val="solid"/>
          </a:ln>
        </p:spPr>
      </p:sp>
      <p:sp>
        <p:nvSpPr>
          <p:cNvPr id="13" name="Text 11"/>
          <p:cNvSpPr/>
          <p:nvPr/>
        </p:nvSpPr>
        <p:spPr>
          <a:xfrm>
            <a:off x="10049256" y="2624328"/>
            <a:ext cx="932688" cy="91440"/>
          </a:xfrm>
          <a:prstGeom prst="rect">
            <a:avLst/>
          </a:prstGeom>
          <a:noFill/>
          <a:ln/>
        </p:spPr>
        <p:txBody>
          <a:bodyPr wrap="square" rtlCol="0" anchor="ctr">
            <a:normAutofit/>
          </a:bodyPr>
          <a:lstStyle/>
          <a:p>
            <a:pPr algn="ctr" indent="0" marL="0">
              <a:buNone/>
            </a:pPr>
            <a:r>
              <a:rPr lang="en-US" sz="890" dirty="0">
                <a:solidFill>
                  <a:srgbClr val="1F2D3D"/>
                </a:solidFill>
              </a:rPr>
              <a:t>安全合规</a:t>
            </a:r>
            <a:endParaRPr lang="en-US" sz="890" dirty="0"/>
          </a:p>
        </p:txBody>
      </p:sp>
      <p:sp>
        <p:nvSpPr>
          <p:cNvPr id="14" name="Shape 12"/>
          <p:cNvSpPr/>
          <p:nvPr/>
        </p:nvSpPr>
        <p:spPr>
          <a:xfrm>
            <a:off x="8321040" y="2962656"/>
            <a:ext cx="1143000" cy="274320"/>
          </a:xfrm>
          <a:prstGeom prst="roundRect">
            <a:avLst/>
          </a:prstGeom>
          <a:solidFill>
            <a:srgbClr val="FFFFFF"/>
          </a:solidFill>
          <a:ln w="12700">
            <a:solidFill>
              <a:srgbClr val="BFD3EA"/>
            </a:solidFill>
            <a:prstDash val="solid"/>
          </a:ln>
        </p:spPr>
      </p:sp>
      <p:sp>
        <p:nvSpPr>
          <p:cNvPr id="15" name="Text 13"/>
          <p:cNvSpPr/>
          <p:nvPr/>
        </p:nvSpPr>
        <p:spPr>
          <a:xfrm>
            <a:off x="8348472" y="3044952"/>
            <a:ext cx="1088136" cy="91440"/>
          </a:xfrm>
          <a:prstGeom prst="rect">
            <a:avLst/>
          </a:prstGeom>
          <a:noFill/>
          <a:ln/>
        </p:spPr>
        <p:txBody>
          <a:bodyPr wrap="square" rtlCol="0" anchor="ctr">
            <a:normAutofit/>
          </a:bodyPr>
          <a:lstStyle/>
          <a:p>
            <a:pPr algn="ctr" indent="0" marL="0">
              <a:buNone/>
            </a:pPr>
            <a:r>
              <a:rPr lang="en-US" sz="890" dirty="0">
                <a:solidFill>
                  <a:srgbClr val="1F2D3D"/>
                </a:solidFill>
              </a:rPr>
              <a:t>性能可靠性</a:t>
            </a:r>
            <a:endParaRPr lang="en-US" sz="890" dirty="0"/>
          </a:p>
        </p:txBody>
      </p:sp>
      <p:sp>
        <p:nvSpPr>
          <p:cNvPr id="16" name="Shape 14"/>
          <p:cNvSpPr/>
          <p:nvPr/>
        </p:nvSpPr>
        <p:spPr>
          <a:xfrm>
            <a:off x="9646920" y="2962656"/>
            <a:ext cx="1051560" cy="274320"/>
          </a:xfrm>
          <a:prstGeom prst="roundRect">
            <a:avLst/>
          </a:prstGeom>
          <a:solidFill>
            <a:srgbClr val="FFFFFF"/>
          </a:solidFill>
          <a:ln w="12700">
            <a:solidFill>
              <a:srgbClr val="BFD3EA"/>
            </a:solidFill>
            <a:prstDash val="solid"/>
          </a:ln>
        </p:spPr>
      </p:sp>
      <p:sp>
        <p:nvSpPr>
          <p:cNvPr id="17" name="Text 15"/>
          <p:cNvSpPr/>
          <p:nvPr/>
        </p:nvSpPr>
        <p:spPr>
          <a:xfrm>
            <a:off x="9674352" y="3044952"/>
            <a:ext cx="996696" cy="91440"/>
          </a:xfrm>
          <a:prstGeom prst="rect">
            <a:avLst/>
          </a:prstGeom>
          <a:noFill/>
          <a:ln/>
        </p:spPr>
        <p:txBody>
          <a:bodyPr wrap="square" rtlCol="0" anchor="ctr">
            <a:normAutofit/>
          </a:bodyPr>
          <a:lstStyle/>
          <a:p>
            <a:pPr algn="ctr" indent="0" marL="0">
              <a:buNone/>
            </a:pPr>
            <a:r>
              <a:rPr lang="en-US" sz="890" dirty="0">
                <a:solidFill>
                  <a:srgbClr val="1F2D3D"/>
                </a:solidFill>
              </a:rPr>
              <a:t>测试验证</a:t>
            </a:r>
            <a:endParaRPr lang="en-US" sz="890" dirty="0"/>
          </a:p>
        </p:txBody>
      </p:sp>
      <p:sp>
        <p:nvSpPr>
          <p:cNvPr id="18" name="Text 16"/>
          <p:cNvSpPr/>
          <p:nvPr/>
        </p:nvSpPr>
        <p:spPr>
          <a:xfrm>
            <a:off x="8183880" y="3456432"/>
            <a:ext cx="2468880" cy="109728"/>
          </a:xfrm>
          <a:prstGeom prst="rect">
            <a:avLst/>
          </a:prstGeom>
          <a:noFill/>
          <a:ln/>
        </p:spPr>
        <p:txBody>
          <a:bodyPr wrap="square" rtlCol="0" anchor="ctr"/>
          <a:lstStyle/>
          <a:p>
            <a:pPr algn="ctr" indent="0" marL="0">
              <a:buNone/>
            </a:pPr>
            <a:r>
              <a:rPr lang="en-US" sz="980" dirty="0">
                <a:solidFill>
                  <a:srgbClr val="1E74C6"/>
                </a:solidFill>
              </a:rPr>
              <a:t>上下文注入 / 规则激活</a:t>
            </a:r>
            <a:endParaRPr lang="en-US" sz="980" dirty="0"/>
          </a:p>
        </p:txBody>
      </p:sp>
      <p:sp>
        <p:nvSpPr>
          <p:cNvPr id="19" name="Shape 17"/>
          <p:cNvSpPr/>
          <p:nvPr/>
        </p:nvSpPr>
        <p:spPr>
          <a:xfrm>
            <a:off x="7726680" y="3977640"/>
            <a:ext cx="3474720" cy="548640"/>
          </a:xfrm>
          <a:prstGeom prst="roundRect">
            <a:avLst/>
          </a:prstGeom>
          <a:solidFill>
            <a:srgbClr val="F7FAFE"/>
          </a:solidFill>
          <a:ln w="12700">
            <a:solidFill>
              <a:srgbClr val="BFD3EA"/>
            </a:solidFill>
            <a:prstDash val="solid"/>
          </a:ln>
        </p:spPr>
      </p:sp>
      <p:sp>
        <p:nvSpPr>
          <p:cNvPr id="20" name="Text 18"/>
          <p:cNvSpPr/>
          <p:nvPr/>
        </p:nvSpPr>
        <p:spPr>
          <a:xfrm>
            <a:off x="7973568" y="4160520"/>
            <a:ext cx="2926080" cy="146304"/>
          </a:xfrm>
          <a:prstGeom prst="rect">
            <a:avLst/>
          </a:prstGeom>
          <a:noFill/>
          <a:ln/>
        </p:spPr>
        <p:txBody>
          <a:bodyPr wrap="square" rtlCol="0" anchor="ctr"/>
          <a:lstStyle/>
          <a:p>
            <a:pPr algn="ctr" indent="0" marL="0">
              <a:buNone/>
            </a:pPr>
            <a:r>
              <a:rPr lang="en-US" sz="1220" b="1" dirty="0">
                <a:solidFill>
                  <a:srgbClr val="0E5AA7"/>
                </a:solidFill>
              </a:rPr>
              <a:t>Skill / Tool 扩展层：决定怎么审</a:t>
            </a:r>
            <a:endParaRPr lang="en-US" sz="1220" dirty="0"/>
          </a:p>
        </p:txBody>
      </p:sp>
      <p:sp>
        <p:nvSpPr>
          <p:cNvPr id="21" name="Shape 19"/>
          <p:cNvSpPr/>
          <p:nvPr/>
        </p:nvSpPr>
        <p:spPr>
          <a:xfrm>
            <a:off x="7790688" y="4709160"/>
            <a:ext cx="566928" cy="292608"/>
          </a:xfrm>
          <a:prstGeom prst="roundRect">
            <a:avLst/>
          </a:prstGeom>
          <a:solidFill>
            <a:srgbClr val="EAF2FB"/>
          </a:solidFill>
          <a:ln w="12700">
            <a:solidFill>
              <a:srgbClr val="BFD3EA"/>
            </a:solidFill>
            <a:prstDash val="solid"/>
          </a:ln>
        </p:spPr>
      </p:sp>
      <p:sp>
        <p:nvSpPr>
          <p:cNvPr id="22" name="Text 20"/>
          <p:cNvSpPr/>
          <p:nvPr/>
        </p:nvSpPr>
        <p:spPr>
          <a:xfrm>
            <a:off x="7790688" y="4800600"/>
            <a:ext cx="566928" cy="91440"/>
          </a:xfrm>
          <a:prstGeom prst="rect">
            <a:avLst/>
          </a:prstGeom>
          <a:noFill/>
          <a:ln/>
        </p:spPr>
        <p:txBody>
          <a:bodyPr wrap="square" rtlCol="0" anchor="ctr">
            <a:normAutofit/>
          </a:bodyPr>
          <a:lstStyle/>
          <a:p>
            <a:pPr algn="ctr" indent="0" marL="0">
              <a:buNone/>
            </a:pPr>
            <a:r>
              <a:rPr lang="en-US" sz="840" dirty="0">
                <a:solidFill>
                  <a:srgbClr val="1F2D3D"/>
                </a:solidFill>
              </a:rPr>
              <a:t>数据库</a:t>
            </a:r>
            <a:endParaRPr lang="en-US" sz="840" dirty="0"/>
          </a:p>
        </p:txBody>
      </p:sp>
      <p:sp>
        <p:nvSpPr>
          <p:cNvPr id="23" name="Shape 21"/>
          <p:cNvSpPr/>
          <p:nvPr/>
        </p:nvSpPr>
        <p:spPr>
          <a:xfrm>
            <a:off x="8449056" y="4709160"/>
            <a:ext cx="566928" cy="292608"/>
          </a:xfrm>
          <a:prstGeom prst="roundRect">
            <a:avLst/>
          </a:prstGeom>
          <a:solidFill>
            <a:srgbClr val="EAF2FB"/>
          </a:solidFill>
          <a:ln w="12700">
            <a:solidFill>
              <a:srgbClr val="BFD3EA"/>
            </a:solidFill>
            <a:prstDash val="solid"/>
          </a:ln>
        </p:spPr>
      </p:sp>
      <p:sp>
        <p:nvSpPr>
          <p:cNvPr id="24" name="Text 22"/>
          <p:cNvSpPr/>
          <p:nvPr/>
        </p:nvSpPr>
        <p:spPr>
          <a:xfrm>
            <a:off x="8449056" y="4800600"/>
            <a:ext cx="566928" cy="91440"/>
          </a:xfrm>
          <a:prstGeom prst="rect">
            <a:avLst/>
          </a:prstGeom>
          <a:noFill/>
          <a:ln/>
        </p:spPr>
        <p:txBody>
          <a:bodyPr wrap="square" rtlCol="0" anchor="ctr">
            <a:normAutofit/>
          </a:bodyPr>
          <a:lstStyle/>
          <a:p>
            <a:pPr algn="ctr" indent="0" marL="0">
              <a:buNone/>
            </a:pPr>
            <a:r>
              <a:rPr lang="en-US" sz="840" dirty="0">
                <a:solidFill>
                  <a:srgbClr val="1F2D3D"/>
                </a:solidFill>
              </a:rPr>
              <a:t>Redis</a:t>
            </a:r>
            <a:endParaRPr lang="en-US" sz="840" dirty="0"/>
          </a:p>
        </p:txBody>
      </p:sp>
      <p:sp>
        <p:nvSpPr>
          <p:cNvPr id="25" name="Shape 23"/>
          <p:cNvSpPr/>
          <p:nvPr/>
        </p:nvSpPr>
        <p:spPr>
          <a:xfrm>
            <a:off x="9107424" y="4709160"/>
            <a:ext cx="566928" cy="292608"/>
          </a:xfrm>
          <a:prstGeom prst="roundRect">
            <a:avLst/>
          </a:prstGeom>
          <a:solidFill>
            <a:srgbClr val="EAF2FB"/>
          </a:solidFill>
          <a:ln w="12700">
            <a:solidFill>
              <a:srgbClr val="BFD3EA"/>
            </a:solidFill>
            <a:prstDash val="solid"/>
          </a:ln>
        </p:spPr>
      </p:sp>
      <p:sp>
        <p:nvSpPr>
          <p:cNvPr id="26" name="Text 24"/>
          <p:cNvSpPr/>
          <p:nvPr/>
        </p:nvSpPr>
        <p:spPr>
          <a:xfrm>
            <a:off x="9107424" y="4800600"/>
            <a:ext cx="566928" cy="91440"/>
          </a:xfrm>
          <a:prstGeom prst="rect">
            <a:avLst/>
          </a:prstGeom>
          <a:noFill/>
          <a:ln/>
        </p:spPr>
        <p:txBody>
          <a:bodyPr wrap="square" rtlCol="0" anchor="ctr">
            <a:normAutofit/>
          </a:bodyPr>
          <a:lstStyle/>
          <a:p>
            <a:pPr algn="ctr" indent="0" marL="0">
              <a:buNone/>
            </a:pPr>
            <a:r>
              <a:rPr lang="en-US" sz="840" dirty="0">
                <a:solidFill>
                  <a:srgbClr val="1F2D3D"/>
                </a:solidFill>
              </a:rPr>
              <a:t>消息队列</a:t>
            </a:r>
            <a:endParaRPr lang="en-US" sz="840" dirty="0"/>
          </a:p>
        </p:txBody>
      </p:sp>
      <p:sp>
        <p:nvSpPr>
          <p:cNvPr id="27" name="Shape 25"/>
          <p:cNvSpPr/>
          <p:nvPr/>
        </p:nvSpPr>
        <p:spPr>
          <a:xfrm>
            <a:off x="9765792" y="4709160"/>
            <a:ext cx="566928" cy="292608"/>
          </a:xfrm>
          <a:prstGeom prst="roundRect">
            <a:avLst/>
          </a:prstGeom>
          <a:solidFill>
            <a:srgbClr val="EAF2FB"/>
          </a:solidFill>
          <a:ln w="12700">
            <a:solidFill>
              <a:srgbClr val="BFD3EA"/>
            </a:solidFill>
            <a:prstDash val="solid"/>
          </a:ln>
        </p:spPr>
      </p:sp>
      <p:sp>
        <p:nvSpPr>
          <p:cNvPr id="28" name="Text 26"/>
          <p:cNvSpPr/>
          <p:nvPr/>
        </p:nvSpPr>
        <p:spPr>
          <a:xfrm>
            <a:off x="9765792" y="4800600"/>
            <a:ext cx="566928" cy="91440"/>
          </a:xfrm>
          <a:prstGeom prst="rect">
            <a:avLst/>
          </a:prstGeom>
          <a:noFill/>
          <a:ln/>
        </p:spPr>
        <p:txBody>
          <a:bodyPr wrap="square" rtlCol="0" anchor="ctr">
            <a:normAutofit/>
          </a:bodyPr>
          <a:lstStyle/>
          <a:p>
            <a:pPr algn="ctr" indent="0" marL="0">
              <a:buNone/>
            </a:pPr>
            <a:r>
              <a:rPr lang="en-US" sz="840" dirty="0">
                <a:solidFill>
                  <a:srgbClr val="1F2D3D"/>
                </a:solidFill>
              </a:rPr>
              <a:t>DDD</a:t>
            </a:r>
            <a:endParaRPr lang="en-US" sz="840" dirty="0"/>
          </a:p>
        </p:txBody>
      </p:sp>
      <p:sp>
        <p:nvSpPr>
          <p:cNvPr id="29" name="Shape 27"/>
          <p:cNvSpPr/>
          <p:nvPr/>
        </p:nvSpPr>
        <p:spPr>
          <a:xfrm>
            <a:off x="10424160" y="4709160"/>
            <a:ext cx="566928" cy="292608"/>
          </a:xfrm>
          <a:prstGeom prst="roundRect">
            <a:avLst/>
          </a:prstGeom>
          <a:solidFill>
            <a:srgbClr val="EAF2FB"/>
          </a:solidFill>
          <a:ln w="12700">
            <a:solidFill>
              <a:srgbClr val="BFD3EA"/>
            </a:solidFill>
            <a:prstDash val="solid"/>
          </a:ln>
        </p:spPr>
      </p:sp>
      <p:sp>
        <p:nvSpPr>
          <p:cNvPr id="30" name="Text 28"/>
          <p:cNvSpPr/>
          <p:nvPr/>
        </p:nvSpPr>
        <p:spPr>
          <a:xfrm>
            <a:off x="10424160" y="4800600"/>
            <a:ext cx="566928" cy="91440"/>
          </a:xfrm>
          <a:prstGeom prst="rect">
            <a:avLst/>
          </a:prstGeom>
          <a:noFill/>
          <a:ln/>
        </p:spPr>
        <p:txBody>
          <a:bodyPr wrap="square" rtlCol="0" anchor="ctr">
            <a:normAutofit/>
          </a:bodyPr>
          <a:lstStyle/>
          <a:p>
            <a:pPr algn="ctr" indent="0" marL="0">
              <a:buNone/>
            </a:pPr>
            <a:r>
              <a:rPr lang="en-US" sz="840" dirty="0">
                <a:solidFill>
                  <a:srgbClr val="1F2D3D"/>
                </a:solidFill>
              </a:rPr>
              <a:t>前端可访问性</a:t>
            </a:r>
            <a:endParaRPr lang="en-US" sz="840" dirty="0"/>
          </a:p>
        </p:txBody>
      </p:sp>
      <p:sp>
        <p:nvSpPr>
          <p:cNvPr id="31" name="Text 29"/>
          <p:cNvSpPr/>
          <p:nvPr/>
        </p:nvSpPr>
        <p:spPr>
          <a:xfrm>
            <a:off x="731520" y="1417320"/>
            <a:ext cx="6263640" cy="4389120"/>
          </a:xfrm>
          <a:prstGeom prst="rect">
            <a:avLst/>
          </a:prstGeom>
          <a:noFill/>
          <a:ln/>
        </p:spPr>
        <p:txBody>
          <a:bodyPr wrap="square" rtlCol="0" anchor="ctr">
            <a:normAutofit/>
          </a:bodyPr>
          <a:lstStyle/>
          <a:p>
            <a:pPr indent="0" marL="0">
              <a:buNone/>
            </a:pPr>
            <a:r>
              <a:rPr lang="en-US" sz="1540" b="1" dirty="0">
                <a:solidFill>
                  <a:srgbClr val="1E74C6"/>
                </a:solidFill>
              </a:rPr>
              <a:t>• </a:t>
            </a:r>
            <a:pPr indent="0" marL="0">
              <a:buNone/>
            </a:pPr>
            <a:r>
              <a:rPr lang="en-US" sz="1540" dirty="0">
                <a:solidFill>
                  <a:srgbClr val="1F2D3D"/>
                </a:solidFill>
              </a:rPr>
              <a:t>专家机制解决的是分工问题。系统先明确有哪些审查角色，每个角色看什么、不看什么，避免所有专家都在泛泛而谈，也避免责任边界不清。</a:t>
            </a:r>
            <a:endParaRPr lang="en-US" sz="1540" dirty="0"/>
          </a:p>
          <a:p>
            <a:pPr indent="0" marL="0">
              <a:buNone/>
            </a:pPr>
            <a:r>
              <a:rPr lang="en-US" sz="1540" b="1" dirty="0">
                <a:solidFill>
                  <a:srgbClr val="1E74C6"/>
                </a:solidFill>
              </a:rPr>
              <a:t>• </a:t>
            </a:r>
            <a:pPr indent="0" marL="0">
              <a:buNone/>
            </a:pPr>
            <a:r>
              <a:rPr lang="en-US" sz="1540" dirty="0">
                <a:solidFill>
                  <a:srgbClr val="1F2D3D"/>
                </a:solidFill>
              </a:rPr>
              <a:t>Skill 机制解决的是专项能力问题。当改动涉及数据库、缓存、消息、DDD 或前端可访问性等特定场景时，系统可以按规则激活相应的专项手册和工具。</a:t>
            </a:r>
            <a:endParaRPr lang="en-US" sz="1540" dirty="0"/>
          </a:p>
          <a:p>
            <a:pPr indent="0" marL="0">
              <a:buNone/>
            </a:pPr>
            <a:r>
              <a:rPr lang="en-US" sz="1540" b="1" dirty="0">
                <a:solidFill>
                  <a:srgbClr val="1E74C6"/>
                </a:solidFill>
              </a:rPr>
              <a:t>• </a:t>
            </a:r>
            <a:pPr indent="0" marL="0">
              <a:buNone/>
            </a:pPr>
            <a:r>
              <a:rPr lang="en-US" sz="1540" dirty="0">
                <a:solidFill>
                  <a:srgbClr val="1F2D3D"/>
                </a:solidFill>
              </a:rPr>
              <a:t>两者组合之后，审查就不只是“谁来审”，还包括“在这个场景里应携带哪些规则、资料和分析工具一起审”。这也是系统可扩展的关键。</a:t>
            </a:r>
            <a:endParaRPr lang="en-US" sz="1540" dirty="0"/>
          </a:p>
          <a:p>
            <a:pPr indent="0" marL="0">
              <a:buNone/>
            </a:pPr>
            <a:r>
              <a:rPr lang="en-US" sz="1540" b="1" dirty="0">
                <a:solidFill>
                  <a:srgbClr val="1E74C6"/>
                </a:solidFill>
              </a:rPr>
              <a:t>• </a:t>
            </a:r>
            <a:pPr indent="0" marL="0">
              <a:buNone/>
            </a:pPr>
            <a:r>
              <a:rPr lang="en-US" sz="1540" dirty="0">
                <a:solidFill>
                  <a:srgbClr val="1F2D3D"/>
                </a:solidFill>
              </a:rPr>
              <a:t>从工程角度看，专家和 Skill 通过配置绑定，不必每次新增能力都去改主流程代码，后续演进成本更可控。</a:t>
            </a:r>
            <a:endParaRPr lang="en-US" sz="1540" dirty="0"/>
          </a:p>
        </p:txBody>
      </p:sp>
      <p:sp>
        <p:nvSpPr>
          <p:cNvPr id="32" name="Shape 30"/>
          <p:cNvSpPr/>
          <p:nvPr/>
        </p:nvSpPr>
        <p:spPr>
          <a:xfrm>
            <a:off x="594360" y="5989320"/>
            <a:ext cx="10972800" cy="384048"/>
          </a:xfrm>
          <a:prstGeom prst="roundRect">
            <a:avLst/>
          </a:prstGeom>
          <a:solidFill>
            <a:srgbClr val="E8F1FB"/>
          </a:solidFill>
          <a:ln w="12700">
            <a:solidFill>
              <a:srgbClr val="D2E2F5"/>
            </a:solidFill>
            <a:prstDash val="solid"/>
          </a:ln>
        </p:spPr>
      </p:sp>
      <p:sp>
        <p:nvSpPr>
          <p:cNvPr id="33" name="Text 31"/>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专家机制让分工清楚，Skill机制让专项能力可插拔；两者配合，才能让多Agent系统真正具备可扩展性。</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专家体系设计</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先覆盖共性质量维度，再按专项场景逐步补齐能力</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体系</a:t>
            </a:r>
            <a:endParaRPr lang="en-US" sz="1050" dirty="0"/>
          </a:p>
        </p:txBody>
      </p:sp>
      <p:sp>
        <p:nvSpPr>
          <p:cNvPr id="5" name="Shape 3"/>
          <p:cNvSpPr/>
          <p:nvPr/>
        </p:nvSpPr>
        <p:spPr>
          <a:xfrm>
            <a:off x="749808" y="1463040"/>
            <a:ext cx="5349240" cy="3566160"/>
          </a:xfrm>
          <a:prstGeom prst="roundRect">
            <a:avLst/>
          </a:prstGeom>
          <a:solidFill>
            <a:srgbClr val="FFFFFF"/>
          </a:solidFill>
          <a:ln w="12700">
            <a:solidFill>
              <a:srgbClr val="BFD3EA"/>
            </a:solidFill>
            <a:prstDash val="solid"/>
          </a:ln>
        </p:spPr>
      </p:sp>
      <p:sp>
        <p:nvSpPr>
          <p:cNvPr id="6" name="Text 4"/>
          <p:cNvSpPr/>
          <p:nvPr/>
        </p:nvSpPr>
        <p:spPr>
          <a:xfrm>
            <a:off x="914400" y="1682496"/>
            <a:ext cx="1645920" cy="182880"/>
          </a:xfrm>
          <a:prstGeom prst="rect">
            <a:avLst/>
          </a:prstGeom>
          <a:noFill/>
          <a:ln/>
        </p:spPr>
        <p:txBody>
          <a:bodyPr wrap="square" rtlCol="0" anchor="ctr"/>
          <a:lstStyle/>
          <a:p>
            <a:pPr indent="0" marL="0">
              <a:buNone/>
            </a:pPr>
            <a:r>
              <a:rPr lang="en-US" sz="1500" b="1" dirty="0">
                <a:solidFill>
                  <a:srgbClr val="0E5AA7"/>
                </a:solidFill>
              </a:rPr>
              <a:t>主线专家（6个）</a:t>
            </a:r>
            <a:endParaRPr lang="en-US" sz="1500" dirty="0"/>
          </a:p>
        </p:txBody>
      </p:sp>
      <p:sp>
        <p:nvSpPr>
          <p:cNvPr id="7" name="Shape 5"/>
          <p:cNvSpPr/>
          <p:nvPr/>
        </p:nvSpPr>
        <p:spPr>
          <a:xfrm>
            <a:off x="914400" y="2057400"/>
            <a:ext cx="4572000" cy="274320"/>
          </a:xfrm>
          <a:prstGeom prst="roundRect">
            <a:avLst/>
          </a:prstGeom>
          <a:solidFill>
            <a:srgbClr val="EAF2FB"/>
          </a:solidFill>
          <a:ln w="12700">
            <a:solidFill>
              <a:srgbClr val="D7E6F5"/>
            </a:solidFill>
            <a:prstDash val="solid"/>
          </a:ln>
        </p:spPr>
      </p:sp>
      <p:sp>
        <p:nvSpPr>
          <p:cNvPr id="8" name="Text 6"/>
          <p:cNvSpPr/>
          <p:nvPr/>
        </p:nvSpPr>
        <p:spPr>
          <a:xfrm>
            <a:off x="1078992" y="2130552"/>
            <a:ext cx="4206240" cy="91440"/>
          </a:xfrm>
          <a:prstGeom prst="rect">
            <a:avLst/>
          </a:prstGeom>
          <a:noFill/>
          <a:ln/>
        </p:spPr>
        <p:txBody>
          <a:bodyPr wrap="square" rtlCol="0" anchor="ctr"/>
          <a:lstStyle/>
          <a:p>
            <a:pPr indent="0" marL="0">
              <a:buNone/>
            </a:pPr>
            <a:r>
              <a:rPr lang="en-US" sz="1150" dirty="0">
                <a:solidFill>
                  <a:srgbClr val="1F2D3D"/>
                </a:solidFill>
              </a:rPr>
              <a:t>业务正确性专家</a:t>
            </a:r>
            <a:endParaRPr lang="en-US" sz="1150" dirty="0"/>
          </a:p>
        </p:txBody>
      </p:sp>
      <p:sp>
        <p:nvSpPr>
          <p:cNvPr id="9" name="Shape 7"/>
          <p:cNvSpPr/>
          <p:nvPr/>
        </p:nvSpPr>
        <p:spPr>
          <a:xfrm>
            <a:off x="914400" y="2487168"/>
            <a:ext cx="4572000" cy="274320"/>
          </a:xfrm>
          <a:prstGeom prst="roundRect">
            <a:avLst/>
          </a:prstGeom>
          <a:solidFill>
            <a:srgbClr val="F7FAFE"/>
          </a:solidFill>
          <a:ln w="12700">
            <a:solidFill>
              <a:srgbClr val="D7E6F5"/>
            </a:solidFill>
            <a:prstDash val="solid"/>
          </a:ln>
        </p:spPr>
      </p:sp>
      <p:sp>
        <p:nvSpPr>
          <p:cNvPr id="10" name="Text 8"/>
          <p:cNvSpPr/>
          <p:nvPr/>
        </p:nvSpPr>
        <p:spPr>
          <a:xfrm>
            <a:off x="1078992" y="2560320"/>
            <a:ext cx="4206240" cy="91440"/>
          </a:xfrm>
          <a:prstGeom prst="rect">
            <a:avLst/>
          </a:prstGeom>
          <a:noFill/>
          <a:ln/>
        </p:spPr>
        <p:txBody>
          <a:bodyPr wrap="square" rtlCol="0" anchor="ctr"/>
          <a:lstStyle/>
          <a:p>
            <a:pPr indent="0" marL="0">
              <a:buNone/>
            </a:pPr>
            <a:r>
              <a:rPr lang="en-US" sz="1150" dirty="0">
                <a:solidFill>
                  <a:srgbClr val="1F2D3D"/>
                </a:solidFill>
              </a:rPr>
              <a:t>架构与设计专家</a:t>
            </a:r>
            <a:endParaRPr lang="en-US" sz="1150" dirty="0"/>
          </a:p>
        </p:txBody>
      </p:sp>
      <p:sp>
        <p:nvSpPr>
          <p:cNvPr id="11" name="Shape 9"/>
          <p:cNvSpPr/>
          <p:nvPr/>
        </p:nvSpPr>
        <p:spPr>
          <a:xfrm>
            <a:off x="914400" y="2916936"/>
            <a:ext cx="4572000" cy="274320"/>
          </a:xfrm>
          <a:prstGeom prst="roundRect">
            <a:avLst/>
          </a:prstGeom>
          <a:solidFill>
            <a:srgbClr val="EAF2FB"/>
          </a:solidFill>
          <a:ln w="12700">
            <a:solidFill>
              <a:srgbClr val="D7E6F5"/>
            </a:solidFill>
            <a:prstDash val="solid"/>
          </a:ln>
        </p:spPr>
      </p:sp>
      <p:sp>
        <p:nvSpPr>
          <p:cNvPr id="12" name="Text 10"/>
          <p:cNvSpPr/>
          <p:nvPr/>
        </p:nvSpPr>
        <p:spPr>
          <a:xfrm>
            <a:off x="1078992" y="2990088"/>
            <a:ext cx="4206240" cy="91440"/>
          </a:xfrm>
          <a:prstGeom prst="rect">
            <a:avLst/>
          </a:prstGeom>
          <a:noFill/>
          <a:ln/>
        </p:spPr>
        <p:txBody>
          <a:bodyPr wrap="square" rtlCol="0" anchor="ctr"/>
          <a:lstStyle/>
          <a:p>
            <a:pPr indent="0" marL="0">
              <a:buNone/>
            </a:pPr>
            <a:r>
              <a:rPr lang="en-US" sz="1150" dirty="0">
                <a:solidFill>
                  <a:srgbClr val="1F2D3D"/>
                </a:solidFill>
              </a:rPr>
              <a:t>安全与合规专家</a:t>
            </a:r>
            <a:endParaRPr lang="en-US" sz="1150" dirty="0"/>
          </a:p>
        </p:txBody>
      </p:sp>
      <p:sp>
        <p:nvSpPr>
          <p:cNvPr id="13" name="Shape 11"/>
          <p:cNvSpPr/>
          <p:nvPr/>
        </p:nvSpPr>
        <p:spPr>
          <a:xfrm>
            <a:off x="914400" y="3346704"/>
            <a:ext cx="4572000" cy="274320"/>
          </a:xfrm>
          <a:prstGeom prst="roundRect">
            <a:avLst/>
          </a:prstGeom>
          <a:solidFill>
            <a:srgbClr val="F7FAFE"/>
          </a:solidFill>
          <a:ln w="12700">
            <a:solidFill>
              <a:srgbClr val="D7E6F5"/>
            </a:solidFill>
            <a:prstDash val="solid"/>
          </a:ln>
        </p:spPr>
      </p:sp>
      <p:sp>
        <p:nvSpPr>
          <p:cNvPr id="14" name="Text 12"/>
          <p:cNvSpPr/>
          <p:nvPr/>
        </p:nvSpPr>
        <p:spPr>
          <a:xfrm>
            <a:off x="1078992" y="3419856"/>
            <a:ext cx="4206240" cy="91440"/>
          </a:xfrm>
          <a:prstGeom prst="rect">
            <a:avLst/>
          </a:prstGeom>
          <a:noFill/>
          <a:ln/>
        </p:spPr>
        <p:txBody>
          <a:bodyPr wrap="square" rtlCol="0" anchor="ctr"/>
          <a:lstStyle/>
          <a:p>
            <a:pPr indent="0" marL="0">
              <a:buNone/>
            </a:pPr>
            <a:r>
              <a:rPr lang="en-US" sz="1150" dirty="0">
                <a:solidFill>
                  <a:srgbClr val="1F2D3D"/>
                </a:solidFill>
              </a:rPr>
              <a:t>性能与可靠性专家</a:t>
            </a:r>
            <a:endParaRPr lang="en-US" sz="1150" dirty="0"/>
          </a:p>
        </p:txBody>
      </p:sp>
      <p:sp>
        <p:nvSpPr>
          <p:cNvPr id="15" name="Shape 13"/>
          <p:cNvSpPr/>
          <p:nvPr/>
        </p:nvSpPr>
        <p:spPr>
          <a:xfrm>
            <a:off x="914400" y="3776472"/>
            <a:ext cx="4572000" cy="274320"/>
          </a:xfrm>
          <a:prstGeom prst="roundRect">
            <a:avLst/>
          </a:prstGeom>
          <a:solidFill>
            <a:srgbClr val="EAF2FB"/>
          </a:solidFill>
          <a:ln w="12700">
            <a:solidFill>
              <a:srgbClr val="D7E6F5"/>
            </a:solidFill>
            <a:prstDash val="solid"/>
          </a:ln>
        </p:spPr>
      </p:sp>
      <p:sp>
        <p:nvSpPr>
          <p:cNvPr id="16" name="Text 14"/>
          <p:cNvSpPr/>
          <p:nvPr/>
        </p:nvSpPr>
        <p:spPr>
          <a:xfrm>
            <a:off x="1078992" y="3849624"/>
            <a:ext cx="4206240" cy="91440"/>
          </a:xfrm>
          <a:prstGeom prst="rect">
            <a:avLst/>
          </a:prstGeom>
          <a:noFill/>
          <a:ln/>
        </p:spPr>
        <p:txBody>
          <a:bodyPr wrap="square" rtlCol="0" anchor="ctr"/>
          <a:lstStyle/>
          <a:p>
            <a:pPr indent="0" marL="0">
              <a:buNone/>
            </a:pPr>
            <a:r>
              <a:rPr lang="en-US" sz="1150" dirty="0">
                <a:solidFill>
                  <a:srgbClr val="1F2D3D"/>
                </a:solidFill>
              </a:rPr>
              <a:t>可维护性与代码健康专家</a:t>
            </a:r>
            <a:endParaRPr lang="en-US" sz="1150" dirty="0"/>
          </a:p>
        </p:txBody>
      </p:sp>
      <p:sp>
        <p:nvSpPr>
          <p:cNvPr id="17" name="Shape 15"/>
          <p:cNvSpPr/>
          <p:nvPr/>
        </p:nvSpPr>
        <p:spPr>
          <a:xfrm>
            <a:off x="914400" y="4206240"/>
            <a:ext cx="4572000" cy="274320"/>
          </a:xfrm>
          <a:prstGeom prst="roundRect">
            <a:avLst/>
          </a:prstGeom>
          <a:solidFill>
            <a:srgbClr val="F7FAFE"/>
          </a:solidFill>
          <a:ln w="12700">
            <a:solidFill>
              <a:srgbClr val="D7E6F5"/>
            </a:solidFill>
            <a:prstDash val="solid"/>
          </a:ln>
        </p:spPr>
      </p:sp>
      <p:sp>
        <p:nvSpPr>
          <p:cNvPr id="18" name="Text 16"/>
          <p:cNvSpPr/>
          <p:nvPr/>
        </p:nvSpPr>
        <p:spPr>
          <a:xfrm>
            <a:off x="1078992" y="4279392"/>
            <a:ext cx="4206240" cy="91440"/>
          </a:xfrm>
          <a:prstGeom prst="rect">
            <a:avLst/>
          </a:prstGeom>
          <a:noFill/>
          <a:ln/>
        </p:spPr>
        <p:txBody>
          <a:bodyPr wrap="square" rtlCol="0" anchor="ctr"/>
          <a:lstStyle/>
          <a:p>
            <a:pPr indent="0" marL="0">
              <a:buNone/>
            </a:pPr>
            <a:r>
              <a:rPr lang="en-US" sz="1150" dirty="0">
                <a:solidFill>
                  <a:srgbClr val="1F2D3D"/>
                </a:solidFill>
              </a:rPr>
              <a:t>测试与验证专家</a:t>
            </a:r>
            <a:endParaRPr lang="en-US" sz="1150" dirty="0"/>
          </a:p>
        </p:txBody>
      </p:sp>
      <p:sp>
        <p:nvSpPr>
          <p:cNvPr id="19" name="Shape 17"/>
          <p:cNvSpPr/>
          <p:nvPr/>
        </p:nvSpPr>
        <p:spPr>
          <a:xfrm>
            <a:off x="6382512" y="1463040"/>
            <a:ext cx="5029200" cy="3566160"/>
          </a:xfrm>
          <a:prstGeom prst="roundRect">
            <a:avLst/>
          </a:prstGeom>
          <a:solidFill>
            <a:srgbClr val="FFFFFF"/>
          </a:solidFill>
          <a:ln w="12700">
            <a:solidFill>
              <a:srgbClr val="BFD3EA"/>
            </a:solidFill>
            <a:prstDash val="solid"/>
          </a:ln>
        </p:spPr>
      </p:sp>
      <p:sp>
        <p:nvSpPr>
          <p:cNvPr id="20" name="Text 18"/>
          <p:cNvSpPr/>
          <p:nvPr/>
        </p:nvSpPr>
        <p:spPr>
          <a:xfrm>
            <a:off x="6565392" y="1682496"/>
            <a:ext cx="2011680" cy="182880"/>
          </a:xfrm>
          <a:prstGeom prst="rect">
            <a:avLst/>
          </a:prstGeom>
          <a:noFill/>
          <a:ln/>
        </p:spPr>
        <p:txBody>
          <a:bodyPr wrap="square" rtlCol="0" anchor="ctr"/>
          <a:lstStyle/>
          <a:p>
            <a:pPr indent="0" marL="0">
              <a:buNone/>
            </a:pPr>
            <a:r>
              <a:rPr lang="en-US" sz="1500" b="1" dirty="0">
                <a:solidFill>
                  <a:srgbClr val="0E5AA7"/>
                </a:solidFill>
              </a:rPr>
              <a:t>专项补充专家（5个）</a:t>
            </a:r>
            <a:endParaRPr lang="en-US" sz="1500" dirty="0"/>
          </a:p>
        </p:txBody>
      </p:sp>
      <p:sp>
        <p:nvSpPr>
          <p:cNvPr id="21" name="Shape 19"/>
          <p:cNvSpPr/>
          <p:nvPr/>
        </p:nvSpPr>
        <p:spPr>
          <a:xfrm>
            <a:off x="6565392" y="2057400"/>
            <a:ext cx="4526280" cy="329184"/>
          </a:xfrm>
          <a:prstGeom prst="roundRect">
            <a:avLst/>
          </a:prstGeom>
          <a:solidFill>
            <a:srgbClr val="F7FAFE"/>
          </a:solidFill>
          <a:ln w="12700">
            <a:solidFill>
              <a:srgbClr val="D7E6F5"/>
            </a:solidFill>
            <a:prstDash val="solid"/>
          </a:ln>
        </p:spPr>
      </p:sp>
      <p:sp>
        <p:nvSpPr>
          <p:cNvPr id="22" name="Text 20"/>
          <p:cNvSpPr/>
          <p:nvPr/>
        </p:nvSpPr>
        <p:spPr>
          <a:xfrm>
            <a:off x="6729984" y="2148840"/>
            <a:ext cx="4160520" cy="100584"/>
          </a:xfrm>
          <a:prstGeom prst="rect">
            <a:avLst/>
          </a:prstGeom>
          <a:noFill/>
          <a:ln/>
        </p:spPr>
        <p:txBody>
          <a:bodyPr wrap="square" rtlCol="0" anchor="ctr"/>
          <a:lstStyle/>
          <a:p>
            <a:pPr indent="0" marL="0">
              <a:buNone/>
            </a:pPr>
            <a:r>
              <a:rPr lang="en-US" sz="1150" dirty="0">
                <a:solidFill>
                  <a:srgbClr val="1F2D3D"/>
                </a:solidFill>
              </a:rPr>
              <a:t>DDD 规范专家</a:t>
            </a:r>
            <a:endParaRPr lang="en-US" sz="1150" dirty="0"/>
          </a:p>
        </p:txBody>
      </p:sp>
      <p:sp>
        <p:nvSpPr>
          <p:cNvPr id="23" name="Shape 21"/>
          <p:cNvSpPr/>
          <p:nvPr/>
        </p:nvSpPr>
        <p:spPr>
          <a:xfrm>
            <a:off x="6565392" y="2569464"/>
            <a:ext cx="4526280" cy="329184"/>
          </a:xfrm>
          <a:prstGeom prst="roundRect">
            <a:avLst/>
          </a:prstGeom>
          <a:solidFill>
            <a:srgbClr val="EAF2FB"/>
          </a:solidFill>
          <a:ln w="12700">
            <a:solidFill>
              <a:srgbClr val="D7E6F5"/>
            </a:solidFill>
            <a:prstDash val="solid"/>
          </a:ln>
        </p:spPr>
      </p:sp>
      <p:sp>
        <p:nvSpPr>
          <p:cNvPr id="24" name="Text 22"/>
          <p:cNvSpPr/>
          <p:nvPr/>
        </p:nvSpPr>
        <p:spPr>
          <a:xfrm>
            <a:off x="6729984" y="2660904"/>
            <a:ext cx="4160520" cy="100584"/>
          </a:xfrm>
          <a:prstGeom prst="rect">
            <a:avLst/>
          </a:prstGeom>
          <a:noFill/>
          <a:ln/>
        </p:spPr>
        <p:txBody>
          <a:bodyPr wrap="square" rtlCol="0" anchor="ctr"/>
          <a:lstStyle/>
          <a:p>
            <a:pPr indent="0" marL="0">
              <a:buNone/>
            </a:pPr>
            <a:r>
              <a:rPr lang="en-US" sz="1150" dirty="0">
                <a:solidFill>
                  <a:srgbClr val="1F2D3D"/>
                </a:solidFill>
              </a:rPr>
              <a:t>数据库分析专家</a:t>
            </a:r>
            <a:endParaRPr lang="en-US" sz="1150" dirty="0"/>
          </a:p>
        </p:txBody>
      </p:sp>
      <p:sp>
        <p:nvSpPr>
          <p:cNvPr id="25" name="Shape 23"/>
          <p:cNvSpPr/>
          <p:nvPr/>
        </p:nvSpPr>
        <p:spPr>
          <a:xfrm>
            <a:off x="6565392" y="3081528"/>
            <a:ext cx="4526280" cy="329184"/>
          </a:xfrm>
          <a:prstGeom prst="roundRect">
            <a:avLst/>
          </a:prstGeom>
          <a:solidFill>
            <a:srgbClr val="F7FAFE"/>
          </a:solidFill>
          <a:ln w="12700">
            <a:solidFill>
              <a:srgbClr val="D7E6F5"/>
            </a:solidFill>
            <a:prstDash val="solid"/>
          </a:ln>
        </p:spPr>
      </p:sp>
      <p:sp>
        <p:nvSpPr>
          <p:cNvPr id="26" name="Text 24"/>
          <p:cNvSpPr/>
          <p:nvPr/>
        </p:nvSpPr>
        <p:spPr>
          <a:xfrm>
            <a:off x="6729984" y="3172968"/>
            <a:ext cx="4160520" cy="100584"/>
          </a:xfrm>
          <a:prstGeom prst="rect">
            <a:avLst/>
          </a:prstGeom>
          <a:noFill/>
          <a:ln/>
        </p:spPr>
        <p:txBody>
          <a:bodyPr wrap="square" rtlCol="0" anchor="ctr"/>
          <a:lstStyle/>
          <a:p>
            <a:pPr indent="0" marL="0">
              <a:buNone/>
            </a:pPr>
            <a:r>
              <a:rPr lang="en-US" sz="1150" dirty="0">
                <a:solidFill>
                  <a:srgbClr val="1F2D3D"/>
                </a:solidFill>
              </a:rPr>
              <a:t>Redis 专家</a:t>
            </a:r>
            <a:endParaRPr lang="en-US" sz="1150" dirty="0"/>
          </a:p>
        </p:txBody>
      </p:sp>
      <p:sp>
        <p:nvSpPr>
          <p:cNvPr id="27" name="Shape 25"/>
          <p:cNvSpPr/>
          <p:nvPr/>
        </p:nvSpPr>
        <p:spPr>
          <a:xfrm>
            <a:off x="6565392" y="3593592"/>
            <a:ext cx="4526280" cy="329184"/>
          </a:xfrm>
          <a:prstGeom prst="roundRect">
            <a:avLst/>
          </a:prstGeom>
          <a:solidFill>
            <a:srgbClr val="EAF2FB"/>
          </a:solidFill>
          <a:ln w="12700">
            <a:solidFill>
              <a:srgbClr val="D7E6F5"/>
            </a:solidFill>
            <a:prstDash val="solid"/>
          </a:ln>
        </p:spPr>
      </p:sp>
      <p:sp>
        <p:nvSpPr>
          <p:cNvPr id="28" name="Text 26"/>
          <p:cNvSpPr/>
          <p:nvPr/>
        </p:nvSpPr>
        <p:spPr>
          <a:xfrm>
            <a:off x="6729984" y="3685032"/>
            <a:ext cx="4160520" cy="100584"/>
          </a:xfrm>
          <a:prstGeom prst="rect">
            <a:avLst/>
          </a:prstGeom>
          <a:noFill/>
          <a:ln/>
        </p:spPr>
        <p:txBody>
          <a:bodyPr wrap="square" rtlCol="0" anchor="ctr"/>
          <a:lstStyle/>
          <a:p>
            <a:pPr indent="0" marL="0">
              <a:buNone/>
            </a:pPr>
            <a:r>
              <a:rPr lang="en-US" sz="1150" dirty="0">
                <a:solidFill>
                  <a:srgbClr val="1F2D3D"/>
                </a:solidFill>
              </a:rPr>
              <a:t>消息队列专家</a:t>
            </a:r>
            <a:endParaRPr lang="en-US" sz="1150" dirty="0"/>
          </a:p>
        </p:txBody>
      </p:sp>
      <p:sp>
        <p:nvSpPr>
          <p:cNvPr id="29" name="Shape 27"/>
          <p:cNvSpPr/>
          <p:nvPr/>
        </p:nvSpPr>
        <p:spPr>
          <a:xfrm>
            <a:off x="6565392" y="4105656"/>
            <a:ext cx="4526280" cy="329184"/>
          </a:xfrm>
          <a:prstGeom prst="roundRect">
            <a:avLst/>
          </a:prstGeom>
          <a:solidFill>
            <a:srgbClr val="F7FAFE"/>
          </a:solidFill>
          <a:ln w="12700">
            <a:solidFill>
              <a:srgbClr val="D7E6F5"/>
            </a:solidFill>
            <a:prstDash val="solid"/>
          </a:ln>
        </p:spPr>
      </p:sp>
      <p:sp>
        <p:nvSpPr>
          <p:cNvPr id="30" name="Text 28"/>
          <p:cNvSpPr/>
          <p:nvPr/>
        </p:nvSpPr>
        <p:spPr>
          <a:xfrm>
            <a:off x="6729984" y="4197096"/>
            <a:ext cx="4160520" cy="100584"/>
          </a:xfrm>
          <a:prstGeom prst="rect">
            <a:avLst/>
          </a:prstGeom>
          <a:noFill/>
          <a:ln/>
        </p:spPr>
        <p:txBody>
          <a:bodyPr wrap="square" rtlCol="0" anchor="ctr"/>
          <a:lstStyle/>
          <a:p>
            <a:pPr indent="0" marL="0">
              <a:buNone/>
            </a:pPr>
            <a:r>
              <a:rPr lang="en-US" sz="1150" dirty="0">
                <a:solidFill>
                  <a:srgbClr val="1F2D3D"/>
                </a:solidFill>
              </a:rPr>
              <a:t>前端可访问性专家</a:t>
            </a:r>
            <a:endParaRPr lang="en-US" sz="1150" dirty="0"/>
          </a:p>
        </p:txBody>
      </p:sp>
      <p:sp>
        <p:nvSpPr>
          <p:cNvPr id="31" name="Text 29"/>
          <p:cNvSpPr/>
          <p:nvPr/>
        </p:nvSpPr>
        <p:spPr>
          <a:xfrm>
            <a:off x="777240" y="5138928"/>
            <a:ext cx="10972800" cy="621792"/>
          </a:xfrm>
          <a:prstGeom prst="rect">
            <a:avLst/>
          </a:prstGeom>
          <a:noFill/>
          <a:ln/>
        </p:spPr>
        <p:txBody>
          <a:bodyPr wrap="square" rtlCol="0" anchor="ctr">
            <a:normAutofit/>
          </a:bodyPr>
          <a:lstStyle/>
          <a:p>
            <a:pPr indent="0" marL="0">
              <a:buNone/>
            </a:pPr>
            <a:r>
              <a:rPr lang="en-US" sz="1410" b="1" dirty="0">
                <a:solidFill>
                  <a:srgbClr val="1E74C6"/>
                </a:solidFill>
              </a:rPr>
              <a:t>• </a:t>
            </a:r>
            <a:pPr indent="0" marL="0">
              <a:buNone/>
            </a:pPr>
            <a:r>
              <a:rPr lang="en-US" sz="1410" dirty="0">
                <a:solidFill>
                  <a:srgbClr val="1F2D3D"/>
                </a:solidFill>
              </a:rPr>
              <a:t>6个主线专家负责大多数项目都会遇到的共性质量问题，目的是先把组织里最常见、最通用的审查维度建立起来，形成统一底座。</a:t>
            </a:r>
            <a:endParaRPr lang="en-US" sz="1410" dirty="0"/>
          </a:p>
          <a:p>
            <a:pPr indent="0" marL="0">
              <a:buNone/>
            </a:pPr>
            <a:r>
              <a:rPr lang="en-US" sz="1410" b="1" dirty="0">
                <a:solidFill>
                  <a:srgbClr val="1E74C6"/>
                </a:solidFill>
              </a:rPr>
              <a:t>• </a:t>
            </a:r>
            <a:pPr indent="0" marL="0">
              <a:buNone/>
            </a:pPr>
            <a:r>
              <a:rPr lang="en-US" sz="1410" dirty="0">
                <a:solidFill>
                  <a:srgbClr val="1F2D3D"/>
                </a:solidFill>
              </a:rPr>
              <a:t>5个专项专家面向数据库、缓存、消息、DDD 和前端可访问性等特定场景补位。这样既避免前期体系过重，也为后续按需扩展留出空间。</a:t>
            </a:r>
            <a:endParaRPr lang="en-US" sz="1410" dirty="0"/>
          </a:p>
          <a:p>
            <a:pPr indent="0" marL="0">
              <a:buNone/>
            </a:pPr>
            <a:r>
              <a:rPr lang="en-US" sz="1410" b="1" dirty="0">
                <a:solidFill>
                  <a:srgbClr val="1E74C6"/>
                </a:solidFill>
              </a:rPr>
              <a:t>• </a:t>
            </a:r>
            <a:pPr indent="0" marL="0">
              <a:buNone/>
            </a:pPr>
            <a:r>
              <a:rPr lang="en-US" sz="1410" dirty="0">
                <a:solidFill>
                  <a:srgbClr val="1F2D3D"/>
                </a:solidFill>
              </a:rPr>
              <a:t>这种分层方式更适合推广：先在通用维度上形成稳定效果，再根据团队特点逐步接入专项专家，而不是一开始就把所有能力一次性铺开。</a:t>
            </a:r>
            <a:endParaRPr lang="en-US" sz="1410" dirty="0"/>
          </a:p>
        </p:txBody>
      </p:sp>
      <p:sp>
        <p:nvSpPr>
          <p:cNvPr id="32" name="Shape 30"/>
          <p:cNvSpPr/>
          <p:nvPr/>
        </p:nvSpPr>
        <p:spPr>
          <a:xfrm>
            <a:off x="594360" y="5989320"/>
            <a:ext cx="10972800" cy="384048"/>
          </a:xfrm>
          <a:prstGeom prst="roundRect">
            <a:avLst/>
          </a:prstGeom>
          <a:solidFill>
            <a:srgbClr val="E8F1FB"/>
          </a:solidFill>
          <a:ln w="12700">
            <a:solidFill>
              <a:srgbClr val="D2E2F5"/>
            </a:solidFill>
            <a:prstDash val="solid"/>
          </a:ln>
        </p:spPr>
      </p:sp>
      <p:sp>
        <p:nvSpPr>
          <p:cNvPr id="33" name="Text 31"/>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专家数量不是重点，关键是分层合理、边界清楚、能随着试点结果逐步演进。</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案例：同一段代码，多专家识别不同问题</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同一段变更，业务、安全、可靠性、可维护性和测试视角看到的问题并不相同</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案例</a:t>
            </a:r>
            <a:endParaRPr lang="en-US" sz="1050" dirty="0"/>
          </a:p>
        </p:txBody>
      </p:sp>
      <p:sp>
        <p:nvSpPr>
          <p:cNvPr id="5" name="Shape 3"/>
          <p:cNvSpPr/>
          <p:nvPr/>
        </p:nvSpPr>
        <p:spPr>
          <a:xfrm>
            <a:off x="731520" y="1325880"/>
            <a:ext cx="4617720" cy="3611880"/>
          </a:xfrm>
          <a:prstGeom prst="roundRect">
            <a:avLst/>
          </a:prstGeom>
          <a:solidFill>
            <a:srgbClr val="FFFFFF"/>
          </a:solidFill>
          <a:ln w="12700">
            <a:solidFill>
              <a:srgbClr val="BFD3EA"/>
            </a:solidFill>
            <a:prstDash val="solid"/>
          </a:ln>
        </p:spPr>
      </p:sp>
      <p:sp>
        <p:nvSpPr>
          <p:cNvPr id="6" name="Text 4"/>
          <p:cNvSpPr/>
          <p:nvPr/>
        </p:nvSpPr>
        <p:spPr>
          <a:xfrm>
            <a:off x="960120" y="1572768"/>
            <a:ext cx="2194560" cy="182880"/>
          </a:xfrm>
          <a:prstGeom prst="rect">
            <a:avLst/>
          </a:prstGeom>
          <a:noFill/>
          <a:ln/>
        </p:spPr>
        <p:txBody>
          <a:bodyPr wrap="square" rtlCol="0" anchor="ctr"/>
          <a:lstStyle/>
          <a:p>
            <a:pPr indent="0" marL="0">
              <a:buNone/>
            </a:pPr>
            <a:r>
              <a:rPr lang="en-US" sz="1450" b="1" dirty="0">
                <a:solidFill>
                  <a:srgbClr val="0E5AA7"/>
                </a:solidFill>
              </a:rPr>
              <a:t>示例代码：订单取消逻辑</a:t>
            </a:r>
            <a:endParaRPr lang="en-US" sz="1450" dirty="0"/>
          </a:p>
        </p:txBody>
      </p:sp>
      <p:sp>
        <p:nvSpPr>
          <p:cNvPr id="7" name="Text 5"/>
          <p:cNvSpPr/>
          <p:nvPr/>
        </p:nvSpPr>
        <p:spPr>
          <a:xfrm>
            <a:off x="914400" y="1901952"/>
            <a:ext cx="4160520" cy="2606040"/>
          </a:xfrm>
          <a:prstGeom prst="rect">
            <a:avLst/>
          </a:prstGeom>
          <a:solidFill>
            <a:srgbClr val="F6F9FC"/>
          </a:solidFill>
          <a:ln>
            <a:solidFill>
              <a:srgbClr val="D7E6F5"/>
            </a:solidFill>
          </a:ln>
        </p:spPr>
        <p:txBody>
          <a:bodyPr wrap="square" lIns="1524" tIns="1524" rIns="1524" bIns="1524"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66D9EF"/>
                </a:solidFill>
                <a:latin typeface="Consolas" pitchFamily="34" charset="0"/>
                <a:ea typeface="Consolas" pitchFamily="34" charset="-122"/>
                <a:cs typeface="Consolas" pitchFamily="34" charset="-120"/>
              </a:rPr>
              <a:t>public</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66D9EF"/>
                </a:solidFill>
                <a:latin typeface="Consolas" pitchFamily="34" charset="0"/>
                <a:ea typeface="Consolas" pitchFamily="34" charset="-122"/>
                <a:cs typeface="Consolas" pitchFamily="34" charset="-120"/>
              </a:rPr>
              <a:t>void</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cancelOrder</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Long</a:t>
            </a:r>
            <a:pPr indent="0" marL="0">
              <a:buNone/>
            </a:pPr>
            <a:r>
              <a:rPr lang="en-US" sz="1400" dirty="0">
                <a:solidFill>
                  <a:srgbClr val="FFFFFF"/>
                </a:solidFill>
                <a:latin typeface="Consolas" pitchFamily="34" charset="0"/>
                <a:ea typeface="Consolas" pitchFamily="34" charset="-122"/>
                <a:cs typeface="Consolas" pitchFamily="34" charset="-120"/>
              </a:rPr>
              <a:t> orderId</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Order</a:t>
            </a:r>
            <a:pPr indent="0" marL="0">
              <a:buNone/>
            </a:pPr>
            <a:r>
              <a:rPr lang="en-US" sz="1400" dirty="0">
                <a:solidFill>
                  <a:srgbClr val="FFFFFF"/>
                </a:solidFill>
                <a:latin typeface="Consolas" pitchFamily="34" charset="0"/>
                <a:ea typeface="Consolas" pitchFamily="34" charset="-122"/>
                <a:cs typeface="Consolas" pitchFamily="34" charset="-120"/>
              </a:rPr>
              <a:t> order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orderRepository</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findById</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orderId</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66D9EF"/>
                </a:solidFill>
                <a:latin typeface="Consolas" pitchFamily="34" charset="0"/>
                <a:ea typeface="Consolas" pitchFamily="34" charset="-122"/>
                <a:cs typeface="Consolas" pitchFamily="34" charset="-120"/>
              </a:rPr>
              <a:t>if</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order</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getStatus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equals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"PAID"</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4 </a:t>
            </a:r>
            <a:pPr indent="0" marL="0">
              <a:buNone/>
            </a:pPr>
            <a:r>
              <a:rPr lang="en-US" sz="1400" dirty="0">
                <a:solidFill>
                  <a:srgbClr val="FFFFFF"/>
                </a:solidFill>
                <a:latin typeface="Consolas" pitchFamily="34" charset="0"/>
                <a:ea typeface="Consolas" pitchFamily="34" charset="-122"/>
                <a:cs typeface="Consolas" pitchFamily="34" charset="-120"/>
              </a:rPr>
              <a:t>        order</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setStatus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"CANCELLED"</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5 </a:t>
            </a:r>
            <a:pPr indent="0" marL="0">
              <a:buNone/>
            </a:pPr>
            <a:r>
              <a:rPr lang="en-US" sz="1400" dirty="0">
                <a:solidFill>
                  <a:srgbClr val="FFFFFF"/>
                </a:solidFill>
                <a:latin typeface="Consolas" pitchFamily="34" charset="0"/>
                <a:ea typeface="Consolas" pitchFamily="34" charset="-122"/>
                <a:cs typeface="Consolas" pitchFamily="34" charset="-120"/>
              </a:rPr>
              <a:t>        orderRepository</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save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order</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6 </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7 </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300" dirty="0"/>
          </a:p>
        </p:txBody>
      </p:sp>
      <p:sp>
        <p:nvSpPr>
          <p:cNvPr id="8" name="Shape 6"/>
          <p:cNvSpPr/>
          <p:nvPr/>
        </p:nvSpPr>
        <p:spPr>
          <a:xfrm>
            <a:off x="5623560" y="1353312"/>
            <a:ext cx="5669280" cy="658368"/>
          </a:xfrm>
          <a:prstGeom prst="roundRect">
            <a:avLst/>
          </a:prstGeom>
          <a:solidFill>
            <a:srgbClr val="FFFFFF"/>
          </a:solidFill>
          <a:ln w="12700">
            <a:solidFill>
              <a:srgbClr val="BFD3EA"/>
            </a:solidFill>
            <a:prstDash val="solid"/>
          </a:ln>
        </p:spPr>
      </p:sp>
      <p:sp>
        <p:nvSpPr>
          <p:cNvPr id="9" name="Shape 7"/>
          <p:cNvSpPr/>
          <p:nvPr/>
        </p:nvSpPr>
        <p:spPr>
          <a:xfrm>
            <a:off x="5788152" y="1499616"/>
            <a:ext cx="73152" cy="365760"/>
          </a:xfrm>
          <a:prstGeom prst="roundRect">
            <a:avLst/>
          </a:prstGeom>
          <a:solidFill>
            <a:srgbClr val="2F8F6B"/>
          </a:solidFill>
          <a:ln w="12700">
            <a:solidFill>
              <a:srgbClr val="2F8F6B"/>
            </a:solidFill>
            <a:prstDash val="solid"/>
          </a:ln>
        </p:spPr>
      </p:sp>
      <p:sp>
        <p:nvSpPr>
          <p:cNvPr id="10" name="Text 8"/>
          <p:cNvSpPr/>
          <p:nvPr/>
        </p:nvSpPr>
        <p:spPr>
          <a:xfrm>
            <a:off x="5943600" y="1517904"/>
            <a:ext cx="5257800" cy="201168"/>
          </a:xfrm>
          <a:prstGeom prst="rect">
            <a:avLst/>
          </a:prstGeom>
          <a:noFill/>
          <a:ln/>
        </p:spPr>
        <p:txBody>
          <a:bodyPr wrap="square" lIns="0" tIns="0" rIns="0" bIns="0" rtlCol="0" anchor="ctr"/>
          <a:lstStyle/>
          <a:p>
            <a:pPr indent="0" marL="0">
              <a:buNone/>
            </a:pPr>
            <a:r>
              <a:rPr lang="en-US" sz="1450" b="1" dirty="0">
                <a:solidFill>
                  <a:srgbClr val="0E5AA7"/>
                </a:solidFill>
              </a:rPr>
              <a:t>业务正确性</a:t>
            </a:r>
            <a:endParaRPr lang="en-US" sz="1450" dirty="0"/>
          </a:p>
        </p:txBody>
      </p:sp>
      <p:sp>
        <p:nvSpPr>
          <p:cNvPr id="11" name="Text 9"/>
          <p:cNvSpPr/>
          <p:nvPr/>
        </p:nvSpPr>
        <p:spPr>
          <a:xfrm>
            <a:off x="5943600" y="1792224"/>
            <a:ext cx="5257800" cy="12801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只改状态，未处理库存释放、优惠券回退等业务动作，容易造成业务闭环不完整。</a:t>
            </a:r>
            <a:endParaRPr lang="en-US" sz="1150" dirty="0"/>
          </a:p>
        </p:txBody>
      </p:sp>
      <p:sp>
        <p:nvSpPr>
          <p:cNvPr id="12" name="Shape 10"/>
          <p:cNvSpPr/>
          <p:nvPr/>
        </p:nvSpPr>
        <p:spPr>
          <a:xfrm>
            <a:off x="5623560" y="2139696"/>
            <a:ext cx="5669280" cy="658368"/>
          </a:xfrm>
          <a:prstGeom prst="roundRect">
            <a:avLst/>
          </a:prstGeom>
          <a:solidFill>
            <a:srgbClr val="FFFFFF"/>
          </a:solidFill>
          <a:ln w="12700">
            <a:solidFill>
              <a:srgbClr val="BFD3EA"/>
            </a:solidFill>
            <a:prstDash val="solid"/>
          </a:ln>
        </p:spPr>
      </p:sp>
      <p:sp>
        <p:nvSpPr>
          <p:cNvPr id="13" name="Shape 11"/>
          <p:cNvSpPr/>
          <p:nvPr/>
        </p:nvSpPr>
        <p:spPr>
          <a:xfrm>
            <a:off x="5788152" y="2286000"/>
            <a:ext cx="73152" cy="365760"/>
          </a:xfrm>
          <a:prstGeom prst="roundRect">
            <a:avLst/>
          </a:prstGeom>
          <a:solidFill>
            <a:srgbClr val="C94F4F"/>
          </a:solidFill>
          <a:ln w="12700">
            <a:solidFill>
              <a:srgbClr val="C94F4F"/>
            </a:solidFill>
            <a:prstDash val="solid"/>
          </a:ln>
        </p:spPr>
      </p:sp>
      <p:sp>
        <p:nvSpPr>
          <p:cNvPr id="14" name="Text 12"/>
          <p:cNvSpPr/>
          <p:nvPr/>
        </p:nvSpPr>
        <p:spPr>
          <a:xfrm>
            <a:off x="5943600" y="2304288"/>
            <a:ext cx="5257800" cy="201168"/>
          </a:xfrm>
          <a:prstGeom prst="rect">
            <a:avLst/>
          </a:prstGeom>
          <a:noFill/>
          <a:ln/>
        </p:spPr>
        <p:txBody>
          <a:bodyPr wrap="square" lIns="0" tIns="0" rIns="0" bIns="0" rtlCol="0" anchor="ctr"/>
          <a:lstStyle/>
          <a:p>
            <a:pPr indent="0" marL="0">
              <a:buNone/>
            </a:pPr>
            <a:r>
              <a:rPr lang="en-US" sz="1450" b="1" dirty="0">
                <a:solidFill>
                  <a:srgbClr val="0E5AA7"/>
                </a:solidFill>
              </a:rPr>
              <a:t>安全与合规</a:t>
            </a:r>
            <a:endParaRPr lang="en-US" sz="1450" dirty="0"/>
          </a:p>
        </p:txBody>
      </p:sp>
      <p:sp>
        <p:nvSpPr>
          <p:cNvPr id="15" name="Text 13"/>
          <p:cNvSpPr/>
          <p:nvPr/>
        </p:nvSpPr>
        <p:spPr>
          <a:xfrm>
            <a:off x="5943600" y="2578608"/>
            <a:ext cx="5257800" cy="12801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没有校验当前用户是否有权取消订单，存在越权操作风险。</a:t>
            </a:r>
            <a:endParaRPr lang="en-US" sz="1150" dirty="0"/>
          </a:p>
        </p:txBody>
      </p:sp>
      <p:sp>
        <p:nvSpPr>
          <p:cNvPr id="16" name="Shape 14"/>
          <p:cNvSpPr/>
          <p:nvPr/>
        </p:nvSpPr>
        <p:spPr>
          <a:xfrm>
            <a:off x="5623560" y="2926080"/>
            <a:ext cx="5669280" cy="658368"/>
          </a:xfrm>
          <a:prstGeom prst="roundRect">
            <a:avLst/>
          </a:prstGeom>
          <a:solidFill>
            <a:srgbClr val="FFFFFF"/>
          </a:solidFill>
          <a:ln w="12700">
            <a:solidFill>
              <a:srgbClr val="BFD3EA"/>
            </a:solidFill>
            <a:prstDash val="solid"/>
          </a:ln>
        </p:spPr>
      </p:sp>
      <p:sp>
        <p:nvSpPr>
          <p:cNvPr id="17" name="Shape 15"/>
          <p:cNvSpPr/>
          <p:nvPr/>
        </p:nvSpPr>
        <p:spPr>
          <a:xfrm>
            <a:off x="5788152" y="3072384"/>
            <a:ext cx="73152" cy="365760"/>
          </a:xfrm>
          <a:prstGeom prst="roundRect">
            <a:avLst/>
          </a:prstGeom>
          <a:solidFill>
            <a:srgbClr val="D98B1D"/>
          </a:solidFill>
          <a:ln w="12700">
            <a:solidFill>
              <a:srgbClr val="D98B1D"/>
            </a:solidFill>
            <a:prstDash val="solid"/>
          </a:ln>
        </p:spPr>
      </p:sp>
      <p:sp>
        <p:nvSpPr>
          <p:cNvPr id="18" name="Text 16"/>
          <p:cNvSpPr/>
          <p:nvPr/>
        </p:nvSpPr>
        <p:spPr>
          <a:xfrm>
            <a:off x="5943600" y="3090672"/>
            <a:ext cx="5257800" cy="201168"/>
          </a:xfrm>
          <a:prstGeom prst="rect">
            <a:avLst/>
          </a:prstGeom>
          <a:noFill/>
          <a:ln/>
        </p:spPr>
        <p:txBody>
          <a:bodyPr wrap="square" lIns="0" tIns="0" rIns="0" bIns="0" rtlCol="0" anchor="ctr"/>
          <a:lstStyle/>
          <a:p>
            <a:pPr indent="0" marL="0">
              <a:buNone/>
            </a:pPr>
            <a:r>
              <a:rPr lang="en-US" sz="1450" b="1" dirty="0">
                <a:solidFill>
                  <a:srgbClr val="0E5AA7"/>
                </a:solidFill>
              </a:rPr>
              <a:t>性能与可靠性</a:t>
            </a:r>
            <a:endParaRPr lang="en-US" sz="1450" dirty="0"/>
          </a:p>
        </p:txBody>
      </p:sp>
      <p:sp>
        <p:nvSpPr>
          <p:cNvPr id="19" name="Text 17"/>
          <p:cNvSpPr/>
          <p:nvPr/>
        </p:nvSpPr>
        <p:spPr>
          <a:xfrm>
            <a:off x="5943600" y="3364992"/>
            <a:ext cx="5257800" cy="12801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缺少事务边界，一旦后续补充联动操作，容易出现部分成功、部分失败。</a:t>
            </a:r>
            <a:endParaRPr lang="en-US" sz="1150" dirty="0"/>
          </a:p>
        </p:txBody>
      </p:sp>
      <p:sp>
        <p:nvSpPr>
          <p:cNvPr id="20" name="Shape 18"/>
          <p:cNvSpPr/>
          <p:nvPr/>
        </p:nvSpPr>
        <p:spPr>
          <a:xfrm>
            <a:off x="5623560" y="3712464"/>
            <a:ext cx="5669280" cy="658368"/>
          </a:xfrm>
          <a:prstGeom prst="roundRect">
            <a:avLst/>
          </a:prstGeom>
          <a:solidFill>
            <a:srgbClr val="FFFFFF"/>
          </a:solidFill>
          <a:ln w="12700">
            <a:solidFill>
              <a:srgbClr val="BFD3EA"/>
            </a:solidFill>
            <a:prstDash val="solid"/>
          </a:ln>
        </p:spPr>
      </p:sp>
      <p:sp>
        <p:nvSpPr>
          <p:cNvPr id="21" name="Shape 19"/>
          <p:cNvSpPr/>
          <p:nvPr/>
        </p:nvSpPr>
        <p:spPr>
          <a:xfrm>
            <a:off x="5788152" y="3858768"/>
            <a:ext cx="73152" cy="365760"/>
          </a:xfrm>
          <a:prstGeom prst="roundRect">
            <a:avLst/>
          </a:prstGeom>
          <a:solidFill>
            <a:srgbClr val="1E74C6"/>
          </a:solidFill>
          <a:ln w="12700">
            <a:solidFill>
              <a:srgbClr val="1E74C6"/>
            </a:solidFill>
            <a:prstDash val="solid"/>
          </a:ln>
        </p:spPr>
      </p:sp>
      <p:sp>
        <p:nvSpPr>
          <p:cNvPr id="22" name="Text 20"/>
          <p:cNvSpPr/>
          <p:nvPr/>
        </p:nvSpPr>
        <p:spPr>
          <a:xfrm>
            <a:off x="5943600" y="3877056"/>
            <a:ext cx="5257800" cy="201168"/>
          </a:xfrm>
          <a:prstGeom prst="rect">
            <a:avLst/>
          </a:prstGeom>
          <a:noFill/>
          <a:ln/>
        </p:spPr>
        <p:txBody>
          <a:bodyPr wrap="square" lIns="0" tIns="0" rIns="0" bIns="0" rtlCol="0" anchor="ctr"/>
          <a:lstStyle/>
          <a:p>
            <a:pPr indent="0" marL="0">
              <a:buNone/>
            </a:pPr>
            <a:r>
              <a:rPr lang="en-US" sz="1450" b="1" dirty="0">
                <a:solidFill>
                  <a:srgbClr val="0E5AA7"/>
                </a:solidFill>
              </a:rPr>
              <a:t>可维护性</a:t>
            </a:r>
            <a:endParaRPr lang="en-US" sz="1450" dirty="0"/>
          </a:p>
        </p:txBody>
      </p:sp>
      <p:sp>
        <p:nvSpPr>
          <p:cNvPr id="23" name="Text 21"/>
          <p:cNvSpPr/>
          <p:nvPr/>
        </p:nvSpPr>
        <p:spPr>
          <a:xfrm>
            <a:off x="5943600" y="4151376"/>
            <a:ext cx="5257800" cy="12801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直接写字符串状态值，后续枚举扩展和统一治理会变得困难。</a:t>
            </a:r>
            <a:endParaRPr lang="en-US" sz="1150" dirty="0"/>
          </a:p>
        </p:txBody>
      </p:sp>
      <p:sp>
        <p:nvSpPr>
          <p:cNvPr id="24" name="Shape 22"/>
          <p:cNvSpPr/>
          <p:nvPr/>
        </p:nvSpPr>
        <p:spPr>
          <a:xfrm>
            <a:off x="5623560" y="4498848"/>
            <a:ext cx="5669280" cy="658368"/>
          </a:xfrm>
          <a:prstGeom prst="roundRect">
            <a:avLst/>
          </a:prstGeom>
          <a:solidFill>
            <a:srgbClr val="FFFFFF"/>
          </a:solidFill>
          <a:ln w="12700">
            <a:solidFill>
              <a:srgbClr val="BFD3EA"/>
            </a:solidFill>
            <a:prstDash val="solid"/>
          </a:ln>
        </p:spPr>
      </p:sp>
      <p:sp>
        <p:nvSpPr>
          <p:cNvPr id="25" name="Shape 23"/>
          <p:cNvSpPr/>
          <p:nvPr/>
        </p:nvSpPr>
        <p:spPr>
          <a:xfrm>
            <a:off x="5788152" y="4645152"/>
            <a:ext cx="73152" cy="365760"/>
          </a:xfrm>
          <a:prstGeom prst="roundRect">
            <a:avLst/>
          </a:prstGeom>
          <a:solidFill>
            <a:srgbClr val="5D7BD8"/>
          </a:solidFill>
          <a:ln w="12700">
            <a:solidFill>
              <a:srgbClr val="5D7BD8"/>
            </a:solidFill>
            <a:prstDash val="solid"/>
          </a:ln>
        </p:spPr>
      </p:sp>
      <p:sp>
        <p:nvSpPr>
          <p:cNvPr id="26" name="Text 24"/>
          <p:cNvSpPr/>
          <p:nvPr/>
        </p:nvSpPr>
        <p:spPr>
          <a:xfrm>
            <a:off x="5943600" y="4663440"/>
            <a:ext cx="5257800" cy="201168"/>
          </a:xfrm>
          <a:prstGeom prst="rect">
            <a:avLst/>
          </a:prstGeom>
          <a:noFill/>
          <a:ln/>
        </p:spPr>
        <p:txBody>
          <a:bodyPr wrap="square" lIns="0" tIns="0" rIns="0" bIns="0" rtlCol="0" anchor="ctr"/>
          <a:lstStyle/>
          <a:p>
            <a:pPr indent="0" marL="0">
              <a:buNone/>
            </a:pPr>
            <a:r>
              <a:rPr lang="en-US" sz="1450" b="1" dirty="0">
                <a:solidFill>
                  <a:srgbClr val="0E5AA7"/>
                </a:solidFill>
              </a:rPr>
              <a:t>测试与验证</a:t>
            </a:r>
            <a:endParaRPr lang="en-US" sz="1450" dirty="0"/>
          </a:p>
        </p:txBody>
      </p:sp>
      <p:sp>
        <p:nvSpPr>
          <p:cNvPr id="27" name="Text 25"/>
          <p:cNvSpPr/>
          <p:nvPr/>
        </p:nvSpPr>
        <p:spPr>
          <a:xfrm>
            <a:off x="5943600" y="4937760"/>
            <a:ext cx="5257800" cy="128016"/>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缺少边界条件、异常路径和权限场景测试，改动上线后风险较高。</a:t>
            </a:r>
            <a:endParaRPr lang="en-US" sz="1150" dirty="0"/>
          </a:p>
        </p:txBody>
      </p:sp>
      <p:sp>
        <p:nvSpPr>
          <p:cNvPr id="28" name="Shape 26"/>
          <p:cNvSpPr/>
          <p:nvPr/>
        </p:nvSpPr>
        <p:spPr>
          <a:xfrm>
            <a:off x="594360" y="5989320"/>
            <a:ext cx="10972800" cy="384048"/>
          </a:xfrm>
          <a:prstGeom prst="roundRect">
            <a:avLst/>
          </a:prstGeom>
          <a:solidFill>
            <a:srgbClr val="E8F1FB"/>
          </a:solidFill>
          <a:ln w="12700">
            <a:solidFill>
              <a:srgbClr val="D2E2F5"/>
            </a:solidFill>
            <a:prstDash val="solid"/>
          </a:ln>
        </p:spPr>
      </p:sp>
      <p:sp>
        <p:nvSpPr>
          <p:cNvPr id="29" name="Text 27"/>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多Agent不是把一个意见拆成多份，而是用不同质量维度补齐盲区，让同一段代码得到更完整的审视。</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457200"/>
            <a:ext cx="8686800" cy="384048"/>
          </a:xfrm>
          <a:prstGeom prst="rect">
            <a:avLst/>
          </a:prstGeom>
          <a:noFill/>
          <a:ln/>
        </p:spPr>
        <p:txBody>
          <a:bodyPr wrap="square" lIns="0" tIns="0" rIns="0" bIns="0" rtlCol="0" anchor="ctr"/>
          <a:lstStyle/>
          <a:p>
            <a:pPr indent="0" marL="0">
              <a:buNone/>
            </a:pPr>
            <a:r>
              <a:rPr lang="en-US" sz="2400" b="1" dirty="0">
                <a:solidFill>
                  <a:srgbClr val="0E5AA7"/>
                </a:solidFill>
                <a:latin typeface="Microsoft YaHei" pitchFamily="34" charset="0"/>
                <a:ea typeface="Microsoft YaHei" pitchFamily="34" charset="-122"/>
                <a:cs typeface="Microsoft YaHei" pitchFamily="34" charset="-120"/>
              </a:rPr>
              <a:t>当前效果、客观边界与推广建议</a:t>
            </a:r>
            <a:endParaRPr lang="en-US" sz="2400" dirty="0"/>
          </a:p>
        </p:txBody>
      </p:sp>
      <p:sp>
        <p:nvSpPr>
          <p:cNvPr id="3" name="Text 1"/>
          <p:cNvSpPr/>
          <p:nvPr/>
        </p:nvSpPr>
        <p:spPr>
          <a:xfrm>
            <a:off x="530352" y="886968"/>
            <a:ext cx="10241280" cy="201168"/>
          </a:xfrm>
          <a:prstGeom prst="rect">
            <a:avLst/>
          </a:prstGeom>
          <a:noFill/>
          <a:ln/>
        </p:spPr>
        <p:txBody>
          <a:bodyPr wrap="square" lIns="0" tIns="0" rIns="0" bIns="0" rtlCol="0" anchor="ctr"/>
          <a:lstStyle/>
          <a:p>
            <a:pPr indent="0" marL="0">
              <a:buNone/>
            </a:pPr>
            <a:r>
              <a:rPr lang="en-US" sz="1050" dirty="0">
                <a:solidFill>
                  <a:srgbClr val="556677"/>
                </a:solidFill>
              </a:rPr>
              <a:t>先试点、后固化、再平台化，是更稳妥的推进路径</a:t>
            </a:r>
            <a:endParaRPr lang="en-US" sz="1050" dirty="0"/>
          </a:p>
        </p:txBody>
      </p:sp>
      <p:sp>
        <p:nvSpPr>
          <p:cNvPr id="4" name="Text 2"/>
          <p:cNvSpPr/>
          <p:nvPr/>
        </p:nvSpPr>
        <p:spPr>
          <a:xfrm>
            <a:off x="9966960" y="530352"/>
            <a:ext cx="1645920" cy="256032"/>
          </a:xfrm>
          <a:prstGeom prst="rect">
            <a:avLst/>
          </a:prstGeom>
          <a:solidFill>
            <a:srgbClr val="1E74C6"/>
          </a:solidFill>
          <a:ln>
            <a:solidFill>
              <a:srgbClr val="1E74C6"/>
            </a:solidFill>
          </a:ln>
        </p:spPr>
        <p:txBody>
          <a:bodyPr wrap="square" lIns="381" tIns="381" rIns="381" bIns="381" rtlCol="0" anchor="ctr"/>
          <a:lstStyle/>
          <a:p>
            <a:pPr algn="ctr" indent="0" marL="0">
              <a:buNone/>
            </a:pPr>
            <a:r>
              <a:rPr lang="en-US" sz="1050" b="1" dirty="0">
                <a:solidFill>
                  <a:srgbClr val="FFFFFF"/>
                </a:solidFill>
              </a:rPr>
              <a:t>落地</a:t>
            </a:r>
            <a:endParaRPr lang="en-US" sz="1050" dirty="0"/>
          </a:p>
        </p:txBody>
      </p:sp>
      <p:sp>
        <p:nvSpPr>
          <p:cNvPr id="5" name="Shape 3"/>
          <p:cNvSpPr/>
          <p:nvPr/>
        </p:nvSpPr>
        <p:spPr>
          <a:xfrm>
            <a:off x="731520" y="1417320"/>
            <a:ext cx="3566160" cy="1920240"/>
          </a:xfrm>
          <a:prstGeom prst="roundRect">
            <a:avLst/>
          </a:prstGeom>
          <a:solidFill>
            <a:srgbClr val="FFFFFF"/>
          </a:solidFill>
          <a:ln w="12700">
            <a:solidFill>
              <a:srgbClr val="BFD3EA"/>
            </a:solidFill>
            <a:prstDash val="solid"/>
          </a:ln>
        </p:spPr>
      </p:sp>
      <p:sp>
        <p:nvSpPr>
          <p:cNvPr id="6" name="Shape 4"/>
          <p:cNvSpPr/>
          <p:nvPr/>
        </p:nvSpPr>
        <p:spPr>
          <a:xfrm>
            <a:off x="896112" y="1563624"/>
            <a:ext cx="73152" cy="1627632"/>
          </a:xfrm>
          <a:prstGeom prst="roundRect">
            <a:avLst/>
          </a:prstGeom>
          <a:solidFill>
            <a:srgbClr val="1E74C6"/>
          </a:solidFill>
          <a:ln w="12700">
            <a:solidFill>
              <a:srgbClr val="1E74C6"/>
            </a:solidFill>
            <a:prstDash val="solid"/>
          </a:ln>
        </p:spPr>
      </p:sp>
      <p:sp>
        <p:nvSpPr>
          <p:cNvPr id="7" name="Text 5"/>
          <p:cNvSpPr/>
          <p:nvPr/>
        </p:nvSpPr>
        <p:spPr>
          <a:xfrm>
            <a:off x="1051560" y="1581912"/>
            <a:ext cx="3154680" cy="201168"/>
          </a:xfrm>
          <a:prstGeom prst="rect">
            <a:avLst/>
          </a:prstGeom>
          <a:noFill/>
          <a:ln/>
        </p:spPr>
        <p:txBody>
          <a:bodyPr wrap="square" lIns="0" tIns="0" rIns="0" bIns="0" rtlCol="0" anchor="ctr"/>
          <a:lstStyle/>
          <a:p>
            <a:pPr indent="0" marL="0">
              <a:buNone/>
            </a:pPr>
            <a:r>
              <a:rPr lang="en-US" sz="1450" b="1" dirty="0">
                <a:solidFill>
                  <a:srgbClr val="0E5AA7"/>
                </a:solidFill>
              </a:rPr>
              <a:t>当前已经具备的基础</a:t>
            </a:r>
            <a:endParaRPr lang="en-US" sz="1450" dirty="0"/>
          </a:p>
        </p:txBody>
      </p:sp>
      <p:sp>
        <p:nvSpPr>
          <p:cNvPr id="8" name="Text 6"/>
          <p:cNvSpPr/>
          <p:nvPr/>
        </p:nvSpPr>
        <p:spPr>
          <a:xfrm>
            <a:off x="1051560" y="1856232"/>
            <a:ext cx="3154680" cy="138988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已经形成从任务发起、过程审查、结果展示到人工闭环的完整链路；已支持 Java 通用项目与 DDD 场景增强审查；专家、Skill 和专项 Tool 都已具备扩展接口。</a:t>
            </a:r>
            <a:endParaRPr lang="en-US" sz="1150" dirty="0"/>
          </a:p>
        </p:txBody>
      </p:sp>
      <p:sp>
        <p:nvSpPr>
          <p:cNvPr id="9" name="Shape 7"/>
          <p:cNvSpPr/>
          <p:nvPr/>
        </p:nvSpPr>
        <p:spPr>
          <a:xfrm>
            <a:off x="4526280" y="1417320"/>
            <a:ext cx="3566160" cy="1920240"/>
          </a:xfrm>
          <a:prstGeom prst="roundRect">
            <a:avLst/>
          </a:prstGeom>
          <a:solidFill>
            <a:srgbClr val="FFFFFF"/>
          </a:solidFill>
          <a:ln w="12700">
            <a:solidFill>
              <a:srgbClr val="BFD3EA"/>
            </a:solidFill>
            <a:prstDash val="solid"/>
          </a:ln>
        </p:spPr>
      </p:sp>
      <p:sp>
        <p:nvSpPr>
          <p:cNvPr id="10" name="Shape 8"/>
          <p:cNvSpPr/>
          <p:nvPr/>
        </p:nvSpPr>
        <p:spPr>
          <a:xfrm>
            <a:off x="4690872" y="1563624"/>
            <a:ext cx="73152" cy="1627632"/>
          </a:xfrm>
          <a:prstGeom prst="roundRect">
            <a:avLst/>
          </a:prstGeom>
          <a:solidFill>
            <a:srgbClr val="D98B1D"/>
          </a:solidFill>
          <a:ln w="12700">
            <a:solidFill>
              <a:srgbClr val="D98B1D"/>
            </a:solidFill>
            <a:prstDash val="solid"/>
          </a:ln>
        </p:spPr>
      </p:sp>
      <p:sp>
        <p:nvSpPr>
          <p:cNvPr id="11" name="Text 9"/>
          <p:cNvSpPr/>
          <p:nvPr/>
        </p:nvSpPr>
        <p:spPr>
          <a:xfrm>
            <a:off x="4846320" y="1581912"/>
            <a:ext cx="3154680" cy="201168"/>
          </a:xfrm>
          <a:prstGeom prst="rect">
            <a:avLst/>
          </a:prstGeom>
          <a:noFill/>
          <a:ln/>
        </p:spPr>
        <p:txBody>
          <a:bodyPr wrap="square" lIns="0" tIns="0" rIns="0" bIns="0" rtlCol="0" anchor="ctr"/>
          <a:lstStyle/>
          <a:p>
            <a:pPr indent="0" marL="0">
              <a:buNone/>
            </a:pPr>
            <a:r>
              <a:rPr lang="en-US" sz="1450" b="1" dirty="0">
                <a:solidFill>
                  <a:srgbClr val="0E5AA7"/>
                </a:solidFill>
              </a:rPr>
              <a:t>仍需持续优化的边界</a:t>
            </a:r>
            <a:endParaRPr lang="en-US" sz="1450" dirty="0"/>
          </a:p>
        </p:txBody>
      </p:sp>
      <p:sp>
        <p:nvSpPr>
          <p:cNvPr id="12" name="Text 10"/>
          <p:cNvSpPr/>
          <p:nvPr/>
        </p:nvSpPr>
        <p:spPr>
          <a:xfrm>
            <a:off x="4846320" y="1856232"/>
            <a:ext cx="3154680" cy="138988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大上下文场景下的性能与稳定性仍要继续压测；超大 MR 审查耗时还需优化；误报、漏检和评测体系需要在真实项目中持续校准。</a:t>
            </a:r>
            <a:endParaRPr lang="en-US" sz="1150" dirty="0"/>
          </a:p>
        </p:txBody>
      </p:sp>
      <p:sp>
        <p:nvSpPr>
          <p:cNvPr id="13" name="Shape 11"/>
          <p:cNvSpPr/>
          <p:nvPr/>
        </p:nvSpPr>
        <p:spPr>
          <a:xfrm>
            <a:off x="8321040" y="1417320"/>
            <a:ext cx="3154680" cy="1920240"/>
          </a:xfrm>
          <a:prstGeom prst="roundRect">
            <a:avLst/>
          </a:prstGeom>
          <a:solidFill>
            <a:srgbClr val="FFFFFF"/>
          </a:solidFill>
          <a:ln w="12700">
            <a:solidFill>
              <a:srgbClr val="BFD3EA"/>
            </a:solidFill>
            <a:prstDash val="solid"/>
          </a:ln>
        </p:spPr>
      </p:sp>
      <p:sp>
        <p:nvSpPr>
          <p:cNvPr id="14" name="Shape 12"/>
          <p:cNvSpPr/>
          <p:nvPr/>
        </p:nvSpPr>
        <p:spPr>
          <a:xfrm>
            <a:off x="8485632" y="1563624"/>
            <a:ext cx="73152" cy="1627632"/>
          </a:xfrm>
          <a:prstGeom prst="roundRect">
            <a:avLst/>
          </a:prstGeom>
          <a:solidFill>
            <a:srgbClr val="2F8F6B"/>
          </a:solidFill>
          <a:ln w="12700">
            <a:solidFill>
              <a:srgbClr val="2F8F6B"/>
            </a:solidFill>
            <a:prstDash val="solid"/>
          </a:ln>
        </p:spPr>
      </p:sp>
      <p:sp>
        <p:nvSpPr>
          <p:cNvPr id="15" name="Text 13"/>
          <p:cNvSpPr/>
          <p:nvPr/>
        </p:nvSpPr>
        <p:spPr>
          <a:xfrm>
            <a:off x="8641080" y="1581912"/>
            <a:ext cx="2743200" cy="201168"/>
          </a:xfrm>
          <a:prstGeom prst="rect">
            <a:avLst/>
          </a:prstGeom>
          <a:noFill/>
          <a:ln/>
        </p:spPr>
        <p:txBody>
          <a:bodyPr wrap="square" lIns="0" tIns="0" rIns="0" bIns="0" rtlCol="0" anchor="ctr"/>
          <a:lstStyle/>
          <a:p>
            <a:pPr indent="0" marL="0">
              <a:buNone/>
            </a:pPr>
            <a:r>
              <a:rPr lang="en-US" sz="1450" b="1" dirty="0">
                <a:solidFill>
                  <a:srgbClr val="0E5AA7"/>
                </a:solidFill>
              </a:rPr>
              <a:t>对推广节奏的判断</a:t>
            </a:r>
            <a:endParaRPr lang="en-US" sz="1450" dirty="0"/>
          </a:p>
        </p:txBody>
      </p:sp>
      <p:sp>
        <p:nvSpPr>
          <p:cNvPr id="16" name="Text 14"/>
          <p:cNvSpPr/>
          <p:nvPr/>
        </p:nvSpPr>
        <p:spPr>
          <a:xfrm>
            <a:off x="8641080" y="1856232"/>
            <a:ext cx="2743200" cy="1389888"/>
          </a:xfrm>
          <a:prstGeom prst="rect">
            <a:avLst/>
          </a:prstGeom>
          <a:noFill/>
          <a:ln/>
        </p:spPr>
        <p:txBody>
          <a:bodyPr wrap="square" lIns="381" tIns="381" rIns="381" bIns="381" rtlCol="0" anchor="ctr">
            <a:normAutofit/>
          </a:bodyPr>
          <a:lstStyle/>
          <a:p>
            <a:pPr indent="0" marL="0">
              <a:buNone/>
            </a:pPr>
            <a:r>
              <a:rPr lang="en-US" sz="1150" dirty="0">
                <a:solidFill>
                  <a:srgbClr val="1F2D3D"/>
                </a:solidFill>
              </a:rPr>
              <a:t>现阶段更适合在重点团队旁路试点，不宜直接一上来做强门禁。先验证采纳率、检出率和耗时，再逐步扩大范围。</a:t>
            </a:r>
            <a:endParaRPr lang="en-US" sz="1150" dirty="0"/>
          </a:p>
        </p:txBody>
      </p:sp>
      <p:sp>
        <p:nvSpPr>
          <p:cNvPr id="17" name="Text 15"/>
          <p:cNvSpPr/>
          <p:nvPr/>
        </p:nvSpPr>
        <p:spPr>
          <a:xfrm>
            <a:off x="777240" y="3749040"/>
            <a:ext cx="1645920" cy="182880"/>
          </a:xfrm>
          <a:prstGeom prst="rect">
            <a:avLst/>
          </a:prstGeom>
          <a:noFill/>
          <a:ln/>
        </p:spPr>
        <p:txBody>
          <a:bodyPr wrap="square" rtlCol="0" anchor="ctr"/>
          <a:lstStyle/>
          <a:p>
            <a:pPr indent="0" marL="0">
              <a:buNone/>
            </a:pPr>
            <a:r>
              <a:rPr lang="en-US" sz="1500" b="1" dirty="0">
                <a:solidFill>
                  <a:srgbClr val="0E5AA7"/>
                </a:solidFill>
              </a:rPr>
              <a:t>建议推广路径</a:t>
            </a:r>
            <a:endParaRPr lang="en-US" sz="1500" dirty="0"/>
          </a:p>
        </p:txBody>
      </p:sp>
      <p:sp>
        <p:nvSpPr>
          <p:cNvPr id="18" name="Shape 16"/>
          <p:cNvSpPr/>
          <p:nvPr/>
        </p:nvSpPr>
        <p:spPr>
          <a:xfrm>
            <a:off x="1051560" y="4160520"/>
            <a:ext cx="2377440" cy="640080"/>
          </a:xfrm>
          <a:prstGeom prst="roundRect">
            <a:avLst/>
          </a:prstGeom>
          <a:solidFill>
            <a:srgbClr val="FFFFFF"/>
          </a:solidFill>
          <a:ln w="12700">
            <a:solidFill>
              <a:srgbClr val="BFD3EA"/>
            </a:solidFill>
            <a:prstDash val="solid"/>
          </a:ln>
        </p:spPr>
      </p:sp>
      <p:sp>
        <p:nvSpPr>
          <p:cNvPr id="19" name="Text 17"/>
          <p:cNvSpPr/>
          <p:nvPr/>
        </p:nvSpPr>
        <p:spPr>
          <a:xfrm>
            <a:off x="1216152" y="4315968"/>
            <a:ext cx="2048256" cy="164592"/>
          </a:xfrm>
          <a:prstGeom prst="rect">
            <a:avLst/>
          </a:prstGeom>
          <a:noFill/>
          <a:ln/>
        </p:spPr>
        <p:txBody>
          <a:bodyPr wrap="square" rtlCol="0" anchor="ctr"/>
          <a:lstStyle/>
          <a:p>
            <a:pPr algn="ctr" indent="0" marL="0">
              <a:buNone/>
            </a:pPr>
            <a:r>
              <a:rPr lang="en-US" sz="1400" b="1" dirty="0">
                <a:solidFill>
                  <a:srgbClr val="0E5AA7"/>
                </a:solidFill>
              </a:rPr>
              <a:t>试点验证</a:t>
            </a:r>
            <a:endParaRPr lang="en-US" sz="1400" dirty="0"/>
          </a:p>
        </p:txBody>
      </p:sp>
      <p:sp>
        <p:nvSpPr>
          <p:cNvPr id="20" name="Text 18"/>
          <p:cNvSpPr/>
          <p:nvPr/>
        </p:nvSpPr>
        <p:spPr>
          <a:xfrm>
            <a:off x="3657600" y="4315968"/>
            <a:ext cx="320040" cy="164592"/>
          </a:xfrm>
          <a:prstGeom prst="rect">
            <a:avLst/>
          </a:prstGeom>
          <a:noFill/>
          <a:ln/>
        </p:spPr>
        <p:txBody>
          <a:bodyPr wrap="square" rtlCol="0" anchor="ctr"/>
          <a:lstStyle/>
          <a:p>
            <a:pPr algn="ctr" indent="0" marL="0">
              <a:buNone/>
            </a:pPr>
            <a:r>
              <a:rPr lang="en-US" sz="1800" dirty="0">
                <a:solidFill>
                  <a:srgbClr val="1E74C6"/>
                </a:solidFill>
              </a:rPr>
              <a:t>→</a:t>
            </a:r>
            <a:endParaRPr lang="en-US" sz="1800" dirty="0"/>
          </a:p>
        </p:txBody>
      </p:sp>
      <p:sp>
        <p:nvSpPr>
          <p:cNvPr id="21" name="Shape 19"/>
          <p:cNvSpPr/>
          <p:nvPr/>
        </p:nvSpPr>
        <p:spPr>
          <a:xfrm>
            <a:off x="4617720" y="4160520"/>
            <a:ext cx="2377440" cy="640080"/>
          </a:xfrm>
          <a:prstGeom prst="roundRect">
            <a:avLst/>
          </a:prstGeom>
          <a:solidFill>
            <a:srgbClr val="EAF2FB"/>
          </a:solidFill>
          <a:ln w="12700">
            <a:solidFill>
              <a:srgbClr val="BFD3EA"/>
            </a:solidFill>
            <a:prstDash val="solid"/>
          </a:ln>
        </p:spPr>
      </p:sp>
      <p:sp>
        <p:nvSpPr>
          <p:cNvPr id="22" name="Text 20"/>
          <p:cNvSpPr/>
          <p:nvPr/>
        </p:nvSpPr>
        <p:spPr>
          <a:xfrm>
            <a:off x="4782312" y="4315968"/>
            <a:ext cx="2048256" cy="164592"/>
          </a:xfrm>
          <a:prstGeom prst="rect">
            <a:avLst/>
          </a:prstGeom>
          <a:noFill/>
          <a:ln/>
        </p:spPr>
        <p:txBody>
          <a:bodyPr wrap="square" rtlCol="0" anchor="ctr"/>
          <a:lstStyle/>
          <a:p>
            <a:pPr algn="ctr" indent="0" marL="0">
              <a:buNone/>
            </a:pPr>
            <a:r>
              <a:rPr lang="en-US" sz="1400" b="1" dirty="0">
                <a:solidFill>
                  <a:srgbClr val="0E5AA7"/>
                </a:solidFill>
              </a:rPr>
              <a:t>规则固化</a:t>
            </a:r>
            <a:endParaRPr lang="en-US" sz="1400" dirty="0"/>
          </a:p>
        </p:txBody>
      </p:sp>
      <p:sp>
        <p:nvSpPr>
          <p:cNvPr id="23" name="Text 21"/>
          <p:cNvSpPr/>
          <p:nvPr/>
        </p:nvSpPr>
        <p:spPr>
          <a:xfrm>
            <a:off x="7223760" y="4315968"/>
            <a:ext cx="320040" cy="164592"/>
          </a:xfrm>
          <a:prstGeom prst="rect">
            <a:avLst/>
          </a:prstGeom>
          <a:noFill/>
          <a:ln/>
        </p:spPr>
        <p:txBody>
          <a:bodyPr wrap="square" rtlCol="0" anchor="ctr"/>
          <a:lstStyle/>
          <a:p>
            <a:pPr algn="ctr" indent="0" marL="0">
              <a:buNone/>
            </a:pPr>
            <a:r>
              <a:rPr lang="en-US" sz="1800" dirty="0">
                <a:solidFill>
                  <a:srgbClr val="1E74C6"/>
                </a:solidFill>
              </a:rPr>
              <a:t>→</a:t>
            </a:r>
            <a:endParaRPr lang="en-US" sz="1800" dirty="0"/>
          </a:p>
        </p:txBody>
      </p:sp>
      <p:sp>
        <p:nvSpPr>
          <p:cNvPr id="24" name="Shape 22"/>
          <p:cNvSpPr/>
          <p:nvPr/>
        </p:nvSpPr>
        <p:spPr>
          <a:xfrm>
            <a:off x="8183880" y="4160520"/>
            <a:ext cx="2377440" cy="640080"/>
          </a:xfrm>
          <a:prstGeom prst="roundRect">
            <a:avLst/>
          </a:prstGeom>
          <a:solidFill>
            <a:srgbClr val="FFFFFF"/>
          </a:solidFill>
          <a:ln w="12700">
            <a:solidFill>
              <a:srgbClr val="BFD3EA"/>
            </a:solidFill>
            <a:prstDash val="solid"/>
          </a:ln>
        </p:spPr>
      </p:sp>
      <p:sp>
        <p:nvSpPr>
          <p:cNvPr id="25" name="Text 23"/>
          <p:cNvSpPr/>
          <p:nvPr/>
        </p:nvSpPr>
        <p:spPr>
          <a:xfrm>
            <a:off x="8348472" y="4315968"/>
            <a:ext cx="2048256" cy="164592"/>
          </a:xfrm>
          <a:prstGeom prst="rect">
            <a:avLst/>
          </a:prstGeom>
          <a:noFill/>
          <a:ln/>
        </p:spPr>
        <p:txBody>
          <a:bodyPr wrap="square" rtlCol="0" anchor="ctr"/>
          <a:lstStyle/>
          <a:p>
            <a:pPr algn="ctr" indent="0" marL="0">
              <a:buNone/>
            </a:pPr>
            <a:r>
              <a:rPr lang="en-US" sz="1400" b="1" dirty="0">
                <a:solidFill>
                  <a:srgbClr val="0E5AA7"/>
                </a:solidFill>
              </a:rPr>
              <a:t>平台化推广</a:t>
            </a:r>
            <a:endParaRPr lang="en-US" sz="1400" dirty="0"/>
          </a:p>
        </p:txBody>
      </p:sp>
      <p:sp>
        <p:nvSpPr>
          <p:cNvPr id="26" name="Text 24"/>
          <p:cNvSpPr/>
          <p:nvPr/>
        </p:nvSpPr>
        <p:spPr>
          <a:xfrm>
            <a:off x="1143000" y="4892040"/>
            <a:ext cx="2194560" cy="320040"/>
          </a:xfrm>
          <a:prstGeom prst="rect">
            <a:avLst/>
          </a:prstGeom>
          <a:noFill/>
          <a:ln/>
        </p:spPr>
        <p:txBody>
          <a:bodyPr wrap="square" rtlCol="0" anchor="ctr"/>
          <a:lstStyle/>
          <a:p>
            <a:pPr algn="ctr" indent="0" marL="0">
              <a:buNone/>
            </a:pPr>
            <a:r>
              <a:rPr lang="en-US" sz="1100" dirty="0">
                <a:solidFill>
                  <a:srgbClr val="1F2D3D"/>
                </a:solidFill>
              </a:rPr>
              <a:t>1—2个Java团队先行；旁路运行；看采纳率和误报率</a:t>
            </a:r>
            <a:endParaRPr lang="en-US" sz="1100" dirty="0"/>
          </a:p>
        </p:txBody>
      </p:sp>
      <p:sp>
        <p:nvSpPr>
          <p:cNvPr id="27" name="Text 25"/>
          <p:cNvSpPr/>
          <p:nvPr/>
        </p:nvSpPr>
        <p:spPr>
          <a:xfrm>
            <a:off x="4690872" y="4892040"/>
            <a:ext cx="2103120" cy="320040"/>
          </a:xfrm>
          <a:prstGeom prst="rect">
            <a:avLst/>
          </a:prstGeom>
          <a:noFill/>
          <a:ln/>
        </p:spPr>
        <p:txBody>
          <a:bodyPr wrap="square" rtlCol="0" anchor="ctr"/>
          <a:lstStyle/>
          <a:p>
            <a:pPr algn="ctr" indent="0" marL="0">
              <a:buNone/>
            </a:pPr>
            <a:r>
              <a:rPr lang="en-US" sz="1100" dirty="0">
                <a:solidFill>
                  <a:srgbClr val="1F2D3D"/>
                </a:solidFill>
              </a:rPr>
              <a:t>形成共识规则和评测口径；沉淀专家与Skill配置</a:t>
            </a:r>
            <a:endParaRPr lang="en-US" sz="1100" dirty="0"/>
          </a:p>
        </p:txBody>
      </p:sp>
      <p:sp>
        <p:nvSpPr>
          <p:cNvPr id="28" name="Text 26"/>
          <p:cNvSpPr/>
          <p:nvPr/>
        </p:nvSpPr>
        <p:spPr>
          <a:xfrm>
            <a:off x="8247888" y="4892040"/>
            <a:ext cx="2377440" cy="320040"/>
          </a:xfrm>
          <a:prstGeom prst="rect">
            <a:avLst/>
          </a:prstGeom>
          <a:noFill/>
          <a:ln/>
        </p:spPr>
        <p:txBody>
          <a:bodyPr wrap="square" rtlCol="0" anchor="ctr"/>
          <a:lstStyle/>
          <a:p>
            <a:pPr algn="ctr" indent="0" marL="0">
              <a:buNone/>
            </a:pPr>
            <a:r>
              <a:rPr lang="en-US" sz="1100" dirty="0">
                <a:solidFill>
                  <a:srgbClr val="1F2D3D"/>
                </a:solidFill>
              </a:rPr>
              <a:t>逐步扩到更多团队、更多语言和更多专项场景</a:t>
            </a:r>
            <a:endParaRPr lang="en-US" sz="1100" dirty="0"/>
          </a:p>
        </p:txBody>
      </p:sp>
      <p:sp>
        <p:nvSpPr>
          <p:cNvPr id="29" name="Shape 27"/>
          <p:cNvSpPr/>
          <p:nvPr/>
        </p:nvSpPr>
        <p:spPr>
          <a:xfrm>
            <a:off x="594360" y="5989320"/>
            <a:ext cx="10972800" cy="384048"/>
          </a:xfrm>
          <a:prstGeom prst="roundRect">
            <a:avLst/>
          </a:prstGeom>
          <a:solidFill>
            <a:srgbClr val="E8F1FB"/>
          </a:solidFill>
          <a:ln w="12700">
            <a:solidFill>
              <a:srgbClr val="D2E2F5"/>
            </a:solidFill>
            <a:prstDash val="solid"/>
          </a:ln>
        </p:spPr>
      </p:sp>
      <p:sp>
        <p:nvSpPr>
          <p:cNvPr id="30" name="Text 28"/>
          <p:cNvSpPr/>
          <p:nvPr/>
        </p:nvSpPr>
        <p:spPr>
          <a:xfrm>
            <a:off x="777240" y="6089904"/>
            <a:ext cx="10607040" cy="164592"/>
          </a:xfrm>
          <a:prstGeom prst="rect">
            <a:avLst/>
          </a:prstGeom>
          <a:noFill/>
          <a:ln/>
        </p:spPr>
        <p:txBody>
          <a:bodyPr wrap="square" lIns="0" tIns="0" rIns="0" bIns="0" rtlCol="0" anchor="ctr"/>
          <a:lstStyle/>
          <a:p>
            <a:pPr indent="0" marL="0">
              <a:buNone/>
            </a:pPr>
            <a:r>
              <a:rPr lang="en-US" sz="1150" b="1" dirty="0">
                <a:solidFill>
                  <a:srgbClr val="0E5AA7"/>
                </a:solidFill>
              </a:rPr>
              <a:t>本页结论：</a:t>
            </a:r>
            <a:pPr indent="0" marL="0">
              <a:buNone/>
            </a:pPr>
            <a:r>
              <a:rPr lang="en-US" sz="1150" dirty="0">
                <a:solidFill>
                  <a:srgbClr val="1F2D3D"/>
                </a:solidFill>
              </a:rPr>
              <a:t>这套系统已经具备试点条件，但更合理的做法是先在真实团队中验证效果，再把规则和流程沉淀成平台能力。</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多专家协同代码检视系统——优化版</dc:title>
  <dc:subject>多专家协同代码检视系统</dc:subject>
  <dc:creator>OpenAI</dc:creator>
  <cp:lastModifiedBy>OpenAI</cp:lastModifiedBy>
  <cp:revision>1</cp:revision>
  <dcterms:created xsi:type="dcterms:W3CDTF">2026-04-12T12:24:53Z</dcterms:created>
  <dcterms:modified xsi:type="dcterms:W3CDTF">2026-04-12T12:24:53Z</dcterms:modified>
</cp:coreProperties>
</file>